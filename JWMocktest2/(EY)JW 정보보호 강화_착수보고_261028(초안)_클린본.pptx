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5" r:id="rId1"/>
  </p:sldMasterIdLst>
  <p:notesMasterIdLst>
    <p:notesMasterId r:id="rId28"/>
  </p:notesMasterIdLst>
  <p:sldIdLst>
    <p:sldId id="294" r:id="rId2"/>
    <p:sldId id="328" r:id="rId3"/>
    <p:sldId id="329" r:id="rId4"/>
    <p:sldId id="318" r:id="rId5"/>
    <p:sldId id="296" r:id="rId6"/>
    <p:sldId id="297" r:id="rId7"/>
    <p:sldId id="298" r:id="rId8"/>
    <p:sldId id="299" r:id="rId9"/>
    <p:sldId id="300" r:id="rId10"/>
    <p:sldId id="324" r:id="rId11"/>
    <p:sldId id="302" r:id="rId12"/>
    <p:sldId id="303" r:id="rId13"/>
    <p:sldId id="304" r:id="rId14"/>
    <p:sldId id="319" r:id="rId15"/>
    <p:sldId id="320" r:id="rId16"/>
    <p:sldId id="305" r:id="rId17"/>
    <p:sldId id="321" r:id="rId18"/>
    <p:sldId id="325" r:id="rId19"/>
    <p:sldId id="322" r:id="rId20"/>
    <p:sldId id="326" r:id="rId21"/>
    <p:sldId id="313" r:id="rId22"/>
    <p:sldId id="330" r:id="rId23"/>
    <p:sldId id="327" r:id="rId24"/>
    <p:sldId id="316" r:id="rId25"/>
    <p:sldId id="323" r:id="rId26"/>
    <p:sldId id="331" r:id="rId27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17" userDrawn="1">
          <p15:clr>
            <a:srgbClr val="A4A3A4"/>
          </p15:clr>
        </p15:guide>
        <p15:guide id="2" orient="horz" pos="368" userDrawn="1">
          <p15:clr>
            <a:srgbClr val="A4A3A4"/>
          </p15:clr>
        </p15:guide>
        <p15:guide id="3" orient="horz" pos="119" userDrawn="1">
          <p15:clr>
            <a:srgbClr val="A4A3A4"/>
          </p15:clr>
        </p15:guide>
        <p15:guide id="4" pos="4617" userDrawn="1">
          <p15:clr>
            <a:srgbClr val="A4A3A4"/>
          </p15:clr>
        </p15:guide>
        <p15:guide id="5" pos="46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8E"/>
    <a:srgbClr val="D9D9D9"/>
    <a:srgbClr val="FAFAFA"/>
    <a:srgbClr val="404040"/>
    <a:srgbClr val="FFFFFF"/>
    <a:srgbClr val="7F7F7F"/>
    <a:srgbClr val="EEF2F6"/>
    <a:srgbClr val="BFBFBF"/>
    <a:srgbClr val="F2F2F2"/>
    <a:srgbClr val="0052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230" autoAdjust="0"/>
    <p:restoredTop sz="94717" autoAdjust="0"/>
  </p:normalViewPr>
  <p:slideViewPr>
    <p:cSldViewPr snapToGrid="0">
      <p:cViewPr varScale="1">
        <p:scale>
          <a:sx n="82" d="100"/>
          <a:sy n="82" d="100"/>
        </p:scale>
        <p:origin x="1709" y="72"/>
      </p:cViewPr>
      <p:guideLst>
        <p:guide pos="217"/>
        <p:guide orient="horz" pos="368"/>
        <p:guide orient="horz" pos="119"/>
        <p:guide pos="4617"/>
        <p:guide pos="466"/>
      </p:guideLst>
    </p:cSldViewPr>
  </p:slideViewPr>
  <p:outlineViewPr>
    <p:cViewPr>
      <p:scale>
        <a:sx n="33" d="100"/>
        <a:sy n="33" d="100"/>
      </p:scale>
      <p:origin x="0" y="-129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846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0813330040036849"/>
          <c:y val="6.8424378082648035E-2"/>
          <c:w val="0.54400884393988336"/>
          <c:h val="0.86315124383470399"/>
        </c:manualLayout>
      </c:layout>
      <c:barChart>
        <c:barDir val="bar"/>
        <c:grouping val="clustered"/>
        <c:varyColors val="0"/>
        <c:ser>
          <c:idx val="1"/>
          <c:order val="1"/>
          <c:tx>
            <c:strRef>
              <c:f>Sheet1!$B$1</c:f>
              <c:strCache>
                <c:ptCount val="1"/>
                <c:pt idx="0">
                  <c:v>열2</c:v>
                </c:pt>
              </c:strCache>
            </c:strRef>
          </c:tx>
          <c:spPr>
            <a:solidFill>
              <a:sysClr val="windowText" lastClr="000000">
                <a:lumMod val="75000"/>
                <a:lumOff val="25000"/>
              </a:sys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데이터 보안 위협</c:v>
                </c:pt>
                <c:pt idx="1">
                  <c:v>피싱 및 계정 탈취</c:v>
                </c:pt>
                <c:pt idx="2">
                  <c:v>클라우드 보안 위협</c:v>
                </c:pt>
                <c:pt idx="3">
                  <c:v>랜섬웨어</c:v>
                </c:pt>
                <c:pt idx="4">
                  <c:v>AI 기반 보안 위협</c:v>
                </c:pt>
              </c:strCache>
            </c:strRef>
          </c:cat>
          <c:val>
            <c:numRef>
              <c:f>Sheet1!$B$2:$B$6</c:f>
              <c:numCache>
                <c:formatCode>0%</c:formatCode>
                <c:ptCount val="5"/>
                <c:pt idx="0">
                  <c:v>0.26600000000000001</c:v>
                </c:pt>
                <c:pt idx="1">
                  <c:v>0.308</c:v>
                </c:pt>
                <c:pt idx="2">
                  <c:v>0.35299999999999998</c:v>
                </c:pt>
                <c:pt idx="3">
                  <c:v>0.40699999999999997</c:v>
                </c:pt>
                <c:pt idx="4">
                  <c:v>0.81200000000000006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78D-491A-B879-E293B57445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473511760"/>
        <c:axId val="47353000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strCache>
                      <c:ptCount val="1"/>
                      <c:pt idx="0">
                        <c:v>#REF!</c:v>
                      </c:pt>
                    </c:strCache>
                  </c:strRef>
                </c:tx>
                <c:spPr>
                  <a:solidFill>
                    <a:schemeClr val="bg1">
                      <a:lumMod val="95000"/>
                    </a:schemeClr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0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ko-KR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데이터 보안 위협</c:v>
                      </c:pt>
                      <c:pt idx="1">
                        <c:v>피싱 및 계정 탈취</c:v>
                      </c:pt>
                      <c:pt idx="2">
                        <c:v>클라우드 보안 위협</c:v>
                      </c:pt>
                      <c:pt idx="3">
                        <c:v>랜섬웨어</c:v>
                      </c:pt>
                      <c:pt idx="4">
                        <c:v>AI 기반 보안 위협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Sheet1!#REF!</c15:sqref>
                        </c15:formulaRef>
                      </c:ext>
                    </c:extLst>
                    <c:numCache>
                      <c:formatCode>General</c:formatCode>
                      <c:ptCount val="1"/>
                      <c:pt idx="0">
                        <c:v>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78D-491A-B879-E293B5744560}"/>
                  </c:ext>
                </c:extLst>
              </c15:ser>
            </c15:filteredBarSeries>
          </c:ext>
        </c:extLst>
      </c:barChart>
      <c:catAx>
        <c:axId val="47351176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t" anchorCtr="0"/>
          <a:lstStyle/>
          <a:p>
            <a:pPr>
              <a:defRPr sz="1000" b="0" i="0" u="none" strike="noStrike" kern="1200" spc="-1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pPr>
            <a:endParaRPr lang="ko-KR"/>
          </a:p>
        </c:txPr>
        <c:crossAx val="473530000"/>
        <c:crosses val="autoZero"/>
        <c:auto val="1"/>
        <c:lblAlgn val="ctr"/>
        <c:lblOffset val="100"/>
        <c:noMultiLvlLbl val="0"/>
      </c:catAx>
      <c:valAx>
        <c:axId val="473530000"/>
        <c:scaling>
          <c:orientation val="minMax"/>
        </c:scaling>
        <c:delete val="1"/>
        <c:axPos val="b"/>
        <c:numFmt formatCode="0%" sourceLinked="1"/>
        <c:majorTickMark val="none"/>
        <c:minorTickMark val="none"/>
        <c:tickLblPos val="nextTo"/>
        <c:crossAx val="473511760"/>
        <c:crosses val="autoZero"/>
        <c:crossBetween val="between"/>
      </c:valAx>
      <c:spPr>
        <a:noFill/>
        <a:ln>
          <a:solidFill>
            <a:sysClr val="window" lastClr="FFFFFF"/>
          </a:solidFill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000"/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866541021063696E-2"/>
          <c:y val="0.18175081009792501"/>
          <c:w val="0.88266917957872604"/>
          <c:h val="0.5501441018806880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보안사고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C69-438E-96F5-62B930F7047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ysClr val="windowText" lastClr="000000">
                <a:lumMod val="65000"/>
                <a:lumOff val="35000"/>
              </a:sys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보안사고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575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C69-438E-96F5-62B930F7047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100"/>
        <c:axId val="473511760"/>
        <c:axId val="473530000"/>
      </c:barChart>
      <c:catAx>
        <c:axId val="47351176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73530000"/>
        <c:crosses val="autoZero"/>
        <c:auto val="1"/>
        <c:lblAlgn val="ctr"/>
        <c:lblOffset val="100"/>
        <c:noMultiLvlLbl val="0"/>
      </c:catAx>
      <c:valAx>
        <c:axId val="4735300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735117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732565605924231"/>
          <c:y val="8.7208149918249281E-2"/>
          <c:w val="0.34156915855617898"/>
          <c:h val="0.7945837300121455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F1F1F1"/>
            </a:solidFill>
            <a:ln>
              <a:noFill/>
            </a:ln>
            <a:effectLst/>
          </c:spPr>
          <c:invertIfNegative val="0"/>
          <c:dPt>
            <c:idx val="5"/>
            <c:invertIfNegative val="0"/>
            <c:bubble3D val="0"/>
            <c:spPr>
              <a:solidFill>
                <a:sysClr val="windowText" lastClr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B6D-44DD-9A96-7ECFD9436FEE}"/>
              </c:ext>
            </c:extLst>
          </c:dPt>
          <c:dPt>
            <c:idx val="10"/>
            <c:invertIfNegative val="0"/>
            <c:bubble3D val="0"/>
            <c:spPr>
              <a:solidFill>
                <a:sysClr val="windowText" lastClr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B6D-44DD-9A96-7ECFD9436FEE}"/>
              </c:ext>
            </c:extLst>
          </c:dPt>
          <c:dLbls>
            <c:dLbl>
              <c:idx val="5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B6D-44DD-9A96-7ECFD9436FEE}"/>
                </c:ext>
              </c:extLst>
            </c:dLbl>
            <c:dLbl>
              <c:idx val="10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B6D-44DD-9A96-7ECFD9436FEE}"/>
                </c:ext>
              </c:extLst>
            </c:dLbl>
            <c:dLbl>
              <c:idx val="11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BB6D-44DD-9A96-7ECFD9436FEE}"/>
                </c:ext>
              </c:extLst>
            </c:dLbl>
            <c:dLbl>
              <c:idx val="16"/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B6D-44DD-9A96-7ECFD9436FE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Sheet1!$A$2:$A$12</c:f>
              <c:strCache>
                <c:ptCount val="11"/>
                <c:pt idx="0">
                  <c:v>공공</c:v>
                </c:pt>
                <c:pt idx="1">
                  <c:v>소매</c:v>
                </c:pt>
                <c:pt idx="2">
                  <c:v>소비자</c:v>
                </c:pt>
                <c:pt idx="4">
                  <c:v>서비스</c:v>
                </c:pt>
                <c:pt idx="5">
                  <c:v>제약</c:v>
                </c:pt>
                <c:pt idx="6">
                  <c:v>기술</c:v>
                </c:pt>
                <c:pt idx="7">
                  <c:v>에너지</c:v>
                </c:pt>
                <c:pt idx="8">
                  <c:v>중공업</c:v>
                </c:pt>
                <c:pt idx="9">
                  <c:v>금융</c:v>
                </c:pt>
                <c:pt idx="10">
                  <c:v>의료 서비스</c:v>
                </c:pt>
              </c:strCache>
            </c:strRef>
          </c:cat>
          <c:val>
            <c:numRef>
              <c:f>Sheet1!$B$2:$B$12</c:f>
              <c:numCache>
                <c:formatCode>#,##0.0"M"</c:formatCode>
                <c:ptCount val="11"/>
                <c:pt idx="0">
                  <c:v>2.86</c:v>
                </c:pt>
                <c:pt idx="1">
                  <c:v>3.54</c:v>
                </c:pt>
                <c:pt idx="2">
                  <c:v>3.72</c:v>
                </c:pt>
                <c:pt idx="4">
                  <c:v>4.5599999999999996</c:v>
                </c:pt>
                <c:pt idx="5">
                  <c:v>4.6100000000000003</c:v>
                </c:pt>
                <c:pt idx="6">
                  <c:v>4.79</c:v>
                </c:pt>
                <c:pt idx="7">
                  <c:v>4.83</c:v>
                </c:pt>
                <c:pt idx="8">
                  <c:v>5</c:v>
                </c:pt>
                <c:pt idx="9">
                  <c:v>5.56</c:v>
                </c:pt>
                <c:pt idx="10">
                  <c:v>7.42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6D-44DD-9A96-7ECFD9436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"/>
        <c:overlap val="30"/>
        <c:axId val="234217088"/>
        <c:axId val="234216608"/>
      </c:barChart>
      <c:catAx>
        <c:axId val="23421708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234216608"/>
        <c:crosses val="autoZero"/>
        <c:auto val="1"/>
        <c:lblAlgn val="ctr"/>
        <c:lblOffset val="100"/>
        <c:noMultiLvlLbl val="0"/>
      </c:catAx>
      <c:valAx>
        <c:axId val="234216608"/>
        <c:scaling>
          <c:orientation val="minMax"/>
        </c:scaling>
        <c:delete val="1"/>
        <c:axPos val="b"/>
        <c:numFmt formatCode="#,##0.0&quot;M&quot;" sourceLinked="1"/>
        <c:majorTickMark val="none"/>
        <c:minorTickMark val="none"/>
        <c:tickLblPos val="nextTo"/>
        <c:crossAx val="2342170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800"/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131192C-9DAF-4A6E-906B-8A431CBCF3A2}" type="datetimeFigureOut">
              <a:rPr lang="ko-KR" altLang="en-US" smtClean="0"/>
              <a:pPr/>
              <a:t>2026-10-28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365FA3-8CE3-488A-A229-99C1AD3FA80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2927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1020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82040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230600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640799" algn="l" defTabSz="820400" rtl="0" eaLnBrk="1" latinLnBrk="1" hangingPunct="1">
      <a:defRPr sz="1077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0509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6pPr>
    <a:lvl7pPr marL="24611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7pPr>
    <a:lvl8pPr marL="28713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8pPr>
    <a:lvl9pPr marL="3281599" algn="l" defTabSz="820400" rtl="0" eaLnBrk="1" latinLnBrk="1" hangingPunct="1">
      <a:defRPr sz="107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335B688-4E1E-48FC-8394-DE8B90EDCD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" y="1400"/>
            <a:ext cx="9904212" cy="68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256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F8C072F3-5A5B-490F-BB1C-223486BC0F73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680488" y="1472972"/>
            <a:ext cx="8545024" cy="4351708"/>
          </a:xfrm>
          <a:prstGeom prst="rect">
            <a:avLst/>
          </a:prstGeom>
        </p:spPr>
        <p:txBody>
          <a:bodyPr/>
          <a:lstStyle>
            <a:lvl1pPr marL="151219" indent="-151219">
              <a:defRPr sz="1588" b="1"/>
            </a:lvl1pPr>
          </a:lstStyle>
          <a:p>
            <a:pPr lvl="0"/>
            <a:r>
              <a:rPr lang="ko-KR" altLang="en-US" dirty="0"/>
              <a:t>텍스트를 입력하세요</a:t>
            </a:r>
          </a:p>
        </p:txBody>
      </p:sp>
      <p:sp>
        <p:nvSpPr>
          <p:cNvPr id="16" name="제목 1">
            <a:extLst>
              <a:ext uri="{FF2B5EF4-FFF2-40B4-BE49-F238E27FC236}">
                <a16:creationId xmlns:a16="http://schemas.microsoft.com/office/drawing/2014/main" id="{33B4EE51-58F3-4F91-951E-9B36159517A3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0" y="1"/>
            <a:ext cx="9906000" cy="824467"/>
          </a:xfrm>
          <a:prstGeom prst="rect">
            <a:avLst/>
          </a:prstGeom>
        </p:spPr>
        <p:txBody>
          <a:bodyPr lIns="612000" tIns="432000">
            <a:spAutoFit/>
          </a:bodyPr>
          <a:lstStyle>
            <a:lvl1pPr>
              <a:defRPr sz="2470" b="1" spc="-71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대제목을 입력하세요</a:t>
            </a: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4E4C6D2-91FF-44E7-8190-04E1A39B0A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4" y="1400"/>
            <a:ext cx="9904212" cy="6855200"/>
          </a:xfrm>
          <a:prstGeom prst="rect">
            <a:avLst/>
          </a:prstGeom>
        </p:spPr>
      </p:pic>
      <p:pic>
        <p:nvPicPr>
          <p:cNvPr id="6" name="그림 5" descr="JW홀딩스 기업정보 - 2026년 연봉, 사업, 채용, 지원자 스펙 분석">
            <a:extLst>
              <a:ext uri="{FF2B5EF4-FFF2-40B4-BE49-F238E27FC236}">
                <a16:creationId xmlns:a16="http://schemas.microsoft.com/office/drawing/2014/main" id="{52605133-A935-A292-3458-9002DFB570F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05351" y="295017"/>
            <a:ext cx="586825" cy="447239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D9E7ED9B-757E-FC41-FAAA-385F8CF0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88357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B694EC5-8312-935E-66E1-A19B4382DB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r="-204"/>
          <a:stretch>
            <a:fillRect/>
          </a:stretch>
        </p:blipFill>
        <p:spPr>
          <a:xfrm>
            <a:off x="-47775" y="-34290"/>
            <a:ext cx="10003297" cy="6926580"/>
          </a:xfrm>
          <a:prstGeom prst="rect">
            <a:avLst/>
          </a:prstGeom>
        </p:spPr>
      </p:pic>
      <p:pic>
        <p:nvPicPr>
          <p:cNvPr id="3" name="그림 2" descr="JW홀딩스 기업정보 - 2026년 연봉, 사업, 채용, 지원자 스펙 분석">
            <a:extLst>
              <a:ext uri="{FF2B5EF4-FFF2-40B4-BE49-F238E27FC236}">
                <a16:creationId xmlns:a16="http://schemas.microsoft.com/office/drawing/2014/main" id="{2B54B57E-CC8B-5DE9-43C8-B763DF36433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05351" y="295017"/>
            <a:ext cx="586825" cy="44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2538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AD762203-BA53-F732-F67D-7E8CDBF5FE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</a:extLst>
          </a:blip>
          <a:srcRect t="12434" b="12434"/>
          <a:stretch>
            <a:fillRect/>
          </a:stretch>
        </p:blipFill>
        <p:spPr>
          <a:xfrm>
            <a:off x="389001" y="-1"/>
            <a:ext cx="9127998" cy="6858001"/>
          </a:xfrm>
          <a:prstGeom prst="rect">
            <a:avLst/>
          </a:prstGeom>
        </p:spPr>
      </p:pic>
      <p:pic>
        <p:nvPicPr>
          <p:cNvPr id="21" name="그림 20" descr="EY - European Financial Congress">
            <a:extLst>
              <a:ext uri="{FF2B5EF4-FFF2-40B4-BE49-F238E27FC236}">
                <a16:creationId xmlns:a16="http://schemas.microsoft.com/office/drawing/2014/main" id="{43670A3A-DBA9-A2E6-64E4-8D88D604271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b="29172"/>
          <a:stretch>
            <a:fillRect/>
          </a:stretch>
        </p:blipFill>
        <p:spPr>
          <a:xfrm>
            <a:off x="9020284" y="6119547"/>
            <a:ext cx="609617" cy="469997"/>
          </a:xfrm>
          <a:prstGeom prst="rect">
            <a:avLst/>
          </a:prstGeom>
        </p:spPr>
      </p:pic>
      <p:pic>
        <p:nvPicPr>
          <p:cNvPr id="3" name="그림 2" descr="JW홀딩스 기업정보 - 2026년 연봉, 사업, 채용, 지원자 스펙 분석">
            <a:extLst>
              <a:ext uri="{FF2B5EF4-FFF2-40B4-BE49-F238E27FC236}">
                <a16:creationId xmlns:a16="http://schemas.microsoft.com/office/drawing/2014/main" id="{C0B7431E-2FC7-270C-7CCE-E37F6548D4D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005351" y="295017"/>
            <a:ext cx="586825" cy="447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17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6A955106-61F6-74D1-923F-EF3A028EBD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8918" t="973" r="2165" b="2468"/>
          <a:stretch>
            <a:fillRect/>
          </a:stretch>
        </p:blipFill>
        <p:spPr>
          <a:xfrm>
            <a:off x="5382806" y="650240"/>
            <a:ext cx="4093388" cy="547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86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120">
          <p15:clr>
            <a:srgbClr val="FBAE40"/>
          </p15:clr>
        </p15:guide>
        <p15:guide id="3" pos="60">
          <p15:clr>
            <a:srgbClr val="FBAE40"/>
          </p15:clr>
        </p15:guide>
        <p15:guide id="4" pos="6178">
          <p15:clr>
            <a:srgbClr val="FBAE40"/>
          </p15:clr>
        </p15:guide>
        <p15:guide id="5" orient="horz" pos="60">
          <p15:clr>
            <a:srgbClr val="FBAE40"/>
          </p15:clr>
        </p15:guide>
        <p15:guide id="6" orient="horz" pos="4260">
          <p15:clr>
            <a:srgbClr val="FBAE40"/>
          </p15:clr>
        </p15:guide>
        <p15:guide id="7" pos="6076">
          <p15:clr>
            <a:srgbClr val="FBAE40"/>
          </p15:clr>
        </p15:guide>
        <p15:guide id="8" orient="horz" pos="4159">
          <p15:clr>
            <a:srgbClr val="FBAE40"/>
          </p15:clr>
        </p15:guide>
        <p15:guide id="9" pos="165">
          <p15:clr>
            <a:srgbClr val="FBAE40"/>
          </p15:clr>
        </p15:guide>
        <p15:guide id="10" orient="horz" pos="15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5421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1" r:id="rId4"/>
    <p:sldLayoutId id="2147483720" r:id="rId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chart" Target="../charts/chart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chart" Target="../charts/chart2.xml"/><Relationship Id="rId5" Type="http://schemas.openxmlformats.org/officeDocument/2006/relationships/chart" Target="../charts/chart1.xml"/><Relationship Id="rId4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2.svg"/><Relationship Id="rId18" Type="http://schemas.openxmlformats.org/officeDocument/2006/relationships/image" Target="../media/image10.png"/><Relationship Id="rId3" Type="http://schemas.openxmlformats.org/officeDocument/2006/relationships/image" Target="../media/image15.emf"/><Relationship Id="rId7" Type="http://schemas.openxmlformats.org/officeDocument/2006/relationships/image" Target="../media/image17.emf"/><Relationship Id="rId12" Type="http://schemas.openxmlformats.org/officeDocument/2006/relationships/image" Target="../media/image21.svg"/><Relationship Id="rId17" Type="http://schemas.openxmlformats.org/officeDocument/2006/relationships/image" Target="../media/image26.svg"/><Relationship Id="rId2" Type="http://schemas.openxmlformats.org/officeDocument/2006/relationships/oleObject" Target="../embeddings/oleObject1.bin"/><Relationship Id="rId16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20.png"/><Relationship Id="rId5" Type="http://schemas.openxmlformats.org/officeDocument/2006/relationships/image" Target="../media/image16.emf"/><Relationship Id="rId15" Type="http://schemas.openxmlformats.org/officeDocument/2006/relationships/image" Target="../media/image24.svg"/><Relationship Id="rId10" Type="http://schemas.openxmlformats.org/officeDocument/2006/relationships/image" Target="../media/image19.png"/><Relationship Id="rId4" Type="http://schemas.openxmlformats.org/officeDocument/2006/relationships/oleObject" Target="../embeddings/oleObject2.bin"/><Relationship Id="rId9" Type="http://schemas.openxmlformats.org/officeDocument/2006/relationships/image" Target="../media/image18.emf"/><Relationship Id="rId14" Type="http://schemas.openxmlformats.org/officeDocument/2006/relationships/image" Target="../media/image23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e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2C1E65C-9569-4D1C-94F9-4797C7D57AD4}"/>
              </a:ext>
            </a:extLst>
          </p:cNvPr>
          <p:cNvSpPr txBox="1"/>
          <p:nvPr/>
        </p:nvSpPr>
        <p:spPr>
          <a:xfrm>
            <a:off x="8093902" y="5709402"/>
            <a:ext cx="1600603" cy="53065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>
                <a:ln w="6350">
                  <a:solidFill>
                    <a:srgbClr val="0072B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ko-KR" sz="1424" b="1" dirty="0"/>
              <a:t>EY Consulting</a:t>
            </a:r>
            <a:br>
              <a:rPr lang="en-US" altLang="ko-KR" sz="1424" b="1" dirty="0"/>
            </a:br>
            <a:r>
              <a:rPr lang="en-US" altLang="ko-KR" sz="1424" b="1" dirty="0"/>
              <a:t>2026.10.30</a:t>
            </a:r>
            <a:endParaRPr lang="ko-KR" altLang="en-US" sz="1424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74141-BE38-4F95-9E7A-DC53AB4F3D25}"/>
              </a:ext>
            </a:extLst>
          </p:cNvPr>
          <p:cNvSpPr txBox="1"/>
          <p:nvPr/>
        </p:nvSpPr>
        <p:spPr>
          <a:xfrm>
            <a:off x="339588" y="1424663"/>
            <a:ext cx="9226823" cy="74392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600" b="1" spc="-150">
                <a:ln w="6350">
                  <a:solidFill>
                    <a:srgbClr val="0072B9">
                      <a:alpha val="0"/>
                    </a:srgbClr>
                  </a:solidFill>
                </a:ln>
                <a:gradFill flip="none" rotWithShape="1">
                  <a:gsLst>
                    <a:gs pos="0">
                      <a:srgbClr val="00438E"/>
                    </a:gs>
                    <a:gs pos="86000">
                      <a:srgbClr val="00194C"/>
                    </a:gs>
                  </a:gsLst>
                  <a:lin ang="5400000" scaled="1"/>
                  <a:tileRect/>
                </a:gradFill>
                <a:latin typeface="Arial" panose="020B0604020202020204" pitchFamily="34" charset="0"/>
                <a:ea typeface="맑은 고딕" pitchFamily="50" charset="-127"/>
                <a:cs typeface="Arial" panose="020B0604020202020204" pitchFamily="34" charset="0"/>
              </a:defRPr>
            </a:lvl1pPr>
          </a:lstStyle>
          <a:p>
            <a:pPr algn="l"/>
            <a:r>
              <a:rPr lang="en-US" altLang="ko-KR" sz="4234" dirty="0"/>
              <a:t>『JW </a:t>
            </a:r>
            <a:r>
              <a:rPr lang="ko-KR" altLang="en-US" sz="4234" dirty="0"/>
              <a:t>정보보안 강화 프로젝트</a:t>
            </a:r>
            <a:r>
              <a:rPr lang="en-US" altLang="ko-KR" sz="4234" dirty="0"/>
              <a:t>』</a:t>
            </a:r>
            <a:r>
              <a:rPr lang="ko-KR" altLang="en-US" sz="4234" dirty="0"/>
              <a:t>착수보고</a:t>
            </a:r>
          </a:p>
        </p:txBody>
      </p:sp>
    </p:spTree>
    <p:extLst>
      <p:ext uri="{BB962C8B-B14F-4D97-AF65-F5344CB8AC3E}">
        <p14:creationId xmlns:p14="http://schemas.microsoft.com/office/powerpoint/2010/main" val="3906912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FB1E8C-2BFB-557C-F88A-D56C914B736E}"/>
              </a:ext>
            </a:extLst>
          </p:cNvPr>
          <p:cNvSpPr/>
          <p:nvPr/>
        </p:nvSpPr>
        <p:spPr>
          <a:xfrm>
            <a:off x="0" y="0"/>
            <a:ext cx="4953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A0E8279-F918-4C9A-B2AF-284833F640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584200"/>
            <a:ext cx="6422954" cy="758463"/>
          </a:xfrm>
          <a:solidFill>
            <a:schemeClr val="accent1"/>
          </a:solidFill>
        </p:spPr>
        <p:txBody>
          <a:bodyPr>
            <a:normAutofit/>
          </a:bodyPr>
          <a:lstStyle/>
          <a:p>
            <a:pPr algn="ctr"/>
            <a:r>
              <a:rPr lang="ko-KR" altLang="en-US" sz="3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목차</a:t>
            </a:r>
          </a:p>
        </p:txBody>
      </p:sp>
      <p:graphicFrame>
        <p:nvGraphicFramePr>
          <p:cNvPr id="4" name="Table 1">
            <a:extLst>
              <a:ext uri="{FF2B5EF4-FFF2-40B4-BE49-F238E27FC236}">
                <a16:creationId xmlns:a16="http://schemas.microsoft.com/office/drawing/2014/main" id="{08DCF771-2FF0-0FAF-0918-8ABBA98AB1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37232"/>
              </p:ext>
            </p:extLst>
          </p:nvPr>
        </p:nvGraphicFramePr>
        <p:xfrm>
          <a:off x="261936" y="1342663"/>
          <a:ext cx="5062418" cy="5107352"/>
        </p:xfrm>
        <a:graphic>
          <a:graphicData uri="http://schemas.openxmlformats.org/drawingml/2006/table">
            <a:tbl>
              <a:tblPr firstRow="1" bandRow="1"/>
              <a:tblGrid>
                <a:gridCol w="910738">
                  <a:extLst>
                    <a:ext uri="{9D8B030D-6E8A-4147-A177-3AD203B41FA5}">
                      <a16:colId xmlns:a16="http://schemas.microsoft.com/office/drawing/2014/main" val="170857443"/>
                    </a:ext>
                  </a:extLst>
                </a:gridCol>
                <a:gridCol w="4151680">
                  <a:extLst>
                    <a:ext uri="{9D8B030D-6E8A-4147-A177-3AD203B41FA5}">
                      <a16:colId xmlns:a16="http://schemas.microsoft.com/office/drawing/2014/main" val="796965854"/>
                    </a:ext>
                  </a:extLst>
                </a:gridCol>
              </a:tblGrid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추진 배경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627101"/>
                  </a:ext>
                </a:extLst>
              </a:tr>
              <a:tr h="102854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수행 방안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2348433"/>
                  </a:ext>
                </a:extLst>
              </a:tr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III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기대 효과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8080410"/>
                  </a:ext>
                </a:extLst>
              </a:tr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IV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일정 및 조직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719087"/>
                  </a:ext>
                </a:extLst>
              </a:tr>
              <a:tr h="101970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4400" b="1" i="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</a:t>
                      </a:r>
                      <a:endParaRPr lang="ko-KR" altLang="en-US" sz="4400" b="1" i="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144000" marB="7200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2800" b="1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협조 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6352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288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22422-B8DB-B83F-1413-1A4EB21B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A56EEE49-75FB-BB7C-7852-34447E9B45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177764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추진 배경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09006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BC587-7303-DCE8-549A-E576D9D8D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1">
            <a:extLst>
              <a:ext uri="{FF2B5EF4-FFF2-40B4-BE49-F238E27FC236}">
                <a16:creationId xmlns:a16="http://schemas.microsoft.com/office/drawing/2014/main" id="{E5FB4549-BE32-3BD8-B272-29F3A84DDF01}"/>
              </a:ext>
            </a:extLst>
          </p:cNvPr>
          <p:cNvSpPr/>
          <p:nvPr/>
        </p:nvSpPr>
        <p:spPr>
          <a:xfrm>
            <a:off x="5874117" y="4628742"/>
            <a:ext cx="3746218" cy="3951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가능한 중장기 보안 마스터플랜 수립</a:t>
            </a:r>
          </a:p>
        </p:txBody>
      </p:sp>
      <p:sp>
        <p:nvSpPr>
          <p:cNvPr id="3" name="Rectangle 20">
            <a:extLst>
              <a:ext uri="{FF2B5EF4-FFF2-40B4-BE49-F238E27FC236}">
                <a16:creationId xmlns:a16="http://schemas.microsoft.com/office/drawing/2014/main" id="{EAEAEF93-23D2-83DC-7D16-F9101C0EA14F}"/>
              </a:ext>
            </a:extLst>
          </p:cNvPr>
          <p:cNvSpPr/>
          <p:nvPr/>
        </p:nvSpPr>
        <p:spPr>
          <a:xfrm>
            <a:off x="5874116" y="4628742"/>
            <a:ext cx="3746218" cy="12902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96000" bIns="72000"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중요도 및 시급성을 고려한 마스터플랜 제시 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투자규모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일정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책임소재 등 실행 계획 구체화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46BD54F-9027-AC24-31FB-F6F89110434A}"/>
              </a:ext>
            </a:extLst>
          </p:cNvPr>
          <p:cNvSpPr/>
          <p:nvPr/>
        </p:nvSpPr>
        <p:spPr>
          <a:xfrm>
            <a:off x="5874117" y="3167556"/>
            <a:ext cx="3746218" cy="3951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관리체계 개선 및 기반 확보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9F411142-B742-DA4F-0A12-2F8CCFA66BD3}"/>
              </a:ext>
            </a:extLst>
          </p:cNvPr>
          <p:cNvSpPr/>
          <p:nvPr/>
        </p:nvSpPr>
        <p:spPr>
          <a:xfrm>
            <a:off x="5874117" y="1794256"/>
            <a:ext cx="3746218" cy="39519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36000" rIns="36000" bIns="36000"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전사 보안 수준 및 핵심 리스크 진단</a:t>
            </a: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7DA3C566-7E4F-1449-C8D2-E234B063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추진</a:t>
            </a:r>
            <a:endParaRPr lang="ko-KR" altLang="en-US" strike="sngStrike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화살표: 오른쪽 18">
            <a:extLst>
              <a:ext uri="{FF2B5EF4-FFF2-40B4-BE49-F238E27FC236}">
                <a16:creationId xmlns:a16="http://schemas.microsoft.com/office/drawing/2014/main" id="{7EF4C759-57E3-CEB9-A94E-44D455CEB160}"/>
              </a:ext>
            </a:extLst>
          </p:cNvPr>
          <p:cNvSpPr/>
          <p:nvPr/>
        </p:nvSpPr>
        <p:spPr>
          <a:xfrm>
            <a:off x="2056910" y="2109474"/>
            <a:ext cx="3815785" cy="3498173"/>
          </a:xfrm>
          <a:prstGeom prst="rightArrow">
            <a:avLst>
              <a:gd name="adj1" fmla="val 50000"/>
              <a:gd name="adj2" fmla="val 13847"/>
            </a:avLst>
          </a:prstGeom>
          <a:gradFill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A7C7D7B0-5A2B-D65B-EAB6-BB99A8295C13}"/>
              </a:ext>
            </a:extLst>
          </p:cNvPr>
          <p:cNvSpPr/>
          <p:nvPr/>
        </p:nvSpPr>
        <p:spPr>
          <a:xfrm>
            <a:off x="5874117" y="1794257"/>
            <a:ext cx="3746218" cy="12902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96000" bIns="72000"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전사 보안 역량을 객관적으로 평가하여 현재 수준 파악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활동에 직접 타격을 줄 수 있는 핵심 리스크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도출</a:t>
            </a:r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7318853B-DAD6-BEB4-9FE2-9713DB74A1DB}"/>
              </a:ext>
            </a:extLst>
          </p:cNvPr>
          <p:cNvSpPr/>
          <p:nvPr/>
        </p:nvSpPr>
        <p:spPr>
          <a:xfrm>
            <a:off x="5874117" y="3167556"/>
            <a:ext cx="3746218" cy="1290253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96000" bIns="72000"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강화되는 법적 의무 사항 충족 및 내부 보안 규정 정비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ISMS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 위한 체계적인 관리 기반 구축</a:t>
            </a:r>
          </a:p>
        </p:txBody>
      </p:sp>
      <p:sp>
        <p:nvSpPr>
          <p:cNvPr id="10" name="Freeform 280">
            <a:extLst>
              <a:ext uri="{FF2B5EF4-FFF2-40B4-BE49-F238E27FC236}">
                <a16:creationId xmlns:a16="http://schemas.microsoft.com/office/drawing/2014/main" id="{E81F9FA8-9FC5-F037-5806-D672450EA4C2}"/>
              </a:ext>
            </a:extLst>
          </p:cNvPr>
          <p:cNvSpPr>
            <a:spLocks/>
          </p:cNvSpPr>
          <p:nvPr/>
        </p:nvSpPr>
        <p:spPr bwMode="auto">
          <a:xfrm>
            <a:off x="5922847" y="1841102"/>
            <a:ext cx="256383" cy="301497"/>
          </a:xfrm>
          <a:custGeom>
            <a:avLst/>
            <a:gdLst>
              <a:gd name="T0" fmla="*/ 0 w 648"/>
              <a:gd name="T1" fmla="*/ 374 h 618"/>
              <a:gd name="T2" fmla="*/ 88 w 648"/>
              <a:gd name="T3" fmla="*/ 320 h 618"/>
              <a:gd name="T4" fmla="*/ 122 w 648"/>
              <a:gd name="T5" fmla="*/ 340 h 618"/>
              <a:gd name="T6" fmla="*/ 184 w 648"/>
              <a:gd name="T7" fmla="*/ 452 h 618"/>
              <a:gd name="T8" fmla="*/ 278 w 648"/>
              <a:gd name="T9" fmla="*/ 316 h 618"/>
              <a:gd name="T10" fmla="*/ 434 w 648"/>
              <a:gd name="T11" fmla="*/ 148 h 618"/>
              <a:gd name="T12" fmla="*/ 534 w 648"/>
              <a:gd name="T13" fmla="*/ 60 h 618"/>
              <a:gd name="T14" fmla="*/ 632 w 648"/>
              <a:gd name="T15" fmla="*/ 0 h 618"/>
              <a:gd name="T16" fmla="*/ 648 w 648"/>
              <a:gd name="T17" fmla="*/ 26 h 618"/>
              <a:gd name="T18" fmla="*/ 566 w 648"/>
              <a:gd name="T19" fmla="*/ 98 h 618"/>
              <a:gd name="T20" fmla="*/ 448 w 648"/>
              <a:gd name="T21" fmla="*/ 230 h 618"/>
              <a:gd name="T22" fmla="*/ 346 w 648"/>
              <a:gd name="T23" fmla="*/ 360 h 618"/>
              <a:gd name="T24" fmla="*/ 234 w 648"/>
              <a:gd name="T25" fmla="*/ 554 h 618"/>
              <a:gd name="T26" fmla="*/ 144 w 648"/>
              <a:gd name="T27" fmla="*/ 618 h 618"/>
              <a:gd name="T28" fmla="*/ 82 w 648"/>
              <a:gd name="T29" fmla="*/ 466 h 618"/>
              <a:gd name="T30" fmla="*/ 42 w 648"/>
              <a:gd name="T31" fmla="*/ 404 h 618"/>
              <a:gd name="T32" fmla="*/ 0 w 648"/>
              <a:gd name="T33" fmla="*/ 374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latinLnBrk="0"/>
            <a:endParaRPr lang="ko-KR" altLang="en-US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Freeform 280">
            <a:extLst>
              <a:ext uri="{FF2B5EF4-FFF2-40B4-BE49-F238E27FC236}">
                <a16:creationId xmlns:a16="http://schemas.microsoft.com/office/drawing/2014/main" id="{1EFCB188-DF23-2B70-CECB-1D608F1C83D4}"/>
              </a:ext>
            </a:extLst>
          </p:cNvPr>
          <p:cNvSpPr>
            <a:spLocks/>
          </p:cNvSpPr>
          <p:nvPr/>
        </p:nvSpPr>
        <p:spPr bwMode="auto">
          <a:xfrm>
            <a:off x="5922846" y="3214402"/>
            <a:ext cx="256383" cy="301497"/>
          </a:xfrm>
          <a:custGeom>
            <a:avLst/>
            <a:gdLst>
              <a:gd name="T0" fmla="*/ 0 w 648"/>
              <a:gd name="T1" fmla="*/ 374 h 618"/>
              <a:gd name="T2" fmla="*/ 88 w 648"/>
              <a:gd name="T3" fmla="*/ 320 h 618"/>
              <a:gd name="T4" fmla="*/ 122 w 648"/>
              <a:gd name="T5" fmla="*/ 340 h 618"/>
              <a:gd name="T6" fmla="*/ 184 w 648"/>
              <a:gd name="T7" fmla="*/ 452 h 618"/>
              <a:gd name="T8" fmla="*/ 278 w 648"/>
              <a:gd name="T9" fmla="*/ 316 h 618"/>
              <a:gd name="T10" fmla="*/ 434 w 648"/>
              <a:gd name="T11" fmla="*/ 148 h 618"/>
              <a:gd name="T12" fmla="*/ 534 w 648"/>
              <a:gd name="T13" fmla="*/ 60 h 618"/>
              <a:gd name="T14" fmla="*/ 632 w 648"/>
              <a:gd name="T15" fmla="*/ 0 h 618"/>
              <a:gd name="T16" fmla="*/ 648 w 648"/>
              <a:gd name="T17" fmla="*/ 26 h 618"/>
              <a:gd name="T18" fmla="*/ 566 w 648"/>
              <a:gd name="T19" fmla="*/ 98 h 618"/>
              <a:gd name="T20" fmla="*/ 448 w 648"/>
              <a:gd name="T21" fmla="*/ 230 h 618"/>
              <a:gd name="T22" fmla="*/ 346 w 648"/>
              <a:gd name="T23" fmla="*/ 360 h 618"/>
              <a:gd name="T24" fmla="*/ 234 w 648"/>
              <a:gd name="T25" fmla="*/ 554 h 618"/>
              <a:gd name="T26" fmla="*/ 144 w 648"/>
              <a:gd name="T27" fmla="*/ 618 h 618"/>
              <a:gd name="T28" fmla="*/ 82 w 648"/>
              <a:gd name="T29" fmla="*/ 466 h 618"/>
              <a:gd name="T30" fmla="*/ 42 w 648"/>
              <a:gd name="T31" fmla="*/ 404 h 618"/>
              <a:gd name="T32" fmla="*/ 0 w 648"/>
              <a:gd name="T33" fmla="*/ 374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latinLnBrk="0"/>
            <a:endParaRPr lang="ko-KR" altLang="en-US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Freeform 280">
            <a:extLst>
              <a:ext uri="{FF2B5EF4-FFF2-40B4-BE49-F238E27FC236}">
                <a16:creationId xmlns:a16="http://schemas.microsoft.com/office/drawing/2014/main" id="{572F67D8-3013-BBF5-DF0A-88090A99C17D}"/>
              </a:ext>
            </a:extLst>
          </p:cNvPr>
          <p:cNvSpPr>
            <a:spLocks/>
          </p:cNvSpPr>
          <p:nvPr/>
        </p:nvSpPr>
        <p:spPr bwMode="auto">
          <a:xfrm>
            <a:off x="5922847" y="4675589"/>
            <a:ext cx="256383" cy="301497"/>
          </a:xfrm>
          <a:custGeom>
            <a:avLst/>
            <a:gdLst>
              <a:gd name="T0" fmla="*/ 0 w 648"/>
              <a:gd name="T1" fmla="*/ 374 h 618"/>
              <a:gd name="T2" fmla="*/ 88 w 648"/>
              <a:gd name="T3" fmla="*/ 320 h 618"/>
              <a:gd name="T4" fmla="*/ 122 w 648"/>
              <a:gd name="T5" fmla="*/ 340 h 618"/>
              <a:gd name="T6" fmla="*/ 184 w 648"/>
              <a:gd name="T7" fmla="*/ 452 h 618"/>
              <a:gd name="T8" fmla="*/ 278 w 648"/>
              <a:gd name="T9" fmla="*/ 316 h 618"/>
              <a:gd name="T10" fmla="*/ 434 w 648"/>
              <a:gd name="T11" fmla="*/ 148 h 618"/>
              <a:gd name="T12" fmla="*/ 534 w 648"/>
              <a:gd name="T13" fmla="*/ 60 h 618"/>
              <a:gd name="T14" fmla="*/ 632 w 648"/>
              <a:gd name="T15" fmla="*/ 0 h 618"/>
              <a:gd name="T16" fmla="*/ 648 w 648"/>
              <a:gd name="T17" fmla="*/ 26 h 618"/>
              <a:gd name="T18" fmla="*/ 566 w 648"/>
              <a:gd name="T19" fmla="*/ 98 h 618"/>
              <a:gd name="T20" fmla="*/ 448 w 648"/>
              <a:gd name="T21" fmla="*/ 230 h 618"/>
              <a:gd name="T22" fmla="*/ 346 w 648"/>
              <a:gd name="T23" fmla="*/ 360 h 618"/>
              <a:gd name="T24" fmla="*/ 234 w 648"/>
              <a:gd name="T25" fmla="*/ 554 h 618"/>
              <a:gd name="T26" fmla="*/ 144 w 648"/>
              <a:gd name="T27" fmla="*/ 618 h 618"/>
              <a:gd name="T28" fmla="*/ 82 w 648"/>
              <a:gd name="T29" fmla="*/ 466 h 618"/>
              <a:gd name="T30" fmla="*/ 42 w 648"/>
              <a:gd name="T31" fmla="*/ 404 h 618"/>
              <a:gd name="T32" fmla="*/ 0 w 648"/>
              <a:gd name="T33" fmla="*/ 374 h 6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648" h="618">
                <a:moveTo>
                  <a:pt x="0" y="374"/>
                </a:moveTo>
                <a:lnTo>
                  <a:pt x="88" y="320"/>
                </a:lnTo>
                <a:lnTo>
                  <a:pt x="122" y="340"/>
                </a:lnTo>
                <a:lnTo>
                  <a:pt x="184" y="452"/>
                </a:lnTo>
                <a:lnTo>
                  <a:pt x="278" y="316"/>
                </a:lnTo>
                <a:lnTo>
                  <a:pt x="434" y="148"/>
                </a:lnTo>
                <a:lnTo>
                  <a:pt x="534" y="60"/>
                </a:lnTo>
                <a:lnTo>
                  <a:pt x="632" y="0"/>
                </a:lnTo>
                <a:lnTo>
                  <a:pt x="648" y="26"/>
                </a:lnTo>
                <a:lnTo>
                  <a:pt x="566" y="98"/>
                </a:lnTo>
                <a:lnTo>
                  <a:pt x="448" y="230"/>
                </a:lnTo>
                <a:lnTo>
                  <a:pt x="346" y="360"/>
                </a:lnTo>
                <a:lnTo>
                  <a:pt x="234" y="554"/>
                </a:lnTo>
                <a:lnTo>
                  <a:pt x="144" y="618"/>
                </a:lnTo>
                <a:lnTo>
                  <a:pt x="82" y="466"/>
                </a:lnTo>
                <a:lnTo>
                  <a:pt x="42" y="404"/>
                </a:lnTo>
                <a:lnTo>
                  <a:pt x="0" y="374"/>
                </a:lnTo>
                <a:close/>
              </a:path>
            </a:pathLst>
          </a:custGeom>
          <a:solidFill>
            <a:schemeClr val="tx1"/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anchor="ctr"/>
          <a:lstStyle/>
          <a:p>
            <a:pPr latinLnBrk="0"/>
            <a:endParaRPr lang="ko-KR" altLang="en-US">
              <a:solidFill>
                <a:srgbClr val="333333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5BC29CD2-A2D5-6253-EF51-563636787B6A}"/>
              </a:ext>
            </a:extLst>
          </p:cNvPr>
          <p:cNvGrpSpPr/>
          <p:nvPr/>
        </p:nvGrpSpPr>
        <p:grpSpPr>
          <a:xfrm>
            <a:off x="324188" y="1402053"/>
            <a:ext cx="5317307" cy="275263"/>
            <a:chOff x="324189" y="1402053"/>
            <a:chExt cx="4864734" cy="275263"/>
          </a:xfrm>
        </p:grpSpPr>
        <p:sp>
          <p:nvSpPr>
            <p:cNvPr id="13" name="Arrow: Left-Right 41">
              <a:extLst>
                <a:ext uri="{FF2B5EF4-FFF2-40B4-BE49-F238E27FC236}">
                  <a16:creationId xmlns:a16="http://schemas.microsoft.com/office/drawing/2014/main" id="{52E44AAC-2886-5960-8513-0C3DCB5ADF9D}"/>
                </a:ext>
              </a:extLst>
            </p:cNvPr>
            <p:cNvSpPr/>
            <p:nvPr/>
          </p:nvSpPr>
          <p:spPr>
            <a:xfrm>
              <a:off x="324189" y="1402053"/>
              <a:ext cx="4864734" cy="275263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 w="9525" cap="flat" cmpd="sng" algn="ctr">
              <a:noFill/>
              <a:prstDash val="solid"/>
            </a:ln>
            <a:effectLst/>
          </p:spPr>
          <p:txBody>
            <a:bodyPr lIns="0" tIns="0" rIns="0" bIns="72000" rtlCol="0" anchor="ctr" anchorCtr="0">
              <a:noAutofit/>
            </a:bodyPr>
            <a:lstStyle/>
            <a:p>
              <a:pPr algn="ctr" rtl="0" latinLnBrk="1"/>
              <a:r>
                <a:rPr lang="ko-KR" altLang="en-US" sz="14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배경</a:t>
              </a:r>
            </a:p>
          </p:txBody>
        </p:sp>
        <p:cxnSp>
          <p:nvCxnSpPr>
            <p:cNvPr id="15" name="Straight Connector 42">
              <a:extLst>
                <a:ext uri="{FF2B5EF4-FFF2-40B4-BE49-F238E27FC236}">
                  <a16:creationId xmlns:a16="http://schemas.microsoft.com/office/drawing/2014/main" id="{0AB95527-4017-B621-96F0-D9CD62DE9BFC}"/>
                </a:ext>
              </a:extLst>
            </p:cNvPr>
            <p:cNvCxnSpPr>
              <a:cxnSpLocks/>
            </p:cNvCxnSpPr>
            <p:nvPr/>
          </p:nvCxnSpPr>
          <p:spPr>
            <a:xfrm>
              <a:off x="324189" y="1635476"/>
              <a:ext cx="4864734" cy="247"/>
            </a:xfrm>
            <a:prstGeom prst="line">
              <a:avLst/>
            </a:prstGeom>
            <a:noFill/>
            <a:ln w="9525" cap="flat" cmpd="sng" algn="ctr">
              <a:solidFill>
                <a:srgbClr val="74748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6" name="Rectangle 6">
            <a:extLst>
              <a:ext uri="{FF2B5EF4-FFF2-40B4-BE49-F238E27FC236}">
                <a16:creationId xmlns:a16="http://schemas.microsoft.com/office/drawing/2014/main" id="{B661408A-493B-FF9E-F14F-781D2F51EAA8}"/>
              </a:ext>
            </a:extLst>
          </p:cNvPr>
          <p:cNvSpPr/>
          <p:nvPr/>
        </p:nvSpPr>
        <p:spPr>
          <a:xfrm>
            <a:off x="358046" y="1789721"/>
            <a:ext cx="870208" cy="192172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외부 환경</a:t>
            </a:r>
          </a:p>
        </p:txBody>
      </p:sp>
      <p:sp>
        <p:nvSpPr>
          <p:cNvPr id="17" name="직사각형 4">
            <a:extLst>
              <a:ext uri="{FF2B5EF4-FFF2-40B4-BE49-F238E27FC236}">
                <a16:creationId xmlns:a16="http://schemas.microsoft.com/office/drawing/2014/main" id="{60B29019-7CB5-47D6-D0A4-6FD08A444247}"/>
              </a:ext>
            </a:extLst>
          </p:cNvPr>
          <p:cNvSpPr/>
          <p:nvPr/>
        </p:nvSpPr>
        <p:spPr>
          <a:xfrm>
            <a:off x="1296954" y="1789720"/>
            <a:ext cx="4344541" cy="192172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신종 위협 및 공급망 침해사고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개인정보보호법 규제 강화 따른 전사 차원 준수 의무 확대</a:t>
            </a:r>
            <a:endParaRPr lang="en-US" altLang="ko-KR" sz="13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 데이터 무결성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위조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변조 방지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위협 리스크 증가</a:t>
            </a: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3653B291-BA81-9DE0-617E-A99B3082FB3F}"/>
              </a:ext>
            </a:extLst>
          </p:cNvPr>
          <p:cNvSpPr/>
          <p:nvPr/>
        </p:nvSpPr>
        <p:spPr>
          <a:xfrm>
            <a:off x="358046" y="4002506"/>
            <a:ext cx="870208" cy="19217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환경</a:t>
            </a:r>
          </a:p>
        </p:txBody>
      </p:sp>
      <p:sp>
        <p:nvSpPr>
          <p:cNvPr id="19" name="직사각형 13">
            <a:extLst>
              <a:ext uri="{FF2B5EF4-FFF2-40B4-BE49-F238E27FC236}">
                <a16:creationId xmlns:a16="http://schemas.microsoft.com/office/drawing/2014/main" id="{99B3E91B-F1E2-B1BF-25F8-6C8093CD7C0E}"/>
              </a:ext>
            </a:extLst>
          </p:cNvPr>
          <p:cNvSpPr/>
          <p:nvPr/>
        </p:nvSpPr>
        <p:spPr>
          <a:xfrm>
            <a:off x="1296996" y="4002506"/>
            <a:ext cx="4345920" cy="192172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44000" indent="-144000">
              <a:lnSpc>
                <a:spcPct val="130000"/>
              </a:lnSpc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자산의 잠재적 취약점 조기 식별 및 침해 사고 예방</a:t>
            </a:r>
          </a:p>
          <a:p>
            <a:pPr marL="144000" indent="-144000">
              <a:lnSpc>
                <a:spcPct val="130000"/>
              </a:lnSpc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관리체계 절차 정립을 통한 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법</a:t>
            </a:r>
            <a:r>
              <a:rPr lang="en-US" altLang="ko-KR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규제 대응력 강화</a:t>
            </a:r>
          </a:p>
          <a:p>
            <a:pPr marL="144000" indent="-144000">
              <a:lnSpc>
                <a:spcPct val="130000"/>
              </a:lnSpc>
              <a:spcBef>
                <a:spcPts val="3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3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수준 진단 기반의 중장기 개선 방향 수립</a:t>
            </a:r>
          </a:p>
        </p:txBody>
      </p:sp>
      <p:sp>
        <p:nvSpPr>
          <p:cNvPr id="20" name="Arrow: Left-Right 41">
            <a:extLst>
              <a:ext uri="{FF2B5EF4-FFF2-40B4-BE49-F238E27FC236}">
                <a16:creationId xmlns:a16="http://schemas.microsoft.com/office/drawing/2014/main" id="{E9F8B140-82C6-AF38-2775-321C4BAD00C3}"/>
              </a:ext>
            </a:extLst>
          </p:cNvPr>
          <p:cNvSpPr/>
          <p:nvPr/>
        </p:nvSpPr>
        <p:spPr>
          <a:xfrm>
            <a:off x="5874117" y="1336317"/>
            <a:ext cx="3752554" cy="333851"/>
          </a:xfrm>
          <a:prstGeom prst="leftRightArrow">
            <a:avLst>
              <a:gd name="adj1" fmla="val 10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ctr" anchorCtr="0">
            <a:noAutofit/>
          </a:bodyPr>
          <a:lstStyle/>
          <a:p>
            <a:pPr algn="ctr" rtl="0" latinLnBrk="1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목적</a:t>
            </a:r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B31C2D0D-A699-E31C-AD35-1669882DC1D3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42889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fontAlgn="t">
              <a:defRPr/>
            </a:pP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연속성 확보를 위한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보안 리스크 식별 및 보안 마스터플랜 수립</a:t>
            </a:r>
            <a:endParaRPr kumimoji="1" lang="ko-KR" altLang="en-US" sz="1600" b="1" i="0" u="none" strike="noStrike" kern="0" cap="none" spc="0" normalizeH="0" baseline="0" noProof="0" dirty="0">
              <a:ln>
                <a:noFill/>
              </a:ln>
              <a:gradFill>
                <a:gsLst>
                  <a:gs pos="0">
                    <a:sysClr val="windowText" lastClr="000000"/>
                  </a:gs>
                  <a:gs pos="100000">
                    <a:sysClr val="windowText" lastClr="000000"/>
                  </a:gs>
                </a:gsLst>
                <a:lin ang="16200000" scaled="1"/>
              </a:gra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216A3F-67F6-93F0-B4A3-6850F0CEFDA2}"/>
              </a:ext>
            </a:extLst>
          </p:cNvPr>
          <p:cNvSpPr txBox="1"/>
          <p:nvPr/>
        </p:nvSpPr>
        <p:spPr>
          <a:xfrm>
            <a:off x="338944" y="6096027"/>
            <a:ext cx="92518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</a:t>
            </a:r>
            <a:b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ISMS(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관리체계 인증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 : </a:t>
            </a:r>
            <a:r>
              <a:rPr lang="ko-KR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정보통신망법에 따라 </a:t>
            </a:r>
            <a:r>
              <a:rPr lang="ko-KR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정보통신서비스 부문 전년도 매출액 100억 원 이상 또는 전년도 일일 평균 이용자 수 100만 명 이상</a:t>
            </a:r>
            <a:r>
              <a:rPr lang="ko-KR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인 기업 등에 요구되는 </a:t>
            </a:r>
            <a:r>
              <a:rPr lang="ko-KR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법정 의무 인증</a:t>
            </a:r>
            <a:r>
              <a:rPr lang="ko-KR" altLang="ko-KR" sz="8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제도</a:t>
            </a:r>
            <a:r>
              <a:rPr lang="en-US" altLang="ko-KR" sz="800" b="1" dirty="0">
                <a:solidFill>
                  <a:srgbClr val="FF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                                                              </a:t>
            </a:r>
            <a:endParaRPr lang="ko-KR" altLang="en-US" sz="800" b="1" dirty="0">
              <a:solidFill>
                <a:srgbClr val="FF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슬라이드 번호 개체 틀 11">
            <a:extLst>
              <a:ext uri="{FF2B5EF4-FFF2-40B4-BE49-F238E27FC236}">
                <a16:creationId xmlns:a16="http://schemas.microsoft.com/office/drawing/2014/main" id="{47F76285-8BE9-83D6-EA5A-3F0D0E4B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9165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38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37EF4-2A6D-311D-C424-117B80A8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59D437F-2F27-615E-4902-B6AE3AE73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제약 산업 내 사이버 리스크 현황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2535B-3F58-BFF2-BD8E-C959094EB8A6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사이버 공격 증가와 피해 비용 확대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AI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신종 위협 확산으로 바이오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제약 산업의 사업 연속성 위협 증대</a:t>
            </a:r>
          </a:p>
        </p:txBody>
      </p:sp>
      <p:sp>
        <p:nvSpPr>
          <p:cNvPr id="62" name="Rectangle 7">
            <a:extLst>
              <a:ext uri="{FF2B5EF4-FFF2-40B4-BE49-F238E27FC236}">
                <a16:creationId xmlns:a16="http://schemas.microsoft.com/office/drawing/2014/main" id="{AB7B9C97-0C21-74AC-9F71-D310BD473F10}"/>
              </a:ext>
            </a:extLst>
          </p:cNvPr>
          <p:cNvSpPr/>
          <p:nvPr/>
        </p:nvSpPr>
        <p:spPr>
          <a:xfrm>
            <a:off x="493625" y="5401786"/>
            <a:ext cx="8878976" cy="461666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 cmpd="sng" algn="ctr">
            <a:noFill/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36000" rIns="72000" bIns="36000" rtlCol="0" anchor="ctr"/>
          <a:lstStyle/>
          <a:p>
            <a:pPr marL="0" marR="0" lvl="1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사이버 리스크는</a:t>
            </a:r>
            <a:r>
              <a:rPr kumimoji="0" lang="en-US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en-US" altLang="ko-KR" sz="1400" b="1" kern="0" spc="-50" dirty="0">
                <a:solidFill>
                  <a:sysClr val="windowText" lastClr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제약 기업의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사업 성과에 직접적 영향을 미치는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-5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중대 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리스크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로 </a:t>
            </a:r>
            <a:r>
              <a:rPr kumimoji="0" lang="ko-KR" altLang="ko-KR" sz="1400" b="1" i="0" u="none" strike="noStrike" kern="0" cap="none" spc="-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부상 </a:t>
            </a:r>
          </a:p>
        </p:txBody>
      </p:sp>
      <p:graphicFrame>
        <p:nvGraphicFramePr>
          <p:cNvPr id="66" name="차트 7">
            <a:extLst>
              <a:ext uri="{FF2B5EF4-FFF2-40B4-BE49-F238E27FC236}">
                <a16:creationId xmlns:a16="http://schemas.microsoft.com/office/drawing/2014/main" id="{F2577CA8-F72E-96D5-98B3-F630244678E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6886297"/>
              </p:ext>
            </p:extLst>
          </p:nvPr>
        </p:nvGraphicFramePr>
        <p:xfrm>
          <a:off x="6469868" y="2342518"/>
          <a:ext cx="2919061" cy="2041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pSp>
        <p:nvGrpSpPr>
          <p:cNvPr id="67" name="Group 66">
            <a:extLst>
              <a:ext uri="{FF2B5EF4-FFF2-40B4-BE49-F238E27FC236}">
                <a16:creationId xmlns:a16="http://schemas.microsoft.com/office/drawing/2014/main" id="{EB7BB9A4-9271-B5F7-092F-2D8F461EB28F}"/>
              </a:ext>
            </a:extLst>
          </p:cNvPr>
          <p:cNvGrpSpPr/>
          <p:nvPr/>
        </p:nvGrpSpPr>
        <p:grpSpPr>
          <a:xfrm>
            <a:off x="493624" y="2342518"/>
            <a:ext cx="8786903" cy="2151150"/>
            <a:chOff x="245533" y="2624666"/>
            <a:chExt cx="7251394" cy="2803982"/>
          </a:xfrm>
        </p:grpSpPr>
        <p:graphicFrame>
          <p:nvGraphicFramePr>
            <p:cNvPr id="68" name="차트 13">
              <a:extLst>
                <a:ext uri="{FF2B5EF4-FFF2-40B4-BE49-F238E27FC236}">
                  <a16:creationId xmlns:a16="http://schemas.microsoft.com/office/drawing/2014/main" id="{899D5E46-1A4B-12D6-B42B-2C67576428B0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1044873142"/>
                </p:ext>
              </p:extLst>
            </p:nvPr>
          </p:nvGraphicFramePr>
          <p:xfrm>
            <a:off x="245533" y="2624666"/>
            <a:ext cx="2381301" cy="2803982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69" name="Group 65">
              <a:extLst>
                <a:ext uri="{FF2B5EF4-FFF2-40B4-BE49-F238E27FC236}">
                  <a16:creationId xmlns:a16="http://schemas.microsoft.com/office/drawing/2014/main" id="{00EA78D5-9FC3-F114-18AC-0905E2742B4D}"/>
                </a:ext>
              </a:extLst>
            </p:cNvPr>
            <p:cNvGrpSpPr/>
            <p:nvPr/>
          </p:nvGrpSpPr>
          <p:grpSpPr>
            <a:xfrm>
              <a:off x="899526" y="2642751"/>
              <a:ext cx="6597401" cy="716776"/>
              <a:chOff x="899526" y="2642751"/>
              <a:chExt cx="6597401" cy="716776"/>
            </a:xfrm>
          </p:grpSpPr>
          <p:sp>
            <p:nvSpPr>
              <p:cNvPr id="70" name="Text box_6391541449555614760">
                <a:extLst>
                  <a:ext uri="{FF2B5EF4-FFF2-40B4-BE49-F238E27FC236}">
                    <a16:creationId xmlns:a16="http://schemas.microsoft.com/office/drawing/2014/main" id="{C64218D5-4ABA-C4DB-A8DE-E544063887C8}"/>
                  </a:ext>
                </a:extLst>
              </p:cNvPr>
              <p:cNvSpPr/>
              <p:nvPr>
                <p:custDataLst>
                  <p:tags r:id="rId1"/>
                </p:custDataLst>
              </p:nvPr>
            </p:nvSpPr>
            <p:spPr>
              <a:xfrm>
                <a:off x="2109190" y="2682041"/>
                <a:ext cx="295002" cy="16047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 rot="0" spcFirstLastPara="0" vertOverflow="overflow" horzOverflow="overflow" vert="horz" wrap="non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단위 </a:t>
                </a: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</a:t>
                </a: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건</a:t>
                </a:r>
              </a:p>
            </p:txBody>
          </p:sp>
          <p:cxnSp>
            <p:nvCxnSpPr>
              <p:cNvPr id="71" name="직선 화살표 연결선 18">
                <a:extLst>
                  <a:ext uri="{FF2B5EF4-FFF2-40B4-BE49-F238E27FC236}">
                    <a16:creationId xmlns:a16="http://schemas.microsoft.com/office/drawing/2014/main" id="{E03E510D-CD2B-ACF6-16E1-14F73CE2E4D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42452" y="2916525"/>
                <a:ext cx="850841" cy="443002"/>
              </a:xfrm>
              <a:prstGeom prst="straightConnector1">
                <a:avLst/>
              </a:prstGeom>
              <a:noFill/>
              <a:ln w="9525" cap="flat" cmpd="sng" algn="ctr">
                <a:solidFill>
                  <a:srgbClr val="000000">
                    <a:shade val="95000"/>
                    <a:satMod val="105000"/>
                  </a:srgbClr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72" name="타원 26">
                <a:extLst>
                  <a:ext uri="{FF2B5EF4-FFF2-40B4-BE49-F238E27FC236}">
                    <a16:creationId xmlns:a16="http://schemas.microsoft.com/office/drawing/2014/main" id="{853AA907-07A7-8536-29D8-4D6B5E55A0E3}"/>
                  </a:ext>
                </a:extLst>
              </p:cNvPr>
              <p:cNvSpPr/>
              <p:nvPr/>
            </p:nvSpPr>
            <p:spPr>
              <a:xfrm>
                <a:off x="899526" y="2987534"/>
                <a:ext cx="850843" cy="295192"/>
              </a:xfrm>
              <a:prstGeom prst="ellipse">
                <a:avLst/>
              </a:prstGeom>
              <a:solidFill>
                <a:srgbClr val="FFFFFF"/>
              </a:solidFill>
              <a:ln w="3175" cap="flat" cmpd="sng" algn="ctr">
                <a:solidFill>
                  <a:srgbClr val="000000"/>
                </a:solidFill>
                <a:prstDash val="solid"/>
              </a:ln>
              <a:effectLst/>
            </p:spPr>
            <p:txBody>
              <a:bodyPr lIns="36000" tIns="36000" rIns="36000" bIns="36000"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20%</a:t>
                </a:r>
              </a:p>
            </p:txBody>
          </p:sp>
          <p:sp>
            <p:nvSpPr>
              <p:cNvPr id="73" name="Text box_6391541449555614760">
                <a:extLst>
                  <a:ext uri="{FF2B5EF4-FFF2-40B4-BE49-F238E27FC236}">
                    <a16:creationId xmlns:a16="http://schemas.microsoft.com/office/drawing/2014/main" id="{9DA4F27C-D5DC-B6CA-62F5-9235466A1A7E}"/>
                  </a:ext>
                </a:extLst>
              </p:cNvPr>
              <p:cNvSpPr/>
              <p:nvPr>
                <p:custDataLst>
                  <p:tags r:id="rId2"/>
                </p:custDataLst>
              </p:nvPr>
            </p:nvSpPr>
            <p:spPr>
              <a:xfrm>
                <a:off x="7186854" y="2642751"/>
                <a:ext cx="310073" cy="16047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단위 </a:t>
                </a: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%</a:t>
                </a:r>
              </a:p>
            </p:txBody>
          </p:sp>
          <p:sp>
            <p:nvSpPr>
              <p:cNvPr id="74" name="Text box_6391541449555614760">
                <a:extLst>
                  <a:ext uri="{FF2B5EF4-FFF2-40B4-BE49-F238E27FC236}">
                    <a16:creationId xmlns:a16="http://schemas.microsoft.com/office/drawing/2014/main" id="{DA58381F-5321-0DF7-91F7-A00AF028CE56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3955457" y="2682041"/>
                <a:ext cx="715678" cy="160473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>
                        <a:alpha val="0"/>
                      </a:srgbClr>
                    </a:solidFill>
                  </a14:hiddenFill>
                </a:ext>
              </a:extLst>
            </p:spPr>
            <p:txBody>
              <a:bodyPr rot="0" spcFirstLastPara="0" vertOverflow="overflow" horzOverflow="overflow" vert="horz" wrap="none" lIns="0" tIns="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단위 </a:t>
                </a:r>
                <a:r>
                  <a:rPr kumimoji="0" lang="en-US" altLang="ko-KR" sz="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: USD Millions</a:t>
                </a:r>
                <a:endParaRPr kumimoji="0" lang="ko-KR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sp>
        <p:nvSpPr>
          <p:cNvPr id="75" name="Rectangle 77">
            <a:extLst>
              <a:ext uri="{FF2B5EF4-FFF2-40B4-BE49-F238E27FC236}">
                <a16:creationId xmlns:a16="http://schemas.microsoft.com/office/drawing/2014/main" id="{5C2CA6E9-1D92-FD0F-C319-875168D37A0C}"/>
              </a:ext>
            </a:extLst>
          </p:cNvPr>
          <p:cNvSpPr/>
          <p:nvPr/>
        </p:nvSpPr>
        <p:spPr>
          <a:xfrm>
            <a:off x="493624" y="1769739"/>
            <a:ext cx="2885550" cy="4730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en-US" altLang="ko-KR" sz="11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제약 산업 </a:t>
            </a:r>
            <a:b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사이버 보안 피해 현황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(2025)</a:t>
            </a:r>
            <a:r>
              <a:rPr kumimoji="0" lang="en-US" altLang="ko-KR" sz="11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1)</a:t>
            </a:r>
            <a:endParaRPr kumimoji="0" lang="ko-KR" altLang="en-US" sz="11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Rectangle 78">
            <a:extLst>
              <a:ext uri="{FF2B5EF4-FFF2-40B4-BE49-F238E27FC236}">
                <a16:creationId xmlns:a16="http://schemas.microsoft.com/office/drawing/2014/main" id="{B857FB07-67D6-F202-A6D9-F012C6031082}"/>
              </a:ext>
            </a:extLst>
          </p:cNvPr>
          <p:cNvSpPr/>
          <p:nvPr/>
        </p:nvSpPr>
        <p:spPr>
          <a:xfrm>
            <a:off x="3504051" y="1769739"/>
            <a:ext cx="2885550" cy="4730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의료 산업 데이터 유출 비용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(2025)</a:t>
            </a:r>
            <a:r>
              <a:rPr kumimoji="0" lang="en-US" altLang="ko-KR" sz="11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2)</a:t>
            </a:r>
            <a:endParaRPr kumimoji="0" lang="ko-KR" altLang="en-US" sz="11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7" name="Rectangle 79">
            <a:extLst>
              <a:ext uri="{FF2B5EF4-FFF2-40B4-BE49-F238E27FC236}">
                <a16:creationId xmlns:a16="http://schemas.microsoft.com/office/drawing/2014/main" id="{32313095-B6E6-738D-4AF1-7A95F3A3AC47}"/>
              </a:ext>
            </a:extLst>
          </p:cNvPr>
          <p:cNvSpPr/>
          <p:nvPr/>
        </p:nvSpPr>
        <p:spPr>
          <a:xfrm>
            <a:off x="6514480" y="1769739"/>
            <a:ext cx="2885550" cy="47306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국내 </a:t>
            </a: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바이오 제약 사이버 보안 위협도 평가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(2026)</a:t>
            </a:r>
            <a:r>
              <a:rPr lang="en-US" altLang="ko-KR" sz="1100" b="1" kern="0" baseline="3000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3)</a:t>
            </a:r>
            <a:endParaRPr kumimoji="0" lang="ko-KR" altLang="en-US" sz="1100" b="1" i="0" u="none" strike="noStrike" kern="0" cap="none" spc="0" normalizeH="0" baseline="3000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8" name="Rectangle 86">
            <a:extLst>
              <a:ext uri="{FF2B5EF4-FFF2-40B4-BE49-F238E27FC236}">
                <a16:creationId xmlns:a16="http://schemas.microsoft.com/office/drawing/2014/main" id="{70492915-51BB-B490-F99C-F755E3D221B1}"/>
              </a:ext>
            </a:extLst>
          </p:cNvPr>
          <p:cNvSpPr/>
          <p:nvPr/>
        </p:nvSpPr>
        <p:spPr>
          <a:xfrm>
            <a:off x="493624" y="4452405"/>
            <a:ext cx="2885550" cy="849671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72000" tIns="36000" rIns="36000" bIns="36000" rtlCol="0" anchor="ctr"/>
          <a:lstStyle/>
          <a:p>
            <a:pPr marR="0" lvl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산업 내 사이버 공격 건수 전년 대비 약 </a:t>
            </a: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20% 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증가</a:t>
            </a:r>
          </a:p>
        </p:txBody>
      </p:sp>
      <p:sp>
        <p:nvSpPr>
          <p:cNvPr id="79" name="Rectangle 87">
            <a:extLst>
              <a:ext uri="{FF2B5EF4-FFF2-40B4-BE49-F238E27FC236}">
                <a16:creationId xmlns:a16="http://schemas.microsoft.com/office/drawing/2014/main" id="{98C755FF-2216-D47F-1F56-332DC4B3068A}"/>
              </a:ext>
            </a:extLst>
          </p:cNvPr>
          <p:cNvSpPr/>
          <p:nvPr/>
        </p:nvSpPr>
        <p:spPr>
          <a:xfrm>
            <a:off x="3504051" y="4452405"/>
            <a:ext cx="2885550" cy="849671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72000" tIns="36000" rIns="36000" bIns="36000" rtlCol="0" anchor="ctr"/>
          <a:lstStyle/>
          <a:p>
            <a:pPr algn="ctr" defTabSz="914400"/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의료 서비스 및 제약 산업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민감 데이터 유출 비용은 전체 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18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산업 중 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6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위로 높은 수준</a:t>
            </a:r>
          </a:p>
        </p:txBody>
      </p:sp>
      <p:sp>
        <p:nvSpPr>
          <p:cNvPr id="80" name="Rectangle 88">
            <a:extLst>
              <a:ext uri="{FF2B5EF4-FFF2-40B4-BE49-F238E27FC236}">
                <a16:creationId xmlns:a16="http://schemas.microsoft.com/office/drawing/2014/main" id="{E3545746-9452-4065-E700-036646319103}"/>
              </a:ext>
            </a:extLst>
          </p:cNvPr>
          <p:cNvSpPr/>
          <p:nvPr/>
        </p:nvSpPr>
        <p:spPr>
          <a:xfrm>
            <a:off x="6484753" y="4452404"/>
            <a:ext cx="2885550" cy="849671"/>
          </a:xfrm>
          <a:prstGeom prst="rect">
            <a:avLst/>
          </a:prstGeom>
          <a:solidFill>
            <a:srgbClr val="FFFFFF"/>
          </a:solidFill>
          <a:ln w="317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  <p:txBody>
          <a:bodyPr lIns="72000" tIns="36000" rIns="36000" bIns="36000" rtlCol="0" anchor="ctr"/>
          <a:lstStyle/>
          <a:p>
            <a:pPr algn="ctr" defTabSz="914400"/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제약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바이오 산업 내 임직원들은 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AI, </a:t>
            </a:r>
            <a:r>
              <a:rPr lang="ko-KR" altLang="en-US" sz="1000" b="1" kern="0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랜섬웨어</a:t>
            </a:r>
            <a:r>
              <a:rPr lang="en-US" altLang="ko-KR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Cloud</a:t>
            </a:r>
            <a:r>
              <a:rPr lang="ko-KR" altLang="en-US" sz="10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순으로 보안 위협도 평가</a:t>
            </a:r>
          </a:p>
        </p:txBody>
      </p:sp>
      <p:cxnSp>
        <p:nvCxnSpPr>
          <p:cNvPr id="81" name="직선 연결선 1066">
            <a:extLst>
              <a:ext uri="{FF2B5EF4-FFF2-40B4-BE49-F238E27FC236}">
                <a16:creationId xmlns:a16="http://schemas.microsoft.com/office/drawing/2014/main" id="{8AFC3240-4CB7-66CF-3F0D-98219DC1A1C8}"/>
              </a:ext>
            </a:extLst>
          </p:cNvPr>
          <p:cNvCxnSpPr>
            <a:cxnSpLocks/>
          </p:cNvCxnSpPr>
          <p:nvPr/>
        </p:nvCxnSpPr>
        <p:spPr>
          <a:xfrm>
            <a:off x="6452040" y="2274301"/>
            <a:ext cx="0" cy="2178104"/>
          </a:xfrm>
          <a:prstGeom prst="line">
            <a:avLst/>
          </a:prstGeom>
          <a:noFill/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ysDash"/>
          </a:ln>
          <a:effectLst/>
        </p:spPr>
      </p:cxnSp>
      <p:cxnSp>
        <p:nvCxnSpPr>
          <p:cNvPr id="82" name="직선 연결선 1066">
            <a:extLst>
              <a:ext uri="{FF2B5EF4-FFF2-40B4-BE49-F238E27FC236}">
                <a16:creationId xmlns:a16="http://schemas.microsoft.com/office/drawing/2014/main" id="{391DF95D-D92B-6C91-C22B-922FC32DEAA9}"/>
              </a:ext>
            </a:extLst>
          </p:cNvPr>
          <p:cNvCxnSpPr>
            <a:cxnSpLocks/>
          </p:cNvCxnSpPr>
          <p:nvPr/>
        </p:nvCxnSpPr>
        <p:spPr>
          <a:xfrm>
            <a:off x="3441613" y="2274301"/>
            <a:ext cx="0" cy="2178104"/>
          </a:xfrm>
          <a:prstGeom prst="line">
            <a:avLst/>
          </a:prstGeom>
          <a:noFill/>
          <a:ln w="9525" cap="flat" cmpd="sng" algn="ctr">
            <a:solidFill>
              <a:schemeClr val="accent5">
                <a:lumMod val="40000"/>
                <a:lumOff val="60000"/>
              </a:schemeClr>
            </a:solidFill>
            <a:prstDash val="sysDash"/>
          </a:ln>
          <a:effectLst/>
        </p:spPr>
      </p:cxnSp>
      <p:graphicFrame>
        <p:nvGraphicFramePr>
          <p:cNvPr id="83" name="Chart 99">
            <a:extLst>
              <a:ext uri="{FF2B5EF4-FFF2-40B4-BE49-F238E27FC236}">
                <a16:creationId xmlns:a16="http://schemas.microsoft.com/office/drawing/2014/main" id="{35CD947C-5F23-3A9F-CF74-F7EF099FFC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61503709"/>
              </p:ext>
            </p:extLst>
          </p:nvPr>
        </p:nvGraphicFramePr>
        <p:xfrm>
          <a:off x="3441613" y="2386534"/>
          <a:ext cx="2992601" cy="20493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84" name="Group 106">
            <a:extLst>
              <a:ext uri="{FF2B5EF4-FFF2-40B4-BE49-F238E27FC236}">
                <a16:creationId xmlns:a16="http://schemas.microsoft.com/office/drawing/2014/main" id="{A6541411-F91D-BDF7-F317-360B2882D1D1}"/>
              </a:ext>
            </a:extLst>
          </p:cNvPr>
          <p:cNvGrpSpPr/>
          <p:nvPr/>
        </p:nvGrpSpPr>
        <p:grpSpPr>
          <a:xfrm rot="20700000">
            <a:off x="4595534" y="3637769"/>
            <a:ext cx="502178" cy="83779"/>
            <a:chOff x="-1371600" y="3804316"/>
            <a:chExt cx="573567" cy="164434"/>
          </a:xfrm>
        </p:grpSpPr>
        <p:sp>
          <p:nvSpPr>
            <p:cNvPr id="85" name="Rectangle 102">
              <a:extLst>
                <a:ext uri="{FF2B5EF4-FFF2-40B4-BE49-F238E27FC236}">
                  <a16:creationId xmlns:a16="http://schemas.microsoft.com/office/drawing/2014/main" id="{18218B1E-FEB5-4FDD-316A-40D50FC7F424}"/>
                </a:ext>
              </a:extLst>
            </p:cNvPr>
            <p:cNvSpPr/>
            <p:nvPr/>
          </p:nvSpPr>
          <p:spPr>
            <a:xfrm>
              <a:off x="-1371600" y="3816350"/>
              <a:ext cx="571500" cy="152400"/>
            </a:xfrm>
            <a:prstGeom prst="rect">
              <a:avLst/>
            </a:prstGeom>
            <a:solidFill>
              <a:srgbClr val="FFFFFF"/>
            </a:solidFill>
            <a:ln w="9525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86" name="Straight Connector 104">
              <a:extLst>
                <a:ext uri="{FF2B5EF4-FFF2-40B4-BE49-F238E27FC236}">
                  <a16:creationId xmlns:a16="http://schemas.microsoft.com/office/drawing/2014/main" id="{DCD6F57B-F390-B529-BBB7-0FEC5B57F8B0}"/>
                </a:ext>
              </a:extLst>
            </p:cNvPr>
            <p:cNvCxnSpPr>
              <a:cxnSpLocks/>
            </p:cNvCxnSpPr>
            <p:nvPr/>
          </p:nvCxnSpPr>
          <p:spPr>
            <a:xfrm>
              <a:off x="-1369725" y="3804316"/>
              <a:ext cx="571499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  <p:cxnSp>
          <p:nvCxnSpPr>
            <p:cNvPr id="87" name="Straight Connector 105">
              <a:extLst>
                <a:ext uri="{FF2B5EF4-FFF2-40B4-BE49-F238E27FC236}">
                  <a16:creationId xmlns:a16="http://schemas.microsoft.com/office/drawing/2014/main" id="{56EBC99F-2C41-4595-F132-1050A328B1BF}"/>
                </a:ext>
              </a:extLst>
            </p:cNvPr>
            <p:cNvCxnSpPr>
              <a:cxnSpLocks/>
            </p:cNvCxnSpPr>
            <p:nvPr/>
          </p:nvCxnSpPr>
          <p:spPr>
            <a:xfrm>
              <a:off x="-1369535" y="3952330"/>
              <a:ext cx="571502" cy="0"/>
            </a:xfrm>
            <a:prstGeom prst="line">
              <a:avLst/>
            </a:prstGeom>
            <a:noFill/>
            <a:ln w="19050" cap="flat" cmpd="sng" algn="ctr">
              <a:solidFill>
                <a:srgbClr val="000000"/>
              </a:solidFill>
              <a:prstDash val="solid"/>
            </a:ln>
            <a:effectLst/>
          </p:spPr>
        </p:cxnSp>
      </p:grpSp>
      <p:cxnSp>
        <p:nvCxnSpPr>
          <p:cNvPr id="88" name="Straight Arrow Connector 107">
            <a:extLst>
              <a:ext uri="{FF2B5EF4-FFF2-40B4-BE49-F238E27FC236}">
                <a16:creationId xmlns:a16="http://schemas.microsoft.com/office/drawing/2014/main" id="{ADA7F3ED-C0BB-9E92-EFCA-317E66762317}"/>
              </a:ext>
            </a:extLst>
          </p:cNvPr>
          <p:cNvCxnSpPr>
            <a:cxnSpLocks/>
          </p:cNvCxnSpPr>
          <p:nvPr/>
        </p:nvCxnSpPr>
        <p:spPr>
          <a:xfrm>
            <a:off x="5323084" y="2565803"/>
            <a:ext cx="0" cy="1583825"/>
          </a:xfrm>
          <a:prstGeom prst="straightConnector1">
            <a:avLst/>
          </a:prstGeom>
          <a:noFill/>
          <a:ln w="9525" cap="flat" cmpd="sng" algn="ctr">
            <a:solidFill>
              <a:srgbClr val="C00000"/>
            </a:solidFill>
            <a:prstDash val="sysDash"/>
          </a:ln>
          <a:effectLst/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4B8DCAB0-472C-88F1-B036-7BAE414AE7E2}"/>
              </a:ext>
            </a:extLst>
          </p:cNvPr>
          <p:cNvSpPr txBox="1"/>
          <p:nvPr/>
        </p:nvSpPr>
        <p:spPr>
          <a:xfrm>
            <a:off x="4621577" y="4241282"/>
            <a:ext cx="1412360" cy="179015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36000" tIns="36000" rIns="36000" bIns="36000" anchor="ctr">
            <a:noAutofit/>
          </a:bodyPr>
          <a:lstStyle>
            <a:defPPr>
              <a:defRPr kern="0"/>
            </a:defPPr>
            <a:lvl2pPr lvl="1" algn="ctr">
              <a:defRPr sz="1200" b="1" spc="-50">
                <a:solidFill>
                  <a:schemeClr val="tx1"/>
                </a:solidFill>
                <a:latin typeface="+mn-ea"/>
                <a:ea typeface="+mn-ea"/>
                <a:cs typeface="함초롬돋움" panose="020B0604000101010101" pitchFamily="50" charset="-127"/>
              </a:defRPr>
            </a:lvl2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평균 </a:t>
            </a:r>
            <a:r>
              <a:rPr kumimoji="0" lang="en-US" altLang="ko-KR" sz="1000" b="1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:4.4M</a:t>
            </a:r>
            <a:endParaRPr kumimoji="0" lang="ko-KR" altLang="en-US" sz="1000" b="1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433FA-B803-6AD3-DFD0-1FE334BFEF24}"/>
              </a:ext>
            </a:extLst>
          </p:cNvPr>
          <p:cNvSpPr txBox="1"/>
          <p:nvPr/>
        </p:nvSpPr>
        <p:spPr>
          <a:xfrm>
            <a:off x="493624" y="5932307"/>
            <a:ext cx="3510571" cy="461665"/>
          </a:xfrm>
          <a:prstGeom prst="rect">
            <a:avLst/>
          </a:prstGeom>
          <a:noFill/>
        </p:spPr>
        <p:txBody>
          <a:bodyPr wrap="square" lIns="0" rIns="0" numCol="1" rtlCol="0">
            <a:spAutoFit/>
          </a:bodyPr>
          <a:lstStyle/>
          <a:p>
            <a:pPr marL="108000" marR="0" lvl="0" indent="-1080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US" altLang="ko-KR" sz="800"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Health-ISAC, “2025 Health Sector Cyber Threat Landscape” (2025)</a:t>
            </a:r>
          </a:p>
          <a:p>
            <a:pPr marL="108000" indent="-108000" defTabSz="914400" latinLnBrk="1">
              <a:buFontTx/>
              <a:buAutoNum type="arabicParenR"/>
              <a:defRPr/>
            </a:pPr>
            <a:r>
              <a:rPr lang="en-US" altLang="ko-KR" sz="800"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IBM, “Cost of a Data Breach Report 2025” (2025)</a:t>
            </a:r>
          </a:p>
          <a:p>
            <a:pPr marL="108000" marR="0" lvl="0" indent="-10800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AutoNum type="arabicParenR"/>
              <a:tabLst/>
              <a:defRPr/>
            </a:pPr>
            <a:r>
              <a:rPr lang="en-US" altLang="ko-KR" sz="800" spc="-50" dirty="0">
                <a:latin typeface="Noto Sans KR" panose="020B0200000000000000" pitchFamily="50" charset="-127"/>
                <a:ea typeface="Noto Sans KR" panose="020B0200000000000000" pitchFamily="50" charset="-127"/>
              </a:rPr>
              <a:t>Samsung SDS, “Samsung SDS Unveils Top 5 Cybersecurity Threats for 2026” (2026)</a:t>
            </a:r>
          </a:p>
        </p:txBody>
      </p:sp>
      <p:sp>
        <p:nvSpPr>
          <p:cNvPr id="10" name="슬라이드 번호 개체 틀 11">
            <a:extLst>
              <a:ext uri="{FF2B5EF4-FFF2-40B4-BE49-F238E27FC236}">
                <a16:creationId xmlns:a16="http://schemas.microsoft.com/office/drawing/2014/main" id="{FA91B0D1-1F71-5CE8-DF53-8262A466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63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0B197-2186-5C65-5BFF-23BC0AFCB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7C57D0BC-141D-E42B-C0D4-2DE32A9F9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잠재적 위협 시나리오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(1)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유출 리스크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BCC4C6-8BC8-83B9-8AC0-9AF28A4DF696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외부 사이버 공격 방어 체계 부재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로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대규모 개인정보 유출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가능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4" name="직사각형 2">
            <a:extLst>
              <a:ext uri="{FF2B5EF4-FFF2-40B4-BE49-F238E27FC236}">
                <a16:creationId xmlns:a16="http://schemas.microsoft.com/office/drawing/2014/main" id="{7464F3ED-7CD3-E5AA-1AD5-0F53EF1C8404}"/>
              </a:ext>
            </a:extLst>
          </p:cNvPr>
          <p:cNvSpPr/>
          <p:nvPr/>
        </p:nvSpPr>
        <p:spPr>
          <a:xfrm>
            <a:off x="441643" y="1938385"/>
            <a:ext cx="4430712" cy="4157615"/>
          </a:xfrm>
          <a:prstGeom prst="rect">
            <a:avLst/>
          </a:prstGeom>
          <a:solidFill>
            <a:sysClr val="window" lastClr="FFFFFF">
              <a:alpha val="35000"/>
            </a:sysClr>
          </a:solidFill>
          <a:ln>
            <a:solidFill>
              <a:sysClr val="windowText" lastClr="000000">
                <a:lumMod val="65000"/>
                <a:lumOff val="35000"/>
              </a:sysClr>
            </a:solidFill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5" name="Rectangle 118">
            <a:extLst>
              <a:ext uri="{FF2B5EF4-FFF2-40B4-BE49-F238E27FC236}">
                <a16:creationId xmlns:a16="http://schemas.microsoft.com/office/drawing/2014/main" id="{EEC9CD36-5276-9EEF-4D03-61BD548C4D0D}"/>
              </a:ext>
            </a:extLst>
          </p:cNvPr>
          <p:cNvSpPr/>
          <p:nvPr/>
        </p:nvSpPr>
        <p:spPr>
          <a:xfrm>
            <a:off x="606719" y="3457383"/>
            <a:ext cx="4123715" cy="2358912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6" name="사각형: 둥근 모서리 194">
            <a:extLst>
              <a:ext uri="{FF2B5EF4-FFF2-40B4-BE49-F238E27FC236}">
                <a16:creationId xmlns:a16="http://schemas.microsoft.com/office/drawing/2014/main" id="{ACA7D557-10E6-E9B8-702F-56835C39F659}"/>
              </a:ext>
            </a:extLst>
          </p:cNvPr>
          <p:cNvSpPr/>
          <p:nvPr/>
        </p:nvSpPr>
        <p:spPr>
          <a:xfrm>
            <a:off x="700114" y="5150426"/>
            <a:ext cx="3949663" cy="591304"/>
          </a:xfrm>
          <a:prstGeom prst="roundRect">
            <a:avLst>
              <a:gd name="adj" fmla="val 7214"/>
            </a:avLst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7" name="그룹 14">
            <a:extLst>
              <a:ext uri="{FF2B5EF4-FFF2-40B4-BE49-F238E27FC236}">
                <a16:creationId xmlns:a16="http://schemas.microsoft.com/office/drawing/2014/main" id="{FD4544EA-6E04-7F19-B19C-229975064DBB}"/>
              </a:ext>
            </a:extLst>
          </p:cNvPr>
          <p:cNvGrpSpPr/>
          <p:nvPr/>
        </p:nvGrpSpPr>
        <p:grpSpPr>
          <a:xfrm>
            <a:off x="4932166" y="1555245"/>
            <a:ext cx="4430713" cy="299583"/>
            <a:chOff x="5050206" y="1560235"/>
            <a:chExt cx="4430713" cy="299583"/>
          </a:xfrm>
        </p:grpSpPr>
        <p:sp>
          <p:nvSpPr>
            <p:cNvPr id="78" name="Text Box 10">
              <a:extLst>
                <a:ext uri="{FF2B5EF4-FFF2-40B4-BE49-F238E27FC236}">
                  <a16:creationId xmlns:a16="http://schemas.microsoft.com/office/drawing/2014/main" id="{5271D672-D049-12FE-9151-16763575B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50206" y="1560235"/>
              <a:ext cx="4430711" cy="298501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028671" algn="l"/>
                </a:tabLst>
                <a:defRPr/>
              </a:pPr>
              <a:r>
                <a:rPr kumimoji="0" lang="ko-KR" altLang="en-US" sz="15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발생 가능한 리스크</a:t>
              </a:r>
            </a:p>
          </p:txBody>
        </p:sp>
        <p:cxnSp>
          <p:nvCxnSpPr>
            <p:cNvPr id="79" name="직선 연결선 16">
              <a:extLst>
                <a:ext uri="{FF2B5EF4-FFF2-40B4-BE49-F238E27FC236}">
                  <a16:creationId xmlns:a16="http://schemas.microsoft.com/office/drawing/2014/main" id="{9190FEB2-6453-CCCE-656F-5C619B5C6825}"/>
                </a:ext>
              </a:extLst>
            </p:cNvPr>
            <p:cNvCxnSpPr>
              <a:cxnSpLocks/>
            </p:cNvCxnSpPr>
            <p:nvPr/>
          </p:nvCxnSpPr>
          <p:spPr>
            <a:xfrm>
              <a:off x="5052388" y="1859818"/>
              <a:ext cx="4428531" cy="0"/>
            </a:xfrm>
            <a:prstGeom prst="line">
              <a:avLst/>
            </a:prstGeom>
            <a:noFill/>
            <a:ln w="12700" cap="sq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80" name="직사각형 18">
            <a:extLst>
              <a:ext uri="{FF2B5EF4-FFF2-40B4-BE49-F238E27FC236}">
                <a16:creationId xmlns:a16="http://schemas.microsoft.com/office/drawing/2014/main" id="{617A1B8C-BA6B-69E6-381C-9BE5458E7253}"/>
              </a:ext>
            </a:extLst>
          </p:cNvPr>
          <p:cNvSpPr/>
          <p:nvPr/>
        </p:nvSpPr>
        <p:spPr>
          <a:xfrm>
            <a:off x="4978200" y="2639769"/>
            <a:ext cx="1005336" cy="10129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웹 방화벽 부재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  <a:sym typeface="Arial"/>
            </a:endParaRPr>
          </a:p>
        </p:txBody>
      </p:sp>
      <p:sp>
        <p:nvSpPr>
          <p:cNvPr id="81" name="직사각형 19">
            <a:extLst>
              <a:ext uri="{FF2B5EF4-FFF2-40B4-BE49-F238E27FC236}">
                <a16:creationId xmlns:a16="http://schemas.microsoft.com/office/drawing/2014/main" id="{5AC3605E-19D9-4482-2D32-BAAC3531936A}"/>
              </a:ext>
            </a:extLst>
          </p:cNvPr>
          <p:cNvSpPr/>
          <p:nvPr/>
        </p:nvSpPr>
        <p:spPr>
          <a:xfrm>
            <a:off x="4978200" y="3823319"/>
            <a:ext cx="1005336" cy="10129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취약점</a:t>
            </a:r>
            <a:b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</a:br>
            <a:r>
              <a:rPr lang="ko-KR" altLang="en-US" sz="1400" b="1" kern="0" dirty="0">
                <a:solidFill>
                  <a:srgbClr val="FFFFFF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진단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 부재</a:t>
            </a:r>
          </a:p>
        </p:txBody>
      </p:sp>
      <p:sp>
        <p:nvSpPr>
          <p:cNvPr id="82" name="직사각형 20">
            <a:extLst>
              <a:ext uri="{FF2B5EF4-FFF2-40B4-BE49-F238E27FC236}">
                <a16:creationId xmlns:a16="http://schemas.microsoft.com/office/drawing/2014/main" id="{40A4496C-8C9C-0DE9-8904-A19FC90124B0}"/>
              </a:ext>
            </a:extLst>
          </p:cNvPr>
          <p:cNvSpPr/>
          <p:nvPr/>
        </p:nvSpPr>
        <p:spPr>
          <a:xfrm>
            <a:off x="4978200" y="5006869"/>
            <a:ext cx="1005336" cy="101293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DB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rPr>
              <a:t>보안 불충분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F8BEBB-8E8C-CFE2-77C9-F2DE8B34B0E8}"/>
              </a:ext>
            </a:extLst>
          </p:cNvPr>
          <p:cNvSpPr txBox="1"/>
          <p:nvPr/>
        </p:nvSpPr>
        <p:spPr>
          <a:xfrm>
            <a:off x="6047405" y="2607127"/>
            <a:ext cx="3303722" cy="1012931"/>
          </a:xfrm>
          <a:prstGeom prst="rect">
            <a:avLst/>
          </a:prstGeom>
          <a:noFill/>
        </p:spPr>
        <p:txBody>
          <a:bodyPr wrap="square" lIns="72000" tIns="36000" rIns="36000" bIns="36000" rtlCol="0" anchor="ctr" anchorCtr="0">
            <a:noAutofit/>
          </a:bodyPr>
          <a:lstStyle/>
          <a:p>
            <a:pPr marL="171450" indent="-171450" defTabSz="914400">
              <a:lnSpc>
                <a:spcPct val="130000"/>
              </a:lnSpc>
              <a:spcAft>
                <a:spcPts val="6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웹 취약점 탐지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및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차단 기능 부재로 공격 노출</a:t>
            </a:r>
            <a:br>
              <a:rPr lang="en-US" altLang="ko-KR" sz="12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</a:b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→ 개인정보 유출 및 서비스 침해 리스크</a:t>
            </a:r>
            <a:endParaRPr lang="en-US" altLang="ko-KR" sz="1200" b="1" kern="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50A8335-94F6-BDA0-DD7A-9B9CABEF357F}"/>
              </a:ext>
            </a:extLst>
          </p:cNvPr>
          <p:cNvSpPr txBox="1"/>
          <p:nvPr/>
        </p:nvSpPr>
        <p:spPr>
          <a:xfrm>
            <a:off x="6047405" y="3819882"/>
            <a:ext cx="3303722" cy="1012931"/>
          </a:xfrm>
          <a:prstGeom prst="rect">
            <a:avLst/>
          </a:prstGeom>
          <a:noFill/>
        </p:spPr>
        <p:txBody>
          <a:bodyPr wrap="square" lIns="72000" tIns="36000" rIns="36000" bIns="36000" rtlCol="0" anchor="ctr" anchorCtr="0">
            <a:noAutofit/>
          </a:bodyPr>
          <a:lstStyle/>
          <a:p>
            <a:pPr marL="171450" indent="-171450" defTabSz="914400">
              <a:lnSpc>
                <a:spcPct val="130000"/>
              </a:lnSpc>
              <a:spcAft>
                <a:spcPts val="6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웹 개발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부터 운영 전 과정 취약점 진단 부재</a:t>
            </a:r>
            <a:br>
              <a:rPr lang="en-US" altLang="ko-KR" sz="11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</a:b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→ 웹 취약점을 악용한</a:t>
            </a:r>
            <a:r>
              <a: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정보 유출 리스크</a:t>
            </a:r>
            <a:endParaRPr lang="en-US" altLang="ko-KR" sz="1200" b="1" kern="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6618A67-EB10-2311-DB24-ED0FAB0D07C7}"/>
              </a:ext>
            </a:extLst>
          </p:cNvPr>
          <p:cNvSpPr txBox="1"/>
          <p:nvPr/>
        </p:nvSpPr>
        <p:spPr>
          <a:xfrm>
            <a:off x="6047405" y="4998680"/>
            <a:ext cx="3416952" cy="1012931"/>
          </a:xfrm>
          <a:prstGeom prst="rect">
            <a:avLst/>
          </a:prstGeom>
          <a:noFill/>
        </p:spPr>
        <p:txBody>
          <a:bodyPr wrap="square" lIns="72000" tIns="36000" rIns="36000" bIns="36000" rtlCol="0" anchor="ctr" anchorCtr="0">
            <a:noAutofit/>
          </a:bodyPr>
          <a:lstStyle/>
          <a:p>
            <a:pPr marL="171450" indent="-171450" defTabSz="914400">
              <a:lnSpc>
                <a:spcPct val="130000"/>
              </a:lnSpc>
              <a:spcAft>
                <a:spcPts val="600"/>
              </a:spcAft>
              <a:buClr>
                <a:prstClr val="black"/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접근통제 및 모니터링 부재로 비인가자 접속 가능 </a:t>
            </a:r>
            <a:br>
              <a:rPr lang="en-US" altLang="ko-KR" sz="12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</a:br>
            <a:r>
              <a:rPr lang="ko-KR" altLang="en-US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→ 고객 개인정보 대규모 유출 리스크</a:t>
            </a:r>
            <a:endParaRPr lang="en-US" altLang="ko-KR" sz="1200" b="1" kern="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sp>
        <p:nvSpPr>
          <p:cNvPr id="86" name="직사각형 25">
            <a:extLst>
              <a:ext uri="{FF2B5EF4-FFF2-40B4-BE49-F238E27FC236}">
                <a16:creationId xmlns:a16="http://schemas.microsoft.com/office/drawing/2014/main" id="{225D9B36-B63F-F2B3-9BB2-37CBB8C72CDA}"/>
              </a:ext>
            </a:extLst>
          </p:cNvPr>
          <p:cNvSpPr/>
          <p:nvPr/>
        </p:nvSpPr>
        <p:spPr bwMode="ltGray">
          <a:xfrm>
            <a:off x="4877841" y="1938385"/>
            <a:ext cx="4430710" cy="495360"/>
          </a:xfrm>
          <a:prstGeom prst="rect">
            <a:avLst/>
          </a:prstGeom>
          <a:noFill/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algn="ctr" fontAlgn="ctr"/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고객 정보 유출 시 보안 관리 수준 등을 고려</a:t>
            </a:r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b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법인 전체 매출액의 최대 </a:t>
            </a:r>
            <a:r>
              <a:rPr lang="en-US" altLang="ko-KR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10% </a:t>
            </a:r>
            <a:r>
              <a: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과징금 </a:t>
            </a:r>
            <a:r>
              <a:rPr lang="ko-KR" altLang="en-US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부과 가능</a:t>
            </a:r>
            <a:r>
              <a:rPr lang="en-US" altLang="ko-KR" sz="13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endParaRPr lang="ko-KR" altLang="en-US" sz="1300" b="1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87" name="직선 연결선 26">
            <a:extLst>
              <a:ext uri="{FF2B5EF4-FFF2-40B4-BE49-F238E27FC236}">
                <a16:creationId xmlns:a16="http://schemas.microsoft.com/office/drawing/2014/main" id="{B1580C98-E7C5-997A-6A82-7FD39D6D8739}"/>
              </a:ext>
            </a:extLst>
          </p:cNvPr>
          <p:cNvCxnSpPr>
            <a:cxnSpLocks/>
          </p:cNvCxnSpPr>
          <p:nvPr/>
        </p:nvCxnSpPr>
        <p:spPr>
          <a:xfrm>
            <a:off x="4978200" y="3741964"/>
            <a:ext cx="4384675" cy="0"/>
          </a:xfrm>
          <a:prstGeom prst="line">
            <a:avLst/>
          </a:prstGeom>
          <a:noFill/>
          <a:ln w="9525" cap="sq" cmpd="sng" algn="ctr">
            <a:solidFill>
              <a:srgbClr val="156082"/>
            </a:solidFill>
            <a:prstDash val="dash"/>
            <a:miter lim="800000"/>
          </a:ln>
          <a:effectLst/>
        </p:spPr>
      </p:cxnSp>
      <p:cxnSp>
        <p:nvCxnSpPr>
          <p:cNvPr id="88" name="직선 연결선 27">
            <a:extLst>
              <a:ext uri="{FF2B5EF4-FFF2-40B4-BE49-F238E27FC236}">
                <a16:creationId xmlns:a16="http://schemas.microsoft.com/office/drawing/2014/main" id="{5FFD32FA-F381-61AF-B67A-4F11474F9101}"/>
              </a:ext>
            </a:extLst>
          </p:cNvPr>
          <p:cNvCxnSpPr>
            <a:cxnSpLocks/>
          </p:cNvCxnSpPr>
          <p:nvPr/>
        </p:nvCxnSpPr>
        <p:spPr>
          <a:xfrm>
            <a:off x="4975978" y="4924430"/>
            <a:ext cx="4384675" cy="0"/>
          </a:xfrm>
          <a:prstGeom prst="line">
            <a:avLst/>
          </a:prstGeom>
          <a:noFill/>
          <a:ln w="9525" cap="sq" cmpd="sng" algn="ctr">
            <a:solidFill>
              <a:srgbClr val="156082"/>
            </a:solidFill>
            <a:prstDash val="dash"/>
            <a:miter lim="800000"/>
          </a:ln>
          <a:effectLst/>
        </p:spPr>
      </p:cxnSp>
      <p:sp>
        <p:nvSpPr>
          <p:cNvPr id="89" name="Oval 107">
            <a:extLst>
              <a:ext uri="{FF2B5EF4-FFF2-40B4-BE49-F238E27FC236}">
                <a16:creationId xmlns:a16="http://schemas.microsoft.com/office/drawing/2014/main" id="{30CBD530-AE9E-3F3C-0EA6-FF54D728A5D7}"/>
              </a:ext>
            </a:extLst>
          </p:cNvPr>
          <p:cNvSpPr/>
          <p:nvPr/>
        </p:nvSpPr>
        <p:spPr>
          <a:xfrm>
            <a:off x="4935240" y="2583943"/>
            <a:ext cx="180000" cy="180000"/>
          </a:xfrm>
          <a:prstGeom prst="ellipse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0" name="Oval 109">
            <a:extLst>
              <a:ext uri="{FF2B5EF4-FFF2-40B4-BE49-F238E27FC236}">
                <a16:creationId xmlns:a16="http://schemas.microsoft.com/office/drawing/2014/main" id="{3D12A937-B9CA-FC33-CC37-8FBE3CABB9B9}"/>
              </a:ext>
            </a:extLst>
          </p:cNvPr>
          <p:cNvSpPr/>
          <p:nvPr/>
        </p:nvSpPr>
        <p:spPr>
          <a:xfrm>
            <a:off x="4935240" y="3789707"/>
            <a:ext cx="180000" cy="180000"/>
          </a:xfrm>
          <a:prstGeom prst="ellipse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1" name="Oval 111">
            <a:extLst>
              <a:ext uri="{FF2B5EF4-FFF2-40B4-BE49-F238E27FC236}">
                <a16:creationId xmlns:a16="http://schemas.microsoft.com/office/drawing/2014/main" id="{1A263DB5-55F7-4A04-3375-3A5BFC5AAFB4}"/>
              </a:ext>
            </a:extLst>
          </p:cNvPr>
          <p:cNvSpPr/>
          <p:nvPr/>
        </p:nvSpPr>
        <p:spPr>
          <a:xfrm>
            <a:off x="4944764" y="4969595"/>
            <a:ext cx="180000" cy="180000"/>
          </a:xfrm>
          <a:prstGeom prst="ellipse">
            <a:avLst/>
          </a:prstGeom>
          <a:solidFill>
            <a:srgbClr val="404040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2" name="직사각형 3">
            <a:extLst>
              <a:ext uri="{FF2B5EF4-FFF2-40B4-BE49-F238E27FC236}">
                <a16:creationId xmlns:a16="http://schemas.microsoft.com/office/drawing/2014/main" id="{BBB5862C-FF08-C720-79B8-7D56915D1AE7}"/>
              </a:ext>
            </a:extLst>
          </p:cNvPr>
          <p:cNvSpPr/>
          <p:nvPr/>
        </p:nvSpPr>
        <p:spPr>
          <a:xfrm>
            <a:off x="441643" y="1520885"/>
            <a:ext cx="4430712" cy="332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rgbClr val="00438E"/>
            </a:solidFill>
          </a:ln>
        </p:spPr>
        <p:txBody>
          <a:bodyPr vert="horz" wrap="square" lIns="0" tIns="36000" rIns="0" bIns="36000" rtlCol="0" anchor="ctr">
            <a:noAutofit/>
          </a:bodyPr>
          <a:lstStyle/>
          <a:p>
            <a:pPr algn="ctr" defTabSz="914400">
              <a:spcBef>
                <a:spcPts val="400"/>
              </a:spcBef>
              <a:defRPr/>
            </a:pPr>
            <a:r>
              <a:rPr lang="en-US" altLang="ko-KR" sz="1400" b="1" kern="0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JWPmall</a:t>
            </a:r>
            <a:r>
              <a:rPr lang="en-US" altLang="ko-KR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고객정보 유출 시나리오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61A5003-7C76-B2D9-BF19-68B0E93F86EC}"/>
              </a:ext>
            </a:extLst>
          </p:cNvPr>
          <p:cNvSpPr txBox="1"/>
          <p:nvPr/>
        </p:nvSpPr>
        <p:spPr>
          <a:xfrm>
            <a:off x="2146220" y="2566651"/>
            <a:ext cx="198607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 정보 조회 차단 및 공격 방어 </a:t>
            </a:r>
            <a:r>
              <a:rPr lang="en-US" altLang="ko-KR" sz="105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5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차 관문 부재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B86616B-C183-56A5-3210-184388967655}"/>
              </a:ext>
            </a:extLst>
          </p:cNvPr>
          <p:cNvSpPr txBox="1"/>
          <p:nvPr/>
        </p:nvSpPr>
        <p:spPr>
          <a:xfrm>
            <a:off x="640241" y="3596111"/>
            <a:ext cx="36595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JWPMall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웹사이트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회원 개인정보 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13,691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건</a:t>
            </a:r>
          </a:p>
        </p:txBody>
      </p:sp>
      <p:sp>
        <p:nvSpPr>
          <p:cNvPr id="97" name="Rectangle 121">
            <a:extLst>
              <a:ext uri="{FF2B5EF4-FFF2-40B4-BE49-F238E27FC236}">
                <a16:creationId xmlns:a16="http://schemas.microsoft.com/office/drawing/2014/main" id="{C67924E9-FDAE-97AA-0CB9-32636D520822}"/>
              </a:ext>
            </a:extLst>
          </p:cNvPr>
          <p:cNvSpPr/>
          <p:nvPr/>
        </p:nvSpPr>
        <p:spPr>
          <a:xfrm>
            <a:off x="606719" y="3189879"/>
            <a:ext cx="4123715" cy="306964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952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외주업체 관리 불충분 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- Cloud 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및 개발 관리</a:t>
            </a:r>
          </a:p>
        </p:txBody>
      </p:sp>
      <p:sp>
        <p:nvSpPr>
          <p:cNvPr id="98" name="Oval 122">
            <a:extLst>
              <a:ext uri="{FF2B5EF4-FFF2-40B4-BE49-F238E27FC236}">
                <a16:creationId xmlns:a16="http://schemas.microsoft.com/office/drawing/2014/main" id="{9ACF412B-D89D-9A51-F84E-EAAF4B1B0CA6}"/>
              </a:ext>
            </a:extLst>
          </p:cNvPr>
          <p:cNvSpPr/>
          <p:nvPr/>
        </p:nvSpPr>
        <p:spPr>
          <a:xfrm>
            <a:off x="700114" y="3658272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51F0461-4A4E-6825-1D8C-1D645E59CAC0}"/>
              </a:ext>
            </a:extLst>
          </p:cNvPr>
          <p:cNvSpPr txBox="1"/>
          <p:nvPr/>
        </p:nvSpPr>
        <p:spPr>
          <a:xfrm>
            <a:off x="2251709" y="3894855"/>
            <a:ext cx="2355165" cy="826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오라클 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설정 미흡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소스코드 및 웹 취약점 진단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계정 접속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작업 기록 부재</a:t>
            </a:r>
          </a:p>
        </p:txBody>
      </p:sp>
      <p:cxnSp>
        <p:nvCxnSpPr>
          <p:cNvPr id="100" name="Connector: Elbow 126">
            <a:extLst>
              <a:ext uri="{FF2B5EF4-FFF2-40B4-BE49-F238E27FC236}">
                <a16:creationId xmlns:a16="http://schemas.microsoft.com/office/drawing/2014/main" id="{A1EF5F06-AB4E-F5A6-5079-D55FF00FBA39}"/>
              </a:ext>
            </a:extLst>
          </p:cNvPr>
          <p:cNvCxnSpPr>
            <a:cxnSpLocks/>
            <a:endCxn id="97" idx="0"/>
          </p:cNvCxnSpPr>
          <p:nvPr/>
        </p:nvCxnSpPr>
        <p:spPr>
          <a:xfrm rot="16200000" flipH="1">
            <a:off x="1447491" y="1968792"/>
            <a:ext cx="717747" cy="1724425"/>
          </a:xfrm>
          <a:prstGeom prst="bentConnector3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01" name="Straight Arrow Connector 127">
            <a:extLst>
              <a:ext uri="{FF2B5EF4-FFF2-40B4-BE49-F238E27FC236}">
                <a16:creationId xmlns:a16="http://schemas.microsoft.com/office/drawing/2014/main" id="{139502DF-505F-3031-AAF7-66423CE54AEB}"/>
              </a:ext>
            </a:extLst>
          </p:cNvPr>
          <p:cNvCxnSpPr>
            <a:cxnSpLocks/>
            <a:stCxn id="95" idx="2"/>
          </p:cNvCxnSpPr>
          <p:nvPr/>
        </p:nvCxnSpPr>
        <p:spPr>
          <a:xfrm flipH="1">
            <a:off x="1466347" y="4802771"/>
            <a:ext cx="1625" cy="350415"/>
          </a:xfrm>
          <a:prstGeom prst="straightConnector1">
            <a:avLst/>
          </a:prstGeom>
          <a:noFill/>
          <a:ln w="19050" cap="flat" cmpd="sng" algn="ctr">
            <a:solidFill>
              <a:srgbClr val="C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550A8791-C2C6-A65C-E390-8E95451E31DE}"/>
              </a:ext>
            </a:extLst>
          </p:cNvPr>
          <p:cNvSpPr txBox="1"/>
          <p:nvPr/>
        </p:nvSpPr>
        <p:spPr>
          <a:xfrm>
            <a:off x="1005660" y="2225585"/>
            <a:ext cx="654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103" name="Rectangle 130">
            <a:extLst>
              <a:ext uri="{FF2B5EF4-FFF2-40B4-BE49-F238E27FC236}">
                <a16:creationId xmlns:a16="http://schemas.microsoft.com/office/drawing/2014/main" id="{E1681C82-995C-0980-C6D7-73151C092B40}"/>
              </a:ext>
            </a:extLst>
          </p:cNvPr>
          <p:cNvSpPr/>
          <p:nvPr/>
        </p:nvSpPr>
        <p:spPr>
          <a:xfrm>
            <a:off x="606719" y="2622066"/>
            <a:ext cx="1279231" cy="306964"/>
          </a:xfrm>
          <a:prstGeom prst="rect">
            <a:avLst/>
          </a:prstGeom>
          <a:solidFill>
            <a:srgbClr val="FFFFFF"/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웹 방화벽 부재</a:t>
            </a:r>
          </a:p>
        </p:txBody>
      </p:sp>
      <p:sp>
        <p:nvSpPr>
          <p:cNvPr id="104" name="Oval 131">
            <a:extLst>
              <a:ext uri="{FF2B5EF4-FFF2-40B4-BE49-F238E27FC236}">
                <a16:creationId xmlns:a16="http://schemas.microsoft.com/office/drawing/2014/main" id="{8B104157-0F61-B508-08EB-0A2BE0264B80}"/>
              </a:ext>
            </a:extLst>
          </p:cNvPr>
          <p:cNvSpPr/>
          <p:nvPr/>
        </p:nvSpPr>
        <p:spPr>
          <a:xfrm>
            <a:off x="531329" y="2520837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5" name="그림 77" descr="Database, server, data, information, storage icon - Download on Iconfinder">
            <a:extLst>
              <a:ext uri="{FF2B5EF4-FFF2-40B4-BE49-F238E27FC236}">
                <a16:creationId xmlns:a16="http://schemas.microsoft.com/office/drawing/2014/main" id="{E45CD0A1-B61A-EB70-D202-2E0B83B86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236" y="5247751"/>
            <a:ext cx="367187" cy="367187"/>
          </a:xfrm>
          <a:prstGeom prst="rect">
            <a:avLst/>
          </a:prstGeom>
        </p:spPr>
      </p:pic>
      <p:sp>
        <p:nvSpPr>
          <p:cNvPr id="106" name="TextBox 105">
            <a:extLst>
              <a:ext uri="{FF2B5EF4-FFF2-40B4-BE49-F238E27FC236}">
                <a16:creationId xmlns:a16="http://schemas.microsoft.com/office/drawing/2014/main" id="{59229AB8-E406-DC35-E2DC-4C0622C8DAC0}"/>
              </a:ext>
            </a:extLst>
          </p:cNvPr>
          <p:cNvSpPr txBox="1"/>
          <p:nvPr/>
        </p:nvSpPr>
        <p:spPr>
          <a:xfrm>
            <a:off x="1787268" y="5173293"/>
            <a:ext cx="2862509" cy="549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강화된 인증 수단 없이 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ID/PW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만으로 접근 가능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DB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 관리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7" name="Oval 128">
            <a:extLst>
              <a:ext uri="{FF2B5EF4-FFF2-40B4-BE49-F238E27FC236}">
                <a16:creationId xmlns:a16="http://schemas.microsoft.com/office/drawing/2014/main" id="{A003C06F-A104-9151-DF54-036BA1B07956}"/>
              </a:ext>
            </a:extLst>
          </p:cNvPr>
          <p:cNvSpPr/>
          <p:nvPr/>
        </p:nvSpPr>
        <p:spPr>
          <a:xfrm>
            <a:off x="646774" y="5114478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08" name="그림 107" descr="Person ">
            <a:extLst>
              <a:ext uri="{FF2B5EF4-FFF2-40B4-BE49-F238E27FC236}">
                <a16:creationId xmlns:a16="http://schemas.microsoft.com/office/drawing/2014/main" id="{E63C6A6F-4AFF-7761-C825-5B8C11FC6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11" y="2200181"/>
            <a:ext cx="267710" cy="267710"/>
          </a:xfrm>
          <a:prstGeom prst="rect">
            <a:avLst/>
          </a:prstGeom>
        </p:spPr>
      </p:pic>
      <p:pic>
        <p:nvPicPr>
          <p:cNvPr id="95" name="Picture 119">
            <a:extLst>
              <a:ext uri="{FF2B5EF4-FFF2-40B4-BE49-F238E27FC236}">
                <a16:creationId xmlns:a16="http://schemas.microsoft.com/office/drawing/2014/main" id="{709AD936-C1F6-0A5F-E944-DA77ECB79B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749" y="3927927"/>
            <a:ext cx="1494446" cy="874844"/>
          </a:xfrm>
          <a:prstGeom prst="rect">
            <a:avLst/>
          </a:prstGeom>
          <a:ln w="19050" cap="sq">
            <a:solidFill>
              <a:srgbClr val="40404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슬라이드 번호 개체 틀 11">
            <a:extLst>
              <a:ext uri="{FF2B5EF4-FFF2-40B4-BE49-F238E27FC236}">
                <a16:creationId xmlns:a16="http://schemas.microsoft.com/office/drawing/2014/main" id="{1CC4C672-2669-9A6E-1C36-D075793D7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856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7AEB-ACC8-A21C-9344-37C506397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2">
            <a:extLst>
              <a:ext uri="{FF2B5EF4-FFF2-40B4-BE49-F238E27FC236}">
                <a16:creationId xmlns:a16="http://schemas.microsoft.com/office/drawing/2014/main" id="{144A67E2-6388-5DF5-12DA-57154E8C0872}"/>
              </a:ext>
            </a:extLst>
          </p:cNvPr>
          <p:cNvSpPr/>
          <p:nvPr/>
        </p:nvSpPr>
        <p:spPr>
          <a:xfrm>
            <a:off x="441643" y="1938385"/>
            <a:ext cx="4430712" cy="4157615"/>
          </a:xfrm>
          <a:prstGeom prst="rect">
            <a:avLst/>
          </a:prstGeom>
          <a:solidFill>
            <a:sysClr val="window" lastClr="FFFFFF">
              <a:alpha val="35000"/>
            </a:sysClr>
          </a:solidFill>
          <a:ln>
            <a:solidFill>
              <a:sysClr val="windowText" lastClr="000000">
                <a:lumMod val="65000"/>
                <a:lumOff val="35000"/>
              </a:sysClr>
            </a:solidFill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920D44F8-4FA7-696C-4932-DCB3A72CA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잠재적 위협 시나리오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(2) 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 물류 중단 리스크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42E86-8B2D-3F50-47A1-3EDF2DA73F84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사이버 공격에 의한 생산 라인 마비 및 납품 지연으로 대규모 재무 손실 발생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가능</a:t>
            </a:r>
            <a:r>
              <a:rPr lang="ko-KR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81888A8-29E1-5482-DE90-B5D7FE52474A}"/>
              </a:ext>
            </a:extLst>
          </p:cNvPr>
          <p:cNvSpPr/>
          <p:nvPr/>
        </p:nvSpPr>
        <p:spPr>
          <a:xfrm>
            <a:off x="441643" y="1520885"/>
            <a:ext cx="4430712" cy="3328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rgbClr val="FFFFFF"/>
            </a:solidFill>
          </a:ln>
        </p:spPr>
        <p:txBody>
          <a:bodyPr vert="horz" wrap="square" lIns="0" tIns="36000" rIns="0" bIns="36000" rtlCol="0" anchor="ctr">
            <a:noAutofit/>
          </a:bodyPr>
          <a:lstStyle/>
          <a:p>
            <a:pPr algn="ctr" defTabSz="914400">
              <a:spcBef>
                <a:spcPts val="400"/>
              </a:spcBef>
            </a:pPr>
            <a:r>
              <a:rPr lang="en-US" altLang="ko-KR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</a:rPr>
              <a:t>JW </a:t>
            </a: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</a:rPr>
              <a:t>플랜트 생산 및 물류 중단 시나리오</a:t>
            </a:r>
            <a:endParaRPr lang="ko-KR" altLang="en-US" sz="1400" b="1" kern="0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Arial"/>
              <a:sym typeface="Arial"/>
            </a:endParaRPr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D5A1D831-FF27-AC38-5D90-0127EB942748}"/>
              </a:ext>
            </a:extLst>
          </p:cNvPr>
          <p:cNvGrpSpPr/>
          <p:nvPr/>
        </p:nvGrpSpPr>
        <p:grpSpPr>
          <a:xfrm>
            <a:off x="4877841" y="1555245"/>
            <a:ext cx="4485038" cy="4464554"/>
            <a:chOff x="371035" y="1555245"/>
            <a:chExt cx="4485038" cy="4464554"/>
          </a:xfrm>
        </p:grpSpPr>
        <p:grpSp>
          <p:nvGrpSpPr>
            <p:cNvPr id="8" name="그룹 14">
              <a:extLst>
                <a:ext uri="{FF2B5EF4-FFF2-40B4-BE49-F238E27FC236}">
                  <a16:creationId xmlns:a16="http://schemas.microsoft.com/office/drawing/2014/main" id="{53CD53F7-F908-2EF4-8E9E-4FE15AA0624A}"/>
                </a:ext>
              </a:extLst>
            </p:cNvPr>
            <p:cNvGrpSpPr/>
            <p:nvPr/>
          </p:nvGrpSpPr>
          <p:grpSpPr>
            <a:xfrm>
              <a:off x="425360" y="1555245"/>
              <a:ext cx="4430713" cy="299583"/>
              <a:chOff x="5050206" y="1560235"/>
              <a:chExt cx="4430713" cy="299583"/>
            </a:xfrm>
          </p:grpSpPr>
          <p:sp>
            <p:nvSpPr>
              <p:cNvPr id="20" name="Text Box 10">
                <a:extLst>
                  <a:ext uri="{FF2B5EF4-FFF2-40B4-BE49-F238E27FC236}">
                    <a16:creationId xmlns:a16="http://schemas.microsoft.com/office/drawing/2014/main" id="{170F8AAD-01F8-E76B-957E-DB9771B143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0206" y="1560235"/>
                <a:ext cx="4430711" cy="29850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lvl="0" algn="ctr">
                  <a:tabLst>
                    <a:tab pos="1028671" algn="l"/>
                  </a:tabLst>
                  <a:defRPr/>
                </a:pPr>
                <a:r>
                  <a:rPr lang="ko-KR" altLang="en-US" sz="1500" b="1" kern="0" dirty="0">
                    <a:solidFill>
                      <a:sysClr val="windowText" lastClr="000000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발생 가능한 리스크</a:t>
                </a:r>
              </a:p>
            </p:txBody>
          </p:sp>
          <p:cxnSp>
            <p:nvCxnSpPr>
              <p:cNvPr id="21" name="직선 연결선 16">
                <a:extLst>
                  <a:ext uri="{FF2B5EF4-FFF2-40B4-BE49-F238E27FC236}">
                    <a16:creationId xmlns:a16="http://schemas.microsoft.com/office/drawing/2014/main" id="{43A73CCC-02C3-A3B3-5305-F4B7819FC8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2388" y="1859818"/>
                <a:ext cx="4428531" cy="0"/>
              </a:xfrm>
              <a:prstGeom prst="line">
                <a:avLst/>
              </a:prstGeom>
              <a:ln w="12700" cap="sq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dk1"/>
              </a:effectRef>
              <a:fontRef idx="minor">
                <a:schemeClr val="lt1"/>
              </a:fontRef>
            </p:style>
          </p:cxnSp>
        </p:grpSp>
        <p:grpSp>
          <p:nvGrpSpPr>
            <p:cNvPr id="9" name="그룹 17">
              <a:extLst>
                <a:ext uri="{FF2B5EF4-FFF2-40B4-BE49-F238E27FC236}">
                  <a16:creationId xmlns:a16="http://schemas.microsoft.com/office/drawing/2014/main" id="{CFEABB2A-03D2-4F2B-4247-0FB1897E9262}"/>
                </a:ext>
              </a:extLst>
            </p:cNvPr>
            <p:cNvGrpSpPr/>
            <p:nvPr/>
          </p:nvGrpSpPr>
          <p:grpSpPr>
            <a:xfrm>
              <a:off x="471394" y="2639769"/>
              <a:ext cx="1005336" cy="3380030"/>
              <a:chOff x="3653011" y="2220888"/>
              <a:chExt cx="856042" cy="3869007"/>
            </a:xfrm>
          </p:grpSpPr>
          <p:sp>
            <p:nvSpPr>
              <p:cNvPr id="17" name="직사각형 18">
                <a:extLst>
                  <a:ext uri="{FF2B5EF4-FFF2-40B4-BE49-F238E27FC236}">
                    <a16:creationId xmlns:a16="http://schemas.microsoft.com/office/drawing/2014/main" id="{0D1657F4-B621-CE61-B861-91FE95A618AC}"/>
                  </a:ext>
                </a:extLst>
              </p:cNvPr>
              <p:cNvSpPr/>
              <p:nvPr/>
            </p:nvSpPr>
            <p:spPr>
              <a:xfrm>
                <a:off x="3653011" y="222088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미인가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  <a:p>
                <a:pPr algn="ctr" defTabSz="914400">
                  <a:buClr>
                    <a:srgbClr val="000000"/>
                  </a:buClr>
                </a:pPr>
                <a:r>
                  <a:rPr lang="en-US" altLang="ko-KR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USB</a:t>
                </a:r>
                <a:r>
                  <a:rPr lang="ko-KR" altLang="en-US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통제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불충분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</p:txBody>
          </p:sp>
          <p:sp>
            <p:nvSpPr>
              <p:cNvPr id="18" name="직사각형 19">
                <a:extLst>
                  <a:ext uri="{FF2B5EF4-FFF2-40B4-BE49-F238E27FC236}">
                    <a16:creationId xmlns:a16="http://schemas.microsoft.com/office/drawing/2014/main" id="{D00F5D97-98A6-C933-A6E2-918BC142AD41}"/>
                  </a:ext>
                </a:extLst>
              </p:cNvPr>
              <p:cNvSpPr/>
              <p:nvPr/>
            </p:nvSpPr>
            <p:spPr>
              <a:xfrm>
                <a:off x="3653011" y="357565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미식별 자산</a:t>
                </a:r>
              </a:p>
            </p:txBody>
          </p:sp>
          <p:sp>
            <p:nvSpPr>
              <p:cNvPr id="19" name="직사각형 20">
                <a:extLst>
                  <a:ext uri="{FF2B5EF4-FFF2-40B4-BE49-F238E27FC236}">
                    <a16:creationId xmlns:a16="http://schemas.microsoft.com/office/drawing/2014/main" id="{8926F411-8335-FE8B-3871-B00451473B5E}"/>
                  </a:ext>
                </a:extLst>
              </p:cNvPr>
              <p:cNvSpPr/>
              <p:nvPr/>
            </p:nvSpPr>
            <p:spPr>
              <a:xfrm>
                <a:off x="3653011" y="4930427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유출 방지</a:t>
                </a:r>
                <a:r>
                  <a:rPr lang="en-US" altLang="ko-KR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 </a:t>
                </a: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솔루션 </a:t>
                </a:r>
                <a:br>
                  <a:rPr lang="en-US" altLang="ko-KR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</a:b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부재</a:t>
                </a: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0B92F0A-7DCE-5CBE-920B-1ACF2E371691}"/>
                </a:ext>
              </a:extLst>
            </p:cNvPr>
            <p:cNvSpPr txBox="1"/>
            <p:nvPr/>
          </p:nvSpPr>
          <p:spPr>
            <a:xfrm>
              <a:off x="1540599" y="2607127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미인가 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USB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를 통한 악성코드 유입 가능</a:t>
              </a:r>
              <a:b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생산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시스템 가동 중단 리스크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C27790-E4AF-C822-1575-848F2FAED8C8}"/>
                </a:ext>
              </a:extLst>
            </p:cNvPr>
            <p:cNvSpPr txBox="1"/>
            <p:nvPr/>
          </p:nvSpPr>
          <p:spPr>
            <a:xfrm>
              <a:off x="1540599" y="3819882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indent="-171450" defTabSz="914400">
                <a:lnSpc>
                  <a:spcPct val="130000"/>
                </a:lnSpc>
                <a:spcAft>
                  <a:spcPts val="60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미식별 자산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,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악성코드 감염 노출</a:t>
              </a:r>
              <a:br>
                <a:rPr lang="en-US" altLang="ko-KR" sz="11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생산 시스템 간 악성코드 확산 가능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9CDCE5-667E-50B0-F857-6C41A88B1BF4}"/>
                </a:ext>
              </a:extLst>
            </p:cNvPr>
            <p:cNvSpPr txBox="1"/>
            <p:nvPr/>
          </p:nvSpPr>
          <p:spPr>
            <a:xfrm>
              <a:off x="1540599" y="4998680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lvl="0" indent="-171450" defTabSz="914400">
                <a:lnSpc>
                  <a:spcPct val="130000"/>
                </a:lnSpc>
                <a:spcAft>
                  <a:spcPts val="600"/>
                </a:spcAft>
                <a:buClr>
                  <a:schemeClr val="tx1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플랜트 데이터 외부 반출 탐지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및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통제 한계</a:t>
              </a:r>
              <a:br>
                <a:rPr lang="en-US" altLang="ko-KR" sz="1200" b="1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기밀 정보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(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생산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,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기술 자료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)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유출 리스크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13" name="직사각형 25">
              <a:extLst>
                <a:ext uri="{FF2B5EF4-FFF2-40B4-BE49-F238E27FC236}">
                  <a16:creationId xmlns:a16="http://schemas.microsoft.com/office/drawing/2014/main" id="{C9211FE7-B42B-D2FC-9747-62ED108CA721}"/>
                </a:ext>
              </a:extLst>
            </p:cNvPr>
            <p:cNvSpPr/>
            <p:nvPr/>
          </p:nvSpPr>
          <p:spPr bwMode="ltGray">
            <a:xfrm>
              <a:off x="371035" y="1938385"/>
              <a:ext cx="4430710" cy="495360"/>
            </a:xfrm>
            <a:prstGeom prst="rect">
              <a:avLst/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algn="ctr" fontAlgn="ctr"/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악성코드가 생산 시스템까지 확산되어 </a:t>
              </a:r>
              <a:b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생산</a:t>
              </a:r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</a:t>
              </a: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물류 중단으로 이어질 수 있는 리스크</a:t>
              </a:r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존재</a:t>
              </a:r>
              <a:r>
                <a:rPr lang="en-US" altLang="ko-KR" sz="13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endParaRPr lang="ko-KR" altLang="en-US" sz="1300" b="1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15" name="직선 연결선 26">
              <a:extLst>
                <a:ext uri="{FF2B5EF4-FFF2-40B4-BE49-F238E27FC236}">
                  <a16:creationId xmlns:a16="http://schemas.microsoft.com/office/drawing/2014/main" id="{9C122E93-D80D-0980-C90C-D2116A157A2B}"/>
                </a:ext>
              </a:extLst>
            </p:cNvPr>
            <p:cNvCxnSpPr>
              <a:cxnSpLocks/>
            </p:cNvCxnSpPr>
            <p:nvPr/>
          </p:nvCxnSpPr>
          <p:spPr>
            <a:xfrm>
              <a:off x="471394" y="3741964"/>
              <a:ext cx="4384675" cy="0"/>
            </a:xfrm>
            <a:prstGeom prst="line">
              <a:avLst/>
            </a:prstGeom>
            <a:ln w="9525" cap="sq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cxnSp>
          <p:nvCxnSpPr>
            <p:cNvPr id="16" name="직선 연결선 27">
              <a:extLst>
                <a:ext uri="{FF2B5EF4-FFF2-40B4-BE49-F238E27FC236}">
                  <a16:creationId xmlns:a16="http://schemas.microsoft.com/office/drawing/2014/main" id="{409FB3F1-8595-80C7-253B-6CCF3A22D50E}"/>
                </a:ext>
              </a:extLst>
            </p:cNvPr>
            <p:cNvCxnSpPr>
              <a:cxnSpLocks/>
            </p:cNvCxnSpPr>
            <p:nvPr/>
          </p:nvCxnSpPr>
          <p:spPr>
            <a:xfrm>
              <a:off x="469172" y="4924430"/>
              <a:ext cx="4384675" cy="0"/>
            </a:xfrm>
            <a:prstGeom prst="line">
              <a:avLst/>
            </a:prstGeom>
            <a:ln w="9525" cap="sq"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cxnSp>
        <p:nvCxnSpPr>
          <p:cNvPr id="25" name="Straight Connector 116">
            <a:extLst>
              <a:ext uri="{FF2B5EF4-FFF2-40B4-BE49-F238E27FC236}">
                <a16:creationId xmlns:a16="http://schemas.microsoft.com/office/drawing/2014/main" id="{D0652213-B8F3-11F0-594A-503C2AD76B7E}"/>
              </a:ext>
            </a:extLst>
          </p:cNvPr>
          <p:cNvCxnSpPr>
            <a:cxnSpLocks/>
          </p:cNvCxnSpPr>
          <p:nvPr/>
        </p:nvCxnSpPr>
        <p:spPr>
          <a:xfrm>
            <a:off x="621437" y="3017333"/>
            <a:ext cx="4097419" cy="0"/>
          </a:xfrm>
          <a:prstGeom prst="line">
            <a:avLst/>
          </a:prstGeom>
          <a:ln w="28575">
            <a:solidFill>
              <a:srgbClr val="C00000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118">
            <a:extLst>
              <a:ext uri="{FF2B5EF4-FFF2-40B4-BE49-F238E27FC236}">
                <a16:creationId xmlns:a16="http://schemas.microsoft.com/office/drawing/2014/main" id="{973A56BF-B711-77CA-CBAF-D222585FA6CE}"/>
              </a:ext>
            </a:extLst>
          </p:cNvPr>
          <p:cNvSpPr/>
          <p:nvPr/>
        </p:nvSpPr>
        <p:spPr>
          <a:xfrm>
            <a:off x="630315" y="2258800"/>
            <a:ext cx="1553592" cy="494204"/>
          </a:xfrm>
          <a:prstGeom prst="rect">
            <a:avLst/>
          </a:prstGeom>
          <a:solidFill>
            <a:srgbClr val="FFFFFF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</a:t>
            </a:r>
            <a:r>
              <a:rPr lang="en-US" altLang="ko-KR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방화벽</a:t>
            </a:r>
          </a:p>
        </p:txBody>
      </p:sp>
      <p:sp>
        <p:nvSpPr>
          <p:cNvPr id="27" name="Rectangle: Rounded Corners 127">
            <a:extLst>
              <a:ext uri="{FF2B5EF4-FFF2-40B4-BE49-F238E27FC236}">
                <a16:creationId xmlns:a16="http://schemas.microsoft.com/office/drawing/2014/main" id="{8ED3CF7C-A251-A4A9-9F6F-05F127A74B20}"/>
              </a:ext>
            </a:extLst>
          </p:cNvPr>
          <p:cNvSpPr/>
          <p:nvPr/>
        </p:nvSpPr>
        <p:spPr>
          <a:xfrm>
            <a:off x="595141" y="3175067"/>
            <a:ext cx="4123715" cy="335874"/>
          </a:xfrm>
          <a:prstGeom prst="roundRect">
            <a:avLst/>
          </a:prstGeom>
          <a:solidFill>
            <a:schemeClr val="bg2">
              <a:lumMod val="50000"/>
            </a:schemeClr>
          </a:solidFill>
          <a:ln w="9525" cap="flat" cmpd="sng" algn="ctr">
            <a:solidFill>
              <a:srgbClr val="156082">
                <a:shade val="15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 </a:t>
            </a:r>
            <a:r>
              <a:rPr lang="ko-KR" altLang="en-US" sz="1200" b="1" kern="0" dirty="0">
                <a:solidFill>
                  <a:prstClr val="whit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플랜트</a:t>
            </a:r>
            <a:endParaRPr lang="en-US" altLang="ko-KR" sz="1200" b="1" kern="0" dirty="0">
              <a:solidFill>
                <a:prstClr val="whit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992DFD-A3B8-0B78-66EE-782B7D6AB532}"/>
              </a:ext>
            </a:extLst>
          </p:cNvPr>
          <p:cNvSpPr txBox="1"/>
          <p:nvPr/>
        </p:nvSpPr>
        <p:spPr>
          <a:xfrm>
            <a:off x="2240030" y="2250351"/>
            <a:ext cx="2555808" cy="511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외부 침입 및 내부 시스템 간 접근통제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기반 </a:t>
            </a:r>
            <a:r>
              <a:rPr lang="en-US" altLang="ko-KR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1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차 방어체계 운영</a:t>
            </a:r>
            <a:endParaRPr lang="en-US" altLang="ko-KR" sz="11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9" name="Rectangle 152">
            <a:extLst>
              <a:ext uri="{FF2B5EF4-FFF2-40B4-BE49-F238E27FC236}">
                <a16:creationId xmlns:a16="http://schemas.microsoft.com/office/drawing/2014/main" id="{102987B4-A985-BA90-5599-01D12F3C6345}"/>
              </a:ext>
            </a:extLst>
          </p:cNvPr>
          <p:cNvSpPr/>
          <p:nvPr/>
        </p:nvSpPr>
        <p:spPr>
          <a:xfrm>
            <a:off x="595141" y="3589564"/>
            <a:ext cx="4123715" cy="6596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미인가 외부이동저장장치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(USB)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통하여</a:t>
            </a:r>
            <a:b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공정〮자동화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시스템 감염 시도</a:t>
            </a:r>
          </a:p>
        </p:txBody>
      </p:sp>
      <p:sp>
        <p:nvSpPr>
          <p:cNvPr id="30" name="Rectangle 153">
            <a:extLst>
              <a:ext uri="{FF2B5EF4-FFF2-40B4-BE49-F238E27FC236}">
                <a16:creationId xmlns:a16="http://schemas.microsoft.com/office/drawing/2014/main" id="{0EC9F729-6265-8FFB-F330-31820B31FBA7}"/>
              </a:ext>
            </a:extLst>
          </p:cNvPr>
          <p:cNvSpPr/>
          <p:nvPr/>
        </p:nvSpPr>
        <p:spPr>
          <a:xfrm>
            <a:off x="595141" y="4432972"/>
            <a:ext cx="4123715" cy="6596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백신 솔루션 </a:t>
            </a:r>
            <a:r>
              <a:rPr lang="ko-KR" altLang="en-US" sz="1200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미설치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미식별 자산이</a:t>
            </a:r>
            <a:r>
              <a:rPr lang="en-US" altLang="ko-KR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악성코드에 감염</a:t>
            </a:r>
          </a:p>
        </p:txBody>
      </p:sp>
      <p:sp>
        <p:nvSpPr>
          <p:cNvPr id="31" name="Rectangle 154">
            <a:extLst>
              <a:ext uri="{FF2B5EF4-FFF2-40B4-BE49-F238E27FC236}">
                <a16:creationId xmlns:a16="http://schemas.microsoft.com/office/drawing/2014/main" id="{117BC89C-70DE-3BAA-C295-04A1E1085DED}"/>
              </a:ext>
            </a:extLst>
          </p:cNvPr>
          <p:cNvSpPr/>
          <p:nvPr/>
        </p:nvSpPr>
        <p:spPr>
          <a:xfrm>
            <a:off x="595141" y="5276379"/>
            <a:ext cx="4123715" cy="65960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유출 방지 솔루션 부재로 외부 자료 반출 탐지 불가</a:t>
            </a:r>
            <a:endParaRPr lang="en-US" altLang="ko-KR" sz="12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2" name="Straight Arrow Connector 156">
            <a:extLst>
              <a:ext uri="{FF2B5EF4-FFF2-40B4-BE49-F238E27FC236}">
                <a16:creationId xmlns:a16="http://schemas.microsoft.com/office/drawing/2014/main" id="{CE95FF94-5939-85AB-BF92-B2A3040F88AF}"/>
              </a:ext>
            </a:extLst>
          </p:cNvPr>
          <p:cNvCxnSpPr>
            <a:stCxn id="29" idx="2"/>
            <a:endCxn id="30" idx="0"/>
          </p:cNvCxnSpPr>
          <p:nvPr/>
        </p:nvCxnSpPr>
        <p:spPr>
          <a:xfrm>
            <a:off x="2656999" y="4249165"/>
            <a:ext cx="0" cy="183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157">
            <a:extLst>
              <a:ext uri="{FF2B5EF4-FFF2-40B4-BE49-F238E27FC236}">
                <a16:creationId xmlns:a16="http://schemas.microsoft.com/office/drawing/2014/main" id="{266E6975-19A4-AF19-A9FA-48F1D06920C5}"/>
              </a:ext>
            </a:extLst>
          </p:cNvPr>
          <p:cNvCxnSpPr>
            <a:stCxn id="30" idx="2"/>
            <a:endCxn id="31" idx="0"/>
          </p:cNvCxnSpPr>
          <p:nvPr/>
        </p:nvCxnSpPr>
        <p:spPr>
          <a:xfrm>
            <a:off x="2656999" y="5092572"/>
            <a:ext cx="0" cy="183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162">
            <a:extLst>
              <a:ext uri="{FF2B5EF4-FFF2-40B4-BE49-F238E27FC236}">
                <a16:creationId xmlns:a16="http://schemas.microsoft.com/office/drawing/2014/main" id="{ACE05AF3-6033-4FB4-CC11-D4E11EBA690C}"/>
              </a:ext>
            </a:extLst>
          </p:cNvPr>
          <p:cNvSpPr/>
          <p:nvPr/>
        </p:nvSpPr>
        <p:spPr>
          <a:xfrm>
            <a:off x="531272" y="3544614"/>
            <a:ext cx="168785" cy="161178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Oval 164">
            <a:extLst>
              <a:ext uri="{FF2B5EF4-FFF2-40B4-BE49-F238E27FC236}">
                <a16:creationId xmlns:a16="http://schemas.microsoft.com/office/drawing/2014/main" id="{85E58631-9CFA-81BD-583B-A06CCFD996A6}"/>
              </a:ext>
            </a:extLst>
          </p:cNvPr>
          <p:cNvSpPr/>
          <p:nvPr/>
        </p:nvSpPr>
        <p:spPr>
          <a:xfrm>
            <a:off x="531272" y="4365844"/>
            <a:ext cx="168785" cy="161178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Oval 166">
            <a:extLst>
              <a:ext uri="{FF2B5EF4-FFF2-40B4-BE49-F238E27FC236}">
                <a16:creationId xmlns:a16="http://schemas.microsoft.com/office/drawing/2014/main" id="{E2831677-B265-D9CC-A69C-81120D07820C}"/>
              </a:ext>
            </a:extLst>
          </p:cNvPr>
          <p:cNvSpPr/>
          <p:nvPr/>
        </p:nvSpPr>
        <p:spPr>
          <a:xfrm>
            <a:off x="531272" y="5194184"/>
            <a:ext cx="168785" cy="161178"/>
          </a:xfrm>
          <a:prstGeom prst="ellipse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Picture 169">
            <a:extLst>
              <a:ext uri="{FF2B5EF4-FFF2-40B4-BE49-F238E27FC236}">
                <a16:creationId xmlns:a16="http://schemas.microsoft.com/office/drawing/2014/main" id="{B1284354-689A-279D-9DAF-2387B0743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782" y="3215488"/>
            <a:ext cx="252461" cy="252461"/>
          </a:xfrm>
          <a:prstGeom prst="rect">
            <a:avLst/>
          </a:prstGeom>
        </p:spPr>
      </p:pic>
      <p:sp>
        <p:nvSpPr>
          <p:cNvPr id="38" name="Trapezoid 20">
            <a:extLst>
              <a:ext uri="{FF2B5EF4-FFF2-40B4-BE49-F238E27FC236}">
                <a16:creationId xmlns:a16="http://schemas.microsoft.com/office/drawing/2014/main" id="{BED7736B-5033-F44D-5C16-8577EE5EBA56}"/>
              </a:ext>
            </a:extLst>
          </p:cNvPr>
          <p:cNvSpPr/>
          <p:nvPr/>
        </p:nvSpPr>
        <p:spPr>
          <a:xfrm rot="10800000">
            <a:off x="2064779" y="2895522"/>
            <a:ext cx="1210734" cy="240876"/>
          </a:xfrm>
          <a:prstGeom prst="trapezoid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C62956E-66B9-1014-76F5-C7BD825BDC78}"/>
              </a:ext>
            </a:extLst>
          </p:cNvPr>
          <p:cNvSpPr txBox="1"/>
          <p:nvPr/>
        </p:nvSpPr>
        <p:spPr>
          <a:xfrm>
            <a:off x="2125765" y="2874789"/>
            <a:ext cx="10438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통제 부재</a:t>
            </a:r>
          </a:p>
        </p:txBody>
      </p:sp>
      <p:sp>
        <p:nvSpPr>
          <p:cNvPr id="41" name="Oval 107">
            <a:extLst>
              <a:ext uri="{FF2B5EF4-FFF2-40B4-BE49-F238E27FC236}">
                <a16:creationId xmlns:a16="http://schemas.microsoft.com/office/drawing/2014/main" id="{9B17686D-6C95-1A13-6A2D-222F4CB7EEB4}"/>
              </a:ext>
            </a:extLst>
          </p:cNvPr>
          <p:cNvSpPr/>
          <p:nvPr/>
        </p:nvSpPr>
        <p:spPr>
          <a:xfrm>
            <a:off x="4935240" y="2583943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Oval 109">
            <a:extLst>
              <a:ext uri="{FF2B5EF4-FFF2-40B4-BE49-F238E27FC236}">
                <a16:creationId xmlns:a16="http://schemas.microsoft.com/office/drawing/2014/main" id="{A8490805-792C-593C-51C4-411AF33513B8}"/>
              </a:ext>
            </a:extLst>
          </p:cNvPr>
          <p:cNvSpPr/>
          <p:nvPr/>
        </p:nvSpPr>
        <p:spPr>
          <a:xfrm>
            <a:off x="4935240" y="3789707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Oval 111">
            <a:extLst>
              <a:ext uri="{FF2B5EF4-FFF2-40B4-BE49-F238E27FC236}">
                <a16:creationId xmlns:a16="http://schemas.microsoft.com/office/drawing/2014/main" id="{4574BBA2-85EF-FED8-BDF5-B8C897BB5549}"/>
              </a:ext>
            </a:extLst>
          </p:cNvPr>
          <p:cNvSpPr/>
          <p:nvPr/>
        </p:nvSpPr>
        <p:spPr>
          <a:xfrm>
            <a:off x="4944764" y="4969595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슬라이드 번호 개체 틀 11">
            <a:extLst>
              <a:ext uri="{FF2B5EF4-FFF2-40B4-BE49-F238E27FC236}">
                <a16:creationId xmlns:a16="http://schemas.microsoft.com/office/drawing/2014/main" id="{D6E58876-97E7-3E2A-C5FD-E5E681247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2492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147D3-1342-C307-E8DA-F6F6C866E2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2">
            <a:extLst>
              <a:ext uri="{FF2B5EF4-FFF2-40B4-BE49-F238E27FC236}">
                <a16:creationId xmlns:a16="http://schemas.microsoft.com/office/drawing/2014/main" id="{E7E9996A-9286-FADF-8018-C6CF7EA8D21B}"/>
              </a:ext>
            </a:extLst>
          </p:cNvPr>
          <p:cNvSpPr/>
          <p:nvPr/>
        </p:nvSpPr>
        <p:spPr>
          <a:xfrm>
            <a:off x="441643" y="1938385"/>
            <a:ext cx="4430712" cy="4157615"/>
          </a:xfrm>
          <a:prstGeom prst="rect">
            <a:avLst/>
          </a:prstGeom>
          <a:solidFill>
            <a:sysClr val="window" lastClr="FFFFFF">
              <a:alpha val="35000"/>
            </a:sysClr>
          </a:solidFill>
          <a:ln>
            <a:solidFill>
              <a:sysClr val="windowText" lastClr="000000">
                <a:lumMod val="65000"/>
                <a:lumOff val="35000"/>
              </a:sysClr>
            </a:solidFill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09" name="Connector: Elbow 80">
            <a:extLst>
              <a:ext uri="{FF2B5EF4-FFF2-40B4-BE49-F238E27FC236}">
                <a16:creationId xmlns:a16="http://schemas.microsoft.com/office/drawing/2014/main" id="{A964B788-7384-206B-1A7B-473C38E961A5}"/>
              </a:ext>
            </a:extLst>
          </p:cNvPr>
          <p:cNvCxnSpPr>
            <a:cxnSpLocks/>
            <a:endCxn id="99" idx="0"/>
          </p:cNvCxnSpPr>
          <p:nvPr/>
        </p:nvCxnSpPr>
        <p:spPr>
          <a:xfrm rot="16200000" flipH="1">
            <a:off x="721400" y="2694880"/>
            <a:ext cx="1363115" cy="917614"/>
          </a:xfrm>
          <a:prstGeom prst="bentConnector3">
            <a:avLst>
              <a:gd name="adj1" fmla="val 4161"/>
            </a:avLst>
          </a:prstGeom>
          <a:noFill/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5" name="제목 4">
            <a:extLst>
              <a:ext uri="{FF2B5EF4-FFF2-40B4-BE49-F238E27FC236}">
                <a16:creationId xmlns:a16="http://schemas.microsoft.com/office/drawing/2014/main" id="{FEA260B9-BC4A-DA01-3283-19D2B7DC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잠재적 위협 시나리오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(3) -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연구소 데이터 유출 리스크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200619-DE50-BEB1-C21E-A64236E341D9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ko-KR" dirty="0"/>
              <a:t>외주 관리 권한 불명확 및 데이터 취급 기준 부재로 인하여</a:t>
            </a:r>
            <a:r>
              <a:rPr lang="en-US" altLang="ko-KR" dirty="0"/>
              <a:t> </a:t>
            </a:r>
            <a:r>
              <a:rPr lang="ko-KR" altLang="en-US" dirty="0"/>
              <a:t>연구소 데이터 유출 가능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79" name="Group 2">
            <a:extLst>
              <a:ext uri="{FF2B5EF4-FFF2-40B4-BE49-F238E27FC236}">
                <a16:creationId xmlns:a16="http://schemas.microsoft.com/office/drawing/2014/main" id="{C1F92837-4B04-C5A8-00D5-640506C1EE46}"/>
              </a:ext>
            </a:extLst>
          </p:cNvPr>
          <p:cNvGrpSpPr/>
          <p:nvPr/>
        </p:nvGrpSpPr>
        <p:grpSpPr>
          <a:xfrm>
            <a:off x="4877841" y="1555245"/>
            <a:ext cx="4485038" cy="4464554"/>
            <a:chOff x="371035" y="1555245"/>
            <a:chExt cx="4485038" cy="4464554"/>
          </a:xfrm>
        </p:grpSpPr>
        <p:grpSp>
          <p:nvGrpSpPr>
            <p:cNvPr id="80" name="그룹 14">
              <a:extLst>
                <a:ext uri="{FF2B5EF4-FFF2-40B4-BE49-F238E27FC236}">
                  <a16:creationId xmlns:a16="http://schemas.microsoft.com/office/drawing/2014/main" id="{E25CB1F1-A42C-F229-660C-03FDD67A8DA6}"/>
                </a:ext>
              </a:extLst>
            </p:cNvPr>
            <p:cNvGrpSpPr/>
            <p:nvPr/>
          </p:nvGrpSpPr>
          <p:grpSpPr>
            <a:xfrm>
              <a:off x="425360" y="1555245"/>
              <a:ext cx="4430713" cy="299583"/>
              <a:chOff x="5050206" y="1560235"/>
              <a:chExt cx="4430713" cy="299583"/>
            </a:xfrm>
          </p:grpSpPr>
          <p:sp>
            <p:nvSpPr>
              <p:cNvPr id="91" name="Text Box 10">
                <a:extLst>
                  <a:ext uri="{FF2B5EF4-FFF2-40B4-BE49-F238E27FC236}">
                    <a16:creationId xmlns:a16="http://schemas.microsoft.com/office/drawing/2014/main" id="{224891C7-6A9C-1605-2576-E2BAB8CAC7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50206" y="1560235"/>
                <a:ext cx="4430711" cy="29850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lIns="0" tIns="0" rIns="0" bIns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>
                    <a:tab pos="1028671" algn="l"/>
                  </a:tabLst>
                  <a:defRPr/>
                </a:pPr>
                <a:r>
                  <a:rPr kumimoji="0" lang="ko-KR" altLang="en-US" sz="1500" b="1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발생 가능한 리스크</a:t>
                </a:r>
              </a:p>
            </p:txBody>
          </p:sp>
          <p:cxnSp>
            <p:nvCxnSpPr>
              <p:cNvPr id="92" name="직선 연결선 91">
                <a:extLst>
                  <a:ext uri="{FF2B5EF4-FFF2-40B4-BE49-F238E27FC236}">
                    <a16:creationId xmlns:a16="http://schemas.microsoft.com/office/drawing/2014/main" id="{0506CC3D-28A8-FA72-CA3A-CCD154C1B5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52388" y="1859818"/>
                <a:ext cx="4428531" cy="0"/>
              </a:xfrm>
              <a:prstGeom prst="line">
                <a:avLst/>
              </a:prstGeom>
              <a:noFill/>
              <a:ln w="12700" cap="sq" cmpd="sng" algn="ctr">
                <a:solidFill>
                  <a:sysClr val="windowText" lastClr="000000"/>
                </a:solidFill>
                <a:prstDash val="solid"/>
                <a:miter lim="800000"/>
              </a:ln>
              <a:effectLst/>
            </p:spPr>
          </p:cxnSp>
        </p:grpSp>
        <p:grpSp>
          <p:nvGrpSpPr>
            <p:cNvPr id="81" name="그룹 17">
              <a:extLst>
                <a:ext uri="{FF2B5EF4-FFF2-40B4-BE49-F238E27FC236}">
                  <a16:creationId xmlns:a16="http://schemas.microsoft.com/office/drawing/2014/main" id="{861CC6CF-8B7C-F412-1F83-F89636CFD175}"/>
                </a:ext>
              </a:extLst>
            </p:cNvPr>
            <p:cNvGrpSpPr/>
            <p:nvPr/>
          </p:nvGrpSpPr>
          <p:grpSpPr>
            <a:xfrm>
              <a:off x="471394" y="2639769"/>
              <a:ext cx="1005336" cy="3380030"/>
              <a:chOff x="3653011" y="2220888"/>
              <a:chExt cx="856042" cy="3869007"/>
            </a:xfrm>
          </p:grpSpPr>
          <p:sp>
            <p:nvSpPr>
              <p:cNvPr id="88" name="직사각형 18">
                <a:extLst>
                  <a:ext uri="{FF2B5EF4-FFF2-40B4-BE49-F238E27FC236}">
                    <a16:creationId xmlns:a16="http://schemas.microsoft.com/office/drawing/2014/main" id="{C4B55D99-EB58-352E-FABB-93DCA9C6DA63}"/>
                  </a:ext>
                </a:extLst>
              </p:cNvPr>
              <p:cNvSpPr/>
              <p:nvPr/>
            </p:nvSpPr>
            <p:spPr>
              <a:xfrm>
                <a:off x="3653011" y="222088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보안 솔루션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부재</a:t>
                </a:r>
                <a:endParaRPr lang="en-US" altLang="ko-KR" sz="1400" b="1" kern="0" dirty="0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sym typeface="Arial"/>
                </a:endParaRPr>
              </a:p>
            </p:txBody>
          </p:sp>
          <p:sp>
            <p:nvSpPr>
              <p:cNvPr id="89" name="직사각형 19">
                <a:extLst>
                  <a:ext uri="{FF2B5EF4-FFF2-40B4-BE49-F238E27FC236}">
                    <a16:creationId xmlns:a16="http://schemas.microsoft.com/office/drawing/2014/main" id="{ACFF240E-5BBA-921F-F16A-82A1F5F4280B}"/>
                  </a:ext>
                </a:extLst>
              </p:cNvPr>
              <p:cNvSpPr/>
              <p:nvPr/>
            </p:nvSpPr>
            <p:spPr>
              <a:xfrm>
                <a:off x="3653011" y="3575658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외주업체</a:t>
                </a:r>
                <a:br>
                  <a:rPr lang="en-US" altLang="ko-KR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</a:b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과도권한</a:t>
                </a:r>
              </a:p>
            </p:txBody>
          </p:sp>
          <p:sp>
            <p:nvSpPr>
              <p:cNvPr id="90" name="직사각형 20">
                <a:extLst>
                  <a:ext uri="{FF2B5EF4-FFF2-40B4-BE49-F238E27FC236}">
                    <a16:creationId xmlns:a16="http://schemas.microsoft.com/office/drawing/2014/main" id="{42613A37-DCA7-CC26-A8B6-2C213665854C}"/>
                  </a:ext>
                </a:extLst>
              </p:cNvPr>
              <p:cNvSpPr/>
              <p:nvPr/>
            </p:nvSpPr>
            <p:spPr>
              <a:xfrm>
                <a:off x="3653011" y="4930427"/>
                <a:ext cx="856042" cy="115946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14400">
                  <a:buClr>
                    <a:srgbClr val="000000"/>
                  </a:buClr>
                </a:pPr>
                <a:r>
                  <a:rPr lang="ko-KR" altLang="en-US" sz="1400" b="1" kern="0" dirty="0">
                    <a:solidFill>
                      <a:srgbClr val="FFFFFF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  <a:sym typeface="Arial"/>
                  </a:rPr>
                  <a:t>데이터 관리기준 부재</a:t>
                </a:r>
              </a:p>
            </p:txBody>
          </p:sp>
        </p:grp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3E23601-1B81-0983-6DD5-983FCAFC2EEA}"/>
                </a:ext>
              </a:extLst>
            </p:cNvPr>
            <p:cNvSpPr txBox="1"/>
            <p:nvPr/>
          </p:nvSpPr>
          <p:spPr>
            <a:xfrm>
              <a:off x="1540599" y="2607127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marR="0" lvl="0" indent="-171450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§"/>
                <a:tabLst/>
                <a:defRPr/>
              </a:pP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Cloud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접속 및 데이터 흐름 탐지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및</a:t>
              </a:r>
              <a:r>
                <a:rPr kumimoji="0" lang="en-US" altLang="ko-KR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통제 한계 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비인가 접근 및 중요 데이터 유출 리스크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E43C776A-57CA-5C10-2FB6-CC6320D8ED2D}"/>
                </a:ext>
              </a:extLst>
            </p:cNvPr>
            <p:cNvSpPr txBox="1"/>
            <p:nvPr/>
          </p:nvSpPr>
          <p:spPr>
            <a:xfrm>
              <a:off x="1540599" y="3819882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lvl="0" indent="-171450" defTabSz="914400">
                <a:lnSpc>
                  <a:spcPct val="130000"/>
                </a:lnSpc>
                <a:spcAft>
                  <a:spcPts val="600"/>
                </a:spcAft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lang="ko-KR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</a:rPr>
                <a:t>외주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</a:rPr>
                <a:t>업체</a:t>
              </a:r>
              <a:r>
                <a:rPr lang="ko-KR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</a:rPr>
                <a:t> 보안 통제 불충분 및 과도 권한 부여</a:t>
              </a:r>
              <a:b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연구데이터 훼손</a:t>
              </a:r>
              <a:r>
                <a:rPr lang="en-US" altLang="ko-KR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및 유출 리스크</a:t>
              </a:r>
              <a:endParaRPr lang="en-US" altLang="ko-KR" sz="1200" b="1" kern="0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18F9088B-3AB6-4698-1C84-A523EE89C1B2}"/>
                </a:ext>
              </a:extLst>
            </p:cNvPr>
            <p:cNvSpPr txBox="1"/>
            <p:nvPr/>
          </p:nvSpPr>
          <p:spPr>
            <a:xfrm>
              <a:off x="1540599" y="4998680"/>
              <a:ext cx="3303722" cy="1012931"/>
            </a:xfrm>
            <a:prstGeom prst="rect">
              <a:avLst/>
            </a:prstGeom>
            <a:noFill/>
          </p:spPr>
          <p:txBody>
            <a:bodyPr wrap="square" lIns="72000" tIns="36000" rIns="36000" bIns="36000" rtlCol="0" anchor="ctr" anchorCtr="0">
              <a:noAutofit/>
            </a:bodyPr>
            <a:lstStyle/>
            <a:p>
              <a:pPr marL="171450" lvl="0" indent="-171450" defTabSz="914400">
                <a:lnSpc>
                  <a:spcPct val="130000"/>
                </a:lnSpc>
                <a:spcAft>
                  <a:spcPts val="600"/>
                </a:spcAft>
                <a:buClr>
                  <a:prstClr val="black"/>
                </a:buClr>
                <a:buSzPct val="100000"/>
                <a:buFont typeface="Wingdings" panose="05000000000000000000" pitchFamily="2" charset="2"/>
                <a:buChar char="§"/>
                <a:defRPr/>
              </a:pP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데이터 중요도에 따른 전송</a:t>
              </a:r>
              <a:r>
                <a:rPr lang="en-US" altLang="ko-KR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, </a:t>
              </a:r>
              <a:r>
                <a:rPr lang="ko-KR" altLang="en-US" sz="1200" kern="0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처리</a:t>
              </a:r>
              <a:r>
                <a:rPr kumimoji="0" lang="ko-KR" altLang="en-US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 기준 부재</a:t>
              </a:r>
              <a:br>
                <a:rPr kumimoji="0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</a:b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→ </a:t>
              </a:r>
              <a:r>
                <a:rPr lang="ko-KR" altLang="en-US" sz="1200" b="1" kern="0" dirty="0">
                  <a:solidFill>
                    <a:srgbClr val="C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  <a:cs typeface="Arial"/>
                  <a:sym typeface="Arial"/>
                </a:rPr>
                <a:t>주요 데이터 관리 사각지대 발생 리스크</a:t>
              </a:r>
              <a:endPara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endParaRPr>
            </a:p>
          </p:txBody>
        </p:sp>
        <p:sp>
          <p:nvSpPr>
            <p:cNvPr id="85" name="직사각형 25">
              <a:extLst>
                <a:ext uri="{FF2B5EF4-FFF2-40B4-BE49-F238E27FC236}">
                  <a16:creationId xmlns:a16="http://schemas.microsoft.com/office/drawing/2014/main" id="{655BE106-A86C-417D-800A-E8477C775673}"/>
                </a:ext>
              </a:extLst>
            </p:cNvPr>
            <p:cNvSpPr/>
            <p:nvPr/>
          </p:nvSpPr>
          <p:spPr bwMode="ltGray">
            <a:xfrm>
              <a:off x="371035" y="1938385"/>
              <a:ext cx="4430710" cy="495360"/>
            </a:xfrm>
            <a:prstGeom prst="rect">
              <a:avLst/>
            </a:prstGeom>
            <a:noFill/>
            <a:ln w="3175" cap="flat" cmpd="sng" algn="ctr">
              <a:noFill/>
              <a:prstDash val="solid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“</a:t>
              </a: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핵심 연구데이터 유출</a:t>
              </a: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훼손 시 신약개발 차질 및 </a:t>
              </a:r>
              <a:b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기업 경쟁력</a:t>
              </a: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·</a:t>
              </a:r>
              <a:r>
                <a:rPr kumimoji="0" lang="ko-KR" altLang="en-US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사업가치 저하</a:t>
              </a:r>
              <a:r>
                <a:rPr kumimoji="0" lang="en-US" altLang="ko-KR" sz="13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”</a:t>
              </a:r>
              <a:endParaRPr kumimoji="0" lang="ko-KR" altLang="en-US" sz="13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86" name="직선 연결선 26">
              <a:extLst>
                <a:ext uri="{FF2B5EF4-FFF2-40B4-BE49-F238E27FC236}">
                  <a16:creationId xmlns:a16="http://schemas.microsoft.com/office/drawing/2014/main" id="{944F5CC9-A2DA-67B1-B20E-39290CCF687F}"/>
                </a:ext>
              </a:extLst>
            </p:cNvPr>
            <p:cNvCxnSpPr>
              <a:cxnSpLocks/>
            </p:cNvCxnSpPr>
            <p:nvPr/>
          </p:nvCxnSpPr>
          <p:spPr>
            <a:xfrm>
              <a:off x="471394" y="3741964"/>
              <a:ext cx="4384675" cy="0"/>
            </a:xfrm>
            <a:prstGeom prst="line">
              <a:avLst/>
            </a:prstGeom>
            <a:noFill/>
            <a:ln w="9525" cap="sq" cmpd="sng" algn="ctr">
              <a:solidFill>
                <a:srgbClr val="156082"/>
              </a:solidFill>
              <a:prstDash val="dash"/>
              <a:miter lim="800000"/>
            </a:ln>
            <a:effectLst/>
          </p:spPr>
        </p:cxnSp>
        <p:cxnSp>
          <p:nvCxnSpPr>
            <p:cNvPr id="87" name="직선 연결선 27">
              <a:extLst>
                <a:ext uri="{FF2B5EF4-FFF2-40B4-BE49-F238E27FC236}">
                  <a16:creationId xmlns:a16="http://schemas.microsoft.com/office/drawing/2014/main" id="{07280571-59BD-CA64-4B3F-04BD004B964F}"/>
                </a:ext>
              </a:extLst>
            </p:cNvPr>
            <p:cNvCxnSpPr>
              <a:cxnSpLocks/>
            </p:cNvCxnSpPr>
            <p:nvPr/>
          </p:nvCxnSpPr>
          <p:spPr>
            <a:xfrm>
              <a:off x="469172" y="4924430"/>
              <a:ext cx="4384675" cy="0"/>
            </a:xfrm>
            <a:prstGeom prst="line">
              <a:avLst/>
            </a:prstGeom>
            <a:noFill/>
            <a:ln w="9525" cap="sq" cmpd="sng" algn="ctr">
              <a:solidFill>
                <a:srgbClr val="156082"/>
              </a:solidFill>
              <a:prstDash val="dash"/>
              <a:miter lim="800000"/>
            </a:ln>
            <a:effectLst/>
          </p:spPr>
        </p:cxnSp>
      </p:grpSp>
      <p:sp>
        <p:nvSpPr>
          <p:cNvPr id="96" name="직사각형 3">
            <a:extLst>
              <a:ext uri="{FF2B5EF4-FFF2-40B4-BE49-F238E27FC236}">
                <a16:creationId xmlns:a16="http://schemas.microsoft.com/office/drawing/2014/main" id="{154DFB4B-B89C-D654-A891-32C5AEF73570}"/>
              </a:ext>
            </a:extLst>
          </p:cNvPr>
          <p:cNvSpPr/>
          <p:nvPr/>
        </p:nvSpPr>
        <p:spPr>
          <a:xfrm>
            <a:off x="441643" y="1520885"/>
            <a:ext cx="4430712" cy="33286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175">
            <a:solidFill>
              <a:srgbClr val="00438E"/>
            </a:solidFill>
          </a:ln>
        </p:spPr>
        <p:txBody>
          <a:bodyPr vert="horz" wrap="square" lIns="0" tIns="36000" rIns="0" bIns="36000" rtlCol="0" anchor="ctr">
            <a:noAutofit/>
          </a:bodyPr>
          <a:lstStyle/>
          <a:p>
            <a:pPr algn="ctr" defTabSz="914400">
              <a:spcBef>
                <a:spcPts val="400"/>
              </a:spcBef>
            </a:pP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연구소</a:t>
            </a:r>
            <a:r>
              <a:rPr lang="en-US" altLang="ko-KR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 </a:t>
            </a: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/>
                <a:sym typeface="Arial"/>
              </a:rPr>
              <a:t>데이터 유출 시나리오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2D8DA43-4CC0-B425-B6F6-0F83EF152A77}"/>
              </a:ext>
            </a:extLst>
          </p:cNvPr>
          <p:cNvSpPr txBox="1"/>
          <p:nvPr/>
        </p:nvSpPr>
        <p:spPr>
          <a:xfrm>
            <a:off x="1044875" y="2225566"/>
            <a:ext cx="65438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5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99" name="Rectangle 42">
            <a:extLst>
              <a:ext uri="{FF2B5EF4-FFF2-40B4-BE49-F238E27FC236}">
                <a16:creationId xmlns:a16="http://schemas.microsoft.com/office/drawing/2014/main" id="{EAB117EB-E9E4-94B9-7182-7BC0E842EB6D}"/>
              </a:ext>
            </a:extLst>
          </p:cNvPr>
          <p:cNvSpPr/>
          <p:nvPr/>
        </p:nvSpPr>
        <p:spPr>
          <a:xfrm>
            <a:off x="968556" y="3835245"/>
            <a:ext cx="1786416" cy="963012"/>
          </a:xfrm>
          <a:prstGeom prst="rect">
            <a:avLst/>
          </a:prstGeom>
          <a:solidFill>
            <a:schemeClr val="bg1">
              <a:alpha val="10196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구글 </a:t>
            </a:r>
            <a:r>
              <a:rPr kumimoji="0" lang="en-US" altLang="ko-KR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빅데이터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플랫폼</a:t>
            </a:r>
          </a:p>
        </p:txBody>
      </p:sp>
      <p:sp>
        <p:nvSpPr>
          <p:cNvPr id="100" name="Rectangle 44">
            <a:extLst>
              <a:ext uri="{FF2B5EF4-FFF2-40B4-BE49-F238E27FC236}">
                <a16:creationId xmlns:a16="http://schemas.microsoft.com/office/drawing/2014/main" id="{19C98A90-F7AB-2D7F-6132-812D1274ADBB}"/>
              </a:ext>
            </a:extLst>
          </p:cNvPr>
          <p:cNvSpPr/>
          <p:nvPr/>
        </p:nvSpPr>
        <p:spPr>
          <a:xfrm>
            <a:off x="2964314" y="3832409"/>
            <a:ext cx="1786416" cy="963012"/>
          </a:xfrm>
          <a:prstGeom prst="rect">
            <a:avLst/>
          </a:prstGeom>
          <a:solidFill>
            <a:schemeClr val="bg1">
              <a:alpha val="10196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오라클 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데이터 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수집 시스템</a:t>
            </a:r>
            <a:endParaRPr kumimoji="0" lang="ko-KR" altLang="en-US" sz="12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2" name="Rectangle 63">
            <a:extLst>
              <a:ext uri="{FF2B5EF4-FFF2-40B4-BE49-F238E27FC236}">
                <a16:creationId xmlns:a16="http://schemas.microsoft.com/office/drawing/2014/main" id="{8BBE7579-FAD4-A435-36C0-AEEB8645B888}"/>
              </a:ext>
            </a:extLst>
          </p:cNvPr>
          <p:cNvSpPr/>
          <p:nvPr/>
        </p:nvSpPr>
        <p:spPr>
          <a:xfrm>
            <a:off x="968556" y="5101585"/>
            <a:ext cx="1786416" cy="870491"/>
          </a:xfrm>
          <a:prstGeom prst="rect">
            <a:avLst/>
          </a:prstGeom>
          <a:solidFill>
            <a:sysClr val="window" lastClr="FFFFFF">
              <a:lumMod val="95000"/>
              <a:alpha val="10196"/>
            </a:sysClr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관리 기준 부재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8DC8B3B-B69D-C278-ECD3-FDC822D9DABA}"/>
              </a:ext>
            </a:extLst>
          </p:cNvPr>
          <p:cNvGrpSpPr/>
          <p:nvPr/>
        </p:nvGrpSpPr>
        <p:grpSpPr>
          <a:xfrm>
            <a:off x="645670" y="2661333"/>
            <a:ext cx="260128" cy="2136922"/>
            <a:chOff x="645670" y="2661333"/>
            <a:chExt cx="260128" cy="1588105"/>
          </a:xfrm>
        </p:grpSpPr>
        <p:sp>
          <p:nvSpPr>
            <p:cNvPr id="103" name="Left Bracket 68">
              <a:extLst>
                <a:ext uri="{FF2B5EF4-FFF2-40B4-BE49-F238E27FC236}">
                  <a16:creationId xmlns:a16="http://schemas.microsoft.com/office/drawing/2014/main" id="{0CF40FAB-9F24-2F60-D174-10A0D95FA7BF}"/>
                </a:ext>
              </a:extLst>
            </p:cNvPr>
            <p:cNvSpPr/>
            <p:nvPr/>
          </p:nvSpPr>
          <p:spPr>
            <a:xfrm>
              <a:off x="721360" y="2661333"/>
              <a:ext cx="184438" cy="1588105"/>
            </a:xfrm>
            <a:prstGeom prst="leftBracket">
              <a:avLst/>
            </a:prstGeom>
            <a:noFill/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5" name="Rectangle 71">
              <a:extLst>
                <a:ext uri="{FF2B5EF4-FFF2-40B4-BE49-F238E27FC236}">
                  <a16:creationId xmlns:a16="http://schemas.microsoft.com/office/drawing/2014/main" id="{EAFA4859-B277-8F3E-10A6-A006778A343B}"/>
                </a:ext>
              </a:extLst>
            </p:cNvPr>
            <p:cNvSpPr/>
            <p:nvPr/>
          </p:nvSpPr>
          <p:spPr>
            <a:xfrm>
              <a:off x="645670" y="3042899"/>
              <a:ext cx="165236" cy="67343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외부</a:t>
              </a: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C4F0688D-730D-8EB1-20DD-EA476BBAAA84}"/>
              </a:ext>
            </a:extLst>
          </p:cNvPr>
          <p:cNvGrpSpPr/>
          <p:nvPr/>
        </p:nvGrpSpPr>
        <p:grpSpPr>
          <a:xfrm>
            <a:off x="645670" y="5109567"/>
            <a:ext cx="260128" cy="862510"/>
            <a:chOff x="645670" y="5109566"/>
            <a:chExt cx="260128" cy="926487"/>
          </a:xfrm>
        </p:grpSpPr>
        <p:sp>
          <p:nvSpPr>
            <p:cNvPr id="104" name="Left Bracket 70">
              <a:extLst>
                <a:ext uri="{FF2B5EF4-FFF2-40B4-BE49-F238E27FC236}">
                  <a16:creationId xmlns:a16="http://schemas.microsoft.com/office/drawing/2014/main" id="{C7871A45-84EA-0498-1F25-EF7D162F427E}"/>
                </a:ext>
              </a:extLst>
            </p:cNvPr>
            <p:cNvSpPr/>
            <p:nvPr/>
          </p:nvSpPr>
          <p:spPr>
            <a:xfrm>
              <a:off x="721360" y="5109566"/>
              <a:ext cx="184438" cy="926487"/>
            </a:xfrm>
            <a:prstGeom prst="leftBracket">
              <a:avLst/>
            </a:prstGeom>
            <a:noFill/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6" name="Rectangle 73">
              <a:extLst>
                <a:ext uri="{FF2B5EF4-FFF2-40B4-BE49-F238E27FC236}">
                  <a16:creationId xmlns:a16="http://schemas.microsoft.com/office/drawing/2014/main" id="{7E0F5876-B4AF-E09D-F2C2-B61DC834609D}"/>
                </a:ext>
              </a:extLst>
            </p:cNvPr>
            <p:cNvSpPr/>
            <p:nvPr/>
          </p:nvSpPr>
          <p:spPr>
            <a:xfrm>
              <a:off x="645670" y="5203470"/>
              <a:ext cx="165236" cy="67343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19050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200" b="1" kern="0" dirty="0">
                  <a:solidFill>
                    <a:prstClr val="white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연구소</a:t>
              </a: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08" name="TextBox 107">
            <a:extLst>
              <a:ext uri="{FF2B5EF4-FFF2-40B4-BE49-F238E27FC236}">
                <a16:creationId xmlns:a16="http://schemas.microsoft.com/office/drawing/2014/main" id="{1DA1003D-E48B-C748-7594-D069BE18970C}"/>
              </a:ext>
            </a:extLst>
          </p:cNvPr>
          <p:cNvSpPr txBox="1"/>
          <p:nvPr/>
        </p:nvSpPr>
        <p:spPr>
          <a:xfrm>
            <a:off x="2885201" y="5094855"/>
            <a:ext cx="1876728" cy="8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000" indent="-1440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업로드 통제 및 모니터링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4000" indent="-14400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중요도에 따른 저장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업로드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반출 기준 부재</a:t>
            </a:r>
            <a:endParaRPr lang="en-US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0" name="Rectangle 47">
            <a:extLst>
              <a:ext uri="{FF2B5EF4-FFF2-40B4-BE49-F238E27FC236}">
                <a16:creationId xmlns:a16="http://schemas.microsoft.com/office/drawing/2014/main" id="{607CDE18-74EF-C132-2331-2E5A35BC377D}"/>
              </a:ext>
            </a:extLst>
          </p:cNvPr>
          <p:cNvSpPr/>
          <p:nvPr/>
        </p:nvSpPr>
        <p:spPr>
          <a:xfrm>
            <a:off x="2964314" y="2661332"/>
            <a:ext cx="1786417" cy="870585"/>
          </a:xfrm>
          <a:prstGeom prst="rect">
            <a:avLst/>
          </a:prstGeom>
          <a:solidFill>
            <a:sysClr val="window" lastClr="FFFFFF">
              <a:lumMod val="95000"/>
              <a:alpha val="10196"/>
            </a:sysClr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kern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외주업체 </a:t>
            </a:r>
            <a:b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과도권한 부여</a:t>
            </a:r>
          </a:p>
        </p:txBody>
      </p:sp>
      <p:sp>
        <p:nvSpPr>
          <p:cNvPr id="113" name="Oval 88">
            <a:extLst>
              <a:ext uri="{FF2B5EF4-FFF2-40B4-BE49-F238E27FC236}">
                <a16:creationId xmlns:a16="http://schemas.microsoft.com/office/drawing/2014/main" id="{49289214-4AF3-7C16-1E53-597A8D0B5015}"/>
              </a:ext>
            </a:extLst>
          </p:cNvPr>
          <p:cNvSpPr/>
          <p:nvPr/>
        </p:nvSpPr>
        <p:spPr>
          <a:xfrm>
            <a:off x="2900445" y="2593354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Oval 92">
            <a:extLst>
              <a:ext uri="{FF2B5EF4-FFF2-40B4-BE49-F238E27FC236}">
                <a16:creationId xmlns:a16="http://schemas.microsoft.com/office/drawing/2014/main" id="{CA955818-04AD-5F46-9DCD-374C6A47D557}"/>
              </a:ext>
            </a:extLst>
          </p:cNvPr>
          <p:cNvSpPr/>
          <p:nvPr/>
        </p:nvSpPr>
        <p:spPr>
          <a:xfrm>
            <a:off x="904687" y="5041644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7" name="그림 116" descr="Person ">
            <a:extLst>
              <a:ext uri="{FF2B5EF4-FFF2-40B4-BE49-F238E27FC236}">
                <a16:creationId xmlns:a16="http://schemas.microsoft.com/office/drawing/2014/main" id="{63B27084-3CE5-E0C9-AEB6-36E1AC5987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11" y="2200181"/>
            <a:ext cx="267710" cy="267710"/>
          </a:xfrm>
          <a:prstGeom prst="rect">
            <a:avLst/>
          </a:prstGeom>
        </p:spPr>
      </p:pic>
      <p:sp>
        <p:nvSpPr>
          <p:cNvPr id="125" name="Oval 107">
            <a:extLst>
              <a:ext uri="{FF2B5EF4-FFF2-40B4-BE49-F238E27FC236}">
                <a16:creationId xmlns:a16="http://schemas.microsoft.com/office/drawing/2014/main" id="{414EB78F-5872-4139-1762-520A9ECCC422}"/>
              </a:ext>
            </a:extLst>
          </p:cNvPr>
          <p:cNvSpPr/>
          <p:nvPr/>
        </p:nvSpPr>
        <p:spPr>
          <a:xfrm>
            <a:off x="4935240" y="2583943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7" name="Oval 109">
            <a:extLst>
              <a:ext uri="{FF2B5EF4-FFF2-40B4-BE49-F238E27FC236}">
                <a16:creationId xmlns:a16="http://schemas.microsoft.com/office/drawing/2014/main" id="{F141CB40-D258-A342-47A2-E0F95770D063}"/>
              </a:ext>
            </a:extLst>
          </p:cNvPr>
          <p:cNvSpPr/>
          <p:nvPr/>
        </p:nvSpPr>
        <p:spPr>
          <a:xfrm>
            <a:off x="4935240" y="3789707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9" name="Oval 111">
            <a:extLst>
              <a:ext uri="{FF2B5EF4-FFF2-40B4-BE49-F238E27FC236}">
                <a16:creationId xmlns:a16="http://schemas.microsoft.com/office/drawing/2014/main" id="{972DBAD9-0F73-A16A-88F4-CAFE03DF098F}"/>
              </a:ext>
            </a:extLst>
          </p:cNvPr>
          <p:cNvSpPr/>
          <p:nvPr/>
        </p:nvSpPr>
        <p:spPr>
          <a:xfrm>
            <a:off x="4944764" y="4969595"/>
            <a:ext cx="180000" cy="18000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lt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200" b="1" dirty="0">
              <a:solidFill>
                <a:schemeClr val="lt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8E24BE6-A243-A3DE-80E5-3FD0C5EF9432}"/>
              </a:ext>
            </a:extLst>
          </p:cNvPr>
          <p:cNvCxnSpPr/>
          <p:nvPr/>
        </p:nvCxnSpPr>
        <p:spPr>
          <a:xfrm>
            <a:off x="579120" y="4948964"/>
            <a:ext cx="417161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Arrow: Up-Down 74">
            <a:extLst>
              <a:ext uri="{FF2B5EF4-FFF2-40B4-BE49-F238E27FC236}">
                <a16:creationId xmlns:a16="http://schemas.microsoft.com/office/drawing/2014/main" id="{26A6F2A9-E4A4-0F12-FC7A-EF36322D0C91}"/>
              </a:ext>
            </a:extLst>
          </p:cNvPr>
          <p:cNvSpPr/>
          <p:nvPr/>
        </p:nvSpPr>
        <p:spPr>
          <a:xfrm>
            <a:off x="1758847" y="4815587"/>
            <a:ext cx="209164" cy="280645"/>
          </a:xfrm>
          <a:prstGeom prst="upDownArrow">
            <a:avLst/>
          </a:prstGeom>
          <a:solidFill>
            <a:schemeClr val="tx1">
              <a:lumMod val="65000"/>
              <a:lumOff val="3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" name="Arrow: Up-Down 90">
            <a:extLst>
              <a:ext uri="{FF2B5EF4-FFF2-40B4-BE49-F238E27FC236}">
                <a16:creationId xmlns:a16="http://schemas.microsoft.com/office/drawing/2014/main" id="{A9783D7E-D8F6-47AF-5775-E8AB962B0740}"/>
              </a:ext>
            </a:extLst>
          </p:cNvPr>
          <p:cNvSpPr/>
          <p:nvPr/>
        </p:nvSpPr>
        <p:spPr>
          <a:xfrm>
            <a:off x="3753495" y="4814410"/>
            <a:ext cx="209164" cy="280645"/>
          </a:xfrm>
          <a:prstGeom prst="upDownArrow">
            <a:avLst/>
          </a:prstGeom>
          <a:solidFill>
            <a:schemeClr val="tx1">
              <a:lumMod val="65000"/>
              <a:lumOff val="35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0EE6A21B-3D04-85F3-FE35-4747FFE4B000}"/>
              </a:ext>
            </a:extLst>
          </p:cNvPr>
          <p:cNvCxnSpPr>
            <a:stCxn id="110" idx="2"/>
            <a:endCxn id="100" idx="0"/>
          </p:cNvCxnSpPr>
          <p:nvPr/>
        </p:nvCxnSpPr>
        <p:spPr>
          <a:xfrm flipH="1">
            <a:off x="3857522" y="3531917"/>
            <a:ext cx="1" cy="300492"/>
          </a:xfrm>
          <a:prstGeom prst="straightConnector1">
            <a:avLst/>
          </a:prstGeom>
          <a:ln w="19050">
            <a:solidFill>
              <a:schemeClr val="tx1">
                <a:lumMod val="65000"/>
                <a:lumOff val="3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ectangle 49">
            <a:extLst>
              <a:ext uri="{FF2B5EF4-FFF2-40B4-BE49-F238E27FC236}">
                <a16:creationId xmlns:a16="http://schemas.microsoft.com/office/drawing/2014/main" id="{AAE81837-BC06-3D83-D2CB-5A6DCF925172}"/>
              </a:ext>
            </a:extLst>
          </p:cNvPr>
          <p:cNvSpPr/>
          <p:nvPr/>
        </p:nvSpPr>
        <p:spPr>
          <a:xfrm>
            <a:off x="968556" y="2661332"/>
            <a:ext cx="1786417" cy="870585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b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솔루션 부재</a:t>
            </a:r>
          </a:p>
        </p:txBody>
      </p:sp>
      <p:sp>
        <p:nvSpPr>
          <p:cNvPr id="112" name="Oval 86">
            <a:extLst>
              <a:ext uri="{FF2B5EF4-FFF2-40B4-BE49-F238E27FC236}">
                <a16:creationId xmlns:a16="http://schemas.microsoft.com/office/drawing/2014/main" id="{4E8D4D1F-1BA9-003B-89DD-5F74235F2FF2}"/>
              </a:ext>
            </a:extLst>
          </p:cNvPr>
          <p:cNvSpPr/>
          <p:nvPr/>
        </p:nvSpPr>
        <p:spPr>
          <a:xfrm>
            <a:off x="894087" y="2580744"/>
            <a:ext cx="168785" cy="161178"/>
          </a:xfrm>
          <a:prstGeom prst="ellipse">
            <a:avLst/>
          </a:prstGeom>
          <a:solidFill>
            <a:srgbClr val="404040"/>
          </a:solidFill>
          <a:ln w="19050" cap="flat" cmpd="sng" algn="ctr">
            <a:solidFill>
              <a:srgbClr val="40404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슬라이드 번호 개체 틀 11">
            <a:extLst>
              <a:ext uri="{FF2B5EF4-FFF2-40B4-BE49-F238E27FC236}">
                <a16:creationId xmlns:a16="http://schemas.microsoft.com/office/drawing/2014/main" id="{90192903-CADB-F35F-23A4-08BF85D57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5295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26DD6-5114-26DF-0404-D00F50052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F6732568-5277-2444-26E6-0ADF5F4FB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바이오</a:t>
            </a: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제약 핵심 자산 보호 및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Cyber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대응 동향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22FF6A-006F-4948-F758-368F5750CE51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선도 사는 자산 실시간 식별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위협 탐지 및 데이터 통제를 통해 핵심 사업 보호 및 경영 안정성 확보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0EAF9B-1FD4-1EB8-7D38-E5E8A93DA06D}"/>
              </a:ext>
            </a:extLst>
          </p:cNvPr>
          <p:cNvSpPr txBox="1"/>
          <p:nvPr/>
        </p:nvSpPr>
        <p:spPr>
          <a:xfrm>
            <a:off x="338944" y="6096028"/>
            <a:ext cx="5379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</a:t>
            </a:r>
            <a:b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  <a:r>
              <a:rPr lang="en-US" altLang="ko-KR" sz="8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Zero Trust  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접근 단계 세분화 및 지속 신원 검증</a:t>
            </a:r>
          </a:p>
        </p:txBody>
      </p:sp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AB43CD38-4D58-0994-8CC2-D8D354E06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화살표: 오각형 8">
            <a:extLst>
              <a:ext uri="{FF2B5EF4-FFF2-40B4-BE49-F238E27FC236}">
                <a16:creationId xmlns:a16="http://schemas.microsoft.com/office/drawing/2014/main" id="{ED9D09D4-0479-4C3E-2483-256C23884818}"/>
              </a:ext>
            </a:extLst>
          </p:cNvPr>
          <p:cNvSpPr/>
          <p:nvPr/>
        </p:nvSpPr>
        <p:spPr>
          <a:xfrm>
            <a:off x="744635" y="1939703"/>
            <a:ext cx="5521566" cy="3946746"/>
          </a:xfrm>
          <a:prstGeom prst="homePlate">
            <a:avLst>
              <a:gd name="adj" fmla="val 7767"/>
            </a:avLst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glow rad="101600">
              <a:schemeClr val="bg1">
                <a:lumMod val="50000"/>
                <a:alpha val="6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9AFBDF-7370-5A94-950D-882A6AC03F33}"/>
              </a:ext>
            </a:extLst>
          </p:cNvPr>
          <p:cNvSpPr txBox="1"/>
          <p:nvPr/>
        </p:nvSpPr>
        <p:spPr>
          <a:xfrm>
            <a:off x="2003244" y="1798166"/>
            <a:ext cx="3004348" cy="307777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Global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Cyber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방어 체계 핵심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Point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직사각형 152">
            <a:extLst>
              <a:ext uri="{FF2B5EF4-FFF2-40B4-BE49-F238E27FC236}">
                <a16:creationId xmlns:a16="http://schemas.microsoft.com/office/drawing/2014/main" id="{2070B85D-8D18-7C00-1D44-F69256AE1A14}"/>
              </a:ext>
            </a:extLst>
          </p:cNvPr>
          <p:cNvSpPr/>
          <p:nvPr/>
        </p:nvSpPr>
        <p:spPr>
          <a:xfrm>
            <a:off x="485855" y="4918297"/>
            <a:ext cx="1156655" cy="1144481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4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F2CB2E-DF64-B33A-2308-25D4FC4FC815}"/>
              </a:ext>
            </a:extLst>
          </p:cNvPr>
          <p:cNvSpPr txBox="1"/>
          <p:nvPr/>
        </p:nvSpPr>
        <p:spPr>
          <a:xfrm>
            <a:off x="1935458" y="3592952"/>
            <a:ext cx="4323922" cy="7150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en-US" altLang="ko-KR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10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 주요 생산 </a:t>
            </a:r>
            <a:r>
              <a:rPr lang="en-US" altLang="ko-KR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Site 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 보안 </a:t>
            </a:r>
            <a:r>
              <a:rPr lang="en-US" altLang="ko-KR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USB 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의무화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b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실시간 매체제어 체계 적용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추가 감염 피해 차단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 생산시설의 공정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Network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위협 대응체계 일원화 관리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Shape 33">
            <a:extLst>
              <a:ext uri="{FF2B5EF4-FFF2-40B4-BE49-F238E27FC236}">
                <a16:creationId xmlns:a16="http://schemas.microsoft.com/office/drawing/2014/main" id="{194DDFC2-2C44-5AE6-69CC-95903D351B24}"/>
              </a:ext>
            </a:extLst>
          </p:cNvPr>
          <p:cNvSpPr/>
          <p:nvPr/>
        </p:nvSpPr>
        <p:spPr>
          <a:xfrm flipV="1">
            <a:off x="1115024" y="4577277"/>
            <a:ext cx="8427626" cy="10963"/>
          </a:xfrm>
          <a:prstGeom prst="line">
            <a:avLst/>
          </a:prstGeom>
          <a:noFill/>
          <a:ln w="10160">
            <a:solidFill>
              <a:schemeClr val="bg1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ko-KR" altLang="en-US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8EC1DC0-6425-53F4-6B20-79DF9CEB1115}"/>
              </a:ext>
            </a:extLst>
          </p:cNvPr>
          <p:cNvSpPr txBox="1"/>
          <p:nvPr/>
        </p:nvSpPr>
        <p:spPr>
          <a:xfrm>
            <a:off x="1935458" y="2469510"/>
            <a:ext cx="4139371" cy="528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다수 외주 업체가 접속 환경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에 세분화 및 지속 검증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접근통제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접근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조회 행위에 대한 지속 모니터링</a:t>
            </a:r>
          </a:p>
        </p:txBody>
      </p:sp>
      <p:pic>
        <p:nvPicPr>
          <p:cNvPr id="23" name="Picture 13">
            <a:extLst>
              <a:ext uri="{FF2B5EF4-FFF2-40B4-BE49-F238E27FC236}">
                <a16:creationId xmlns:a16="http://schemas.microsoft.com/office/drawing/2014/main" id="{A527BE40-DDE9-1329-C7A7-F8753D5FC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43" y="2442763"/>
            <a:ext cx="753092" cy="460223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6A25D1A2-E06C-03D1-F8BA-2A0EEFD68971}"/>
              </a:ext>
            </a:extLst>
          </p:cNvPr>
          <p:cNvSpPr txBox="1"/>
          <p:nvPr/>
        </p:nvSpPr>
        <p:spPr>
          <a:xfrm>
            <a:off x="1926236" y="4933940"/>
            <a:ext cx="4263172" cy="528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 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기반 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Pharma R&amp;D Data Science Ecosystem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구축</a:t>
            </a:r>
            <a:endParaRPr lang="en-US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 indent="-216000">
              <a:lnSpc>
                <a:spcPct val="110000"/>
              </a:lnSpc>
              <a:spcAft>
                <a:spcPts val="600"/>
              </a:spcAft>
              <a:buFont typeface="Wingdings" panose="05000000000000000000" pitchFamily="2" charset="2"/>
              <a:buChar char=""/>
            </a:pP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연구데이터와 </a:t>
            </a:r>
            <a:r>
              <a:rPr lang="en-US" altLang="ko-KR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AI/ML Workflow</a:t>
            </a:r>
            <a:r>
              <a:rPr lang="ko-KR" altLang="en-US" sz="11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</a:t>
            </a:r>
            <a:r>
              <a:rPr lang="ko-KR" altLang="en-US" sz="11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통합 모니터링 및 상시 통제 </a:t>
            </a:r>
          </a:p>
        </p:txBody>
      </p:sp>
      <p:pic>
        <p:nvPicPr>
          <p:cNvPr id="27" name="Picture 19">
            <a:extLst>
              <a:ext uri="{FF2B5EF4-FFF2-40B4-BE49-F238E27FC236}">
                <a16:creationId xmlns:a16="http://schemas.microsoft.com/office/drawing/2014/main" id="{699B2020-1375-ED49-8771-E1F3EB12E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718" y="4873195"/>
            <a:ext cx="617342" cy="617342"/>
          </a:xfrm>
          <a:prstGeom prst="rect">
            <a:avLst/>
          </a:prstGeom>
        </p:spPr>
      </p:pic>
      <p:pic>
        <p:nvPicPr>
          <p:cNvPr id="29" name="그림 28" descr="KEYSIGHT 키사이트 오실로스코프·RF 분석기 | 지니어스인더스트리">
            <a:extLst>
              <a:ext uri="{FF2B5EF4-FFF2-40B4-BE49-F238E27FC236}">
                <a16:creationId xmlns:a16="http://schemas.microsoft.com/office/drawing/2014/main" id="{C5CAA5EC-7021-433D-771D-0DFAB2143D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899" y="3820932"/>
            <a:ext cx="950980" cy="251202"/>
          </a:xfrm>
          <a:prstGeom prst="rect">
            <a:avLst/>
          </a:prstGeom>
        </p:spPr>
      </p:pic>
      <p:sp>
        <p:nvSpPr>
          <p:cNvPr id="31" name="직사각형 61">
            <a:extLst>
              <a:ext uri="{FF2B5EF4-FFF2-40B4-BE49-F238E27FC236}">
                <a16:creationId xmlns:a16="http://schemas.microsoft.com/office/drawing/2014/main" id="{7E05DAD0-3577-CBCC-31AC-873D880AA5AF}"/>
              </a:ext>
            </a:extLst>
          </p:cNvPr>
          <p:cNvSpPr/>
          <p:nvPr/>
        </p:nvSpPr>
        <p:spPr>
          <a:xfrm>
            <a:off x="6567583" y="1709450"/>
            <a:ext cx="2975067" cy="331841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JW </a:t>
            </a:r>
            <a:r>
              <a:rPr kumimoji="0" lang="ko-KR" altLang="en-US" sz="14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핵심 강화 방향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F1603A3-ED6C-07D3-9248-B5975B5E94BE}"/>
              </a:ext>
            </a:extLst>
          </p:cNvPr>
          <p:cNvSpPr txBox="1"/>
          <p:nvPr/>
        </p:nvSpPr>
        <p:spPr>
          <a:xfrm>
            <a:off x="6567584" y="4874089"/>
            <a:ext cx="1945633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400" b="1">
                <a:latin typeface="+mn-ea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연구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데이터 보호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8107C4D-E1FA-69E5-7724-E77AD1256599}"/>
              </a:ext>
            </a:extLst>
          </p:cNvPr>
          <p:cNvSpPr txBox="1"/>
          <p:nvPr/>
        </p:nvSpPr>
        <p:spPr>
          <a:xfrm>
            <a:off x="6567584" y="5105695"/>
            <a:ext cx="3595592" cy="565674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defTabSz="914400">
              <a:lnSpc>
                <a:spcPct val="110000"/>
              </a:lnSpc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데이터 관리 체계 </a:t>
            </a:r>
            <a:r>
              <a:rPr lang="ko-KR" altLang="en-US" sz="1200" kern="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접근〮이동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상시 통제</a:t>
            </a:r>
            <a:endParaRPr lang="en-US" altLang="ko-KR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defTabSz="914400">
              <a:lnSpc>
                <a:spcPct val="110000"/>
              </a:lnSpc>
              <a:defRPr/>
            </a:pPr>
            <a: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Cloud, AI 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 과정의 데이터 흐름</a:t>
            </a:r>
            <a:r>
              <a:rPr lang="en-US" altLang="ko-KR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활용 통제</a:t>
            </a:r>
            <a:endParaRPr lang="en-US" altLang="ko-KR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705CF9A-E20F-34C2-6910-686B2C3CA931}"/>
              </a:ext>
            </a:extLst>
          </p:cNvPr>
          <p:cNvSpPr txBox="1"/>
          <p:nvPr/>
        </p:nvSpPr>
        <p:spPr>
          <a:xfrm>
            <a:off x="6524981" y="2430957"/>
            <a:ext cx="1921201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보호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C25E711-6D26-F9BA-EB75-498AABBFAE28}"/>
              </a:ext>
            </a:extLst>
          </p:cNvPr>
          <p:cNvSpPr txBox="1"/>
          <p:nvPr/>
        </p:nvSpPr>
        <p:spPr>
          <a:xfrm>
            <a:off x="6524981" y="2691276"/>
            <a:ext cx="2975067" cy="39353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Zero Trust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기반 고객</a:t>
            </a:r>
            <a:r>
              <a:rPr kumimoji="0" lang="en-US" altLang="ko-KR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민감정보 접근통제</a:t>
            </a: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취급 외주</a:t>
            </a: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20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인력 접근 통제 강화</a:t>
            </a:r>
            <a:endParaRPr kumimoji="0" lang="en-US" altLang="ko-KR" sz="120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ECA64C-5A97-1CB0-57BA-E49A78991182}"/>
              </a:ext>
            </a:extLst>
          </p:cNvPr>
          <p:cNvSpPr txBox="1"/>
          <p:nvPr/>
        </p:nvSpPr>
        <p:spPr>
          <a:xfrm>
            <a:off x="6567584" y="3639937"/>
            <a:ext cx="1837662" cy="30777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생산 연속성 확보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E35810D-3D9F-1D6C-F465-F76713DE58FD}"/>
              </a:ext>
            </a:extLst>
          </p:cNvPr>
          <p:cNvSpPr txBox="1"/>
          <p:nvPr/>
        </p:nvSpPr>
        <p:spPr>
          <a:xfrm>
            <a:off x="6567584" y="3946912"/>
            <a:ext cx="2975066" cy="393530"/>
          </a:xfrm>
          <a:prstGeom prst="rect">
            <a:avLst/>
          </a:prstGeom>
          <a:noFill/>
          <a:ln w="12700">
            <a:noFill/>
          </a:ln>
        </p:spPr>
        <p:txBody>
          <a:bodyPr wrap="square" anchor="ctr">
            <a:noAutofit/>
          </a:bodyPr>
          <a:lstStyle/>
          <a:p>
            <a:pPr defTabSz="914400">
              <a:lnSpc>
                <a:spcPct val="110000"/>
              </a:lnSpc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공정시스템 이상징후 기반 생산중단 예방 </a:t>
            </a:r>
            <a:endParaRPr lang="en-US" altLang="ko-KR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defTabSz="914400">
              <a:lnSpc>
                <a:spcPct val="110000"/>
              </a:lnSpc>
              <a:defRPr/>
            </a:pPr>
            <a:r>
              <a:rPr lang="ko-KR" altLang="en-US" sz="12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생산환경 위협 조기 식별 및 차단 체계 확보</a:t>
            </a:r>
          </a:p>
        </p:txBody>
      </p:sp>
      <p:sp>
        <p:nvSpPr>
          <p:cNvPr id="45" name="Shape 33">
            <a:extLst>
              <a:ext uri="{FF2B5EF4-FFF2-40B4-BE49-F238E27FC236}">
                <a16:creationId xmlns:a16="http://schemas.microsoft.com/office/drawing/2014/main" id="{1981AF2D-CE38-21D2-A2A8-DC0B65FEE962}"/>
              </a:ext>
            </a:extLst>
          </p:cNvPr>
          <p:cNvSpPr/>
          <p:nvPr/>
        </p:nvSpPr>
        <p:spPr>
          <a:xfrm flipV="1">
            <a:off x="1115024" y="3432715"/>
            <a:ext cx="8427626" cy="10963"/>
          </a:xfrm>
          <a:prstGeom prst="line">
            <a:avLst/>
          </a:prstGeom>
          <a:noFill/>
          <a:ln w="10160">
            <a:solidFill>
              <a:schemeClr val="bg1">
                <a:lumMod val="50000"/>
              </a:schemeClr>
            </a:solidFill>
            <a:prstDash val="dash"/>
          </a:ln>
        </p:spPr>
        <p:txBody>
          <a:bodyPr/>
          <a:lstStyle/>
          <a:p>
            <a:endParaRPr lang="ko-KR" altLang="en-US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87868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78512-E859-581D-2DED-11B104962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99D4E09-F30C-52EE-190A-2C8EB75C20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833299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수행 방안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4013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117DC-4B4B-1544-F598-318A2669D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53B15C5-F629-432E-924E-59B24754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Approach</a:t>
            </a:r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33E7FE-6AD3-A877-F8E5-209712756C26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약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16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 동안 진단 프레임워크 기반 현황 분석에 따른 정보보호 수준 도출 및 마스터플랜 수립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5" name="화살표: 오각형 7">
            <a:extLst>
              <a:ext uri="{FF2B5EF4-FFF2-40B4-BE49-F238E27FC236}">
                <a16:creationId xmlns:a16="http://schemas.microsoft.com/office/drawing/2014/main" id="{B3DCC1A8-1707-D565-2FFB-A59F04B006CC}"/>
              </a:ext>
            </a:extLst>
          </p:cNvPr>
          <p:cNvSpPr/>
          <p:nvPr/>
        </p:nvSpPr>
        <p:spPr>
          <a:xfrm>
            <a:off x="1595820" y="1560359"/>
            <a:ext cx="2451953" cy="436795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"/>
              </a:spcBef>
            </a:pPr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관리체계 진단</a:t>
            </a:r>
          </a:p>
        </p:txBody>
      </p:sp>
      <p:sp>
        <p:nvSpPr>
          <p:cNvPr id="66" name="화살표: 오각형 8">
            <a:extLst>
              <a:ext uri="{FF2B5EF4-FFF2-40B4-BE49-F238E27FC236}">
                <a16:creationId xmlns:a16="http://schemas.microsoft.com/office/drawing/2014/main" id="{47AA4D85-C2B7-4C25-EEED-3DF6E42CAC1C}"/>
              </a:ext>
            </a:extLst>
          </p:cNvPr>
          <p:cNvSpPr/>
          <p:nvPr/>
        </p:nvSpPr>
        <p:spPr>
          <a:xfrm>
            <a:off x="4289137" y="1560359"/>
            <a:ext cx="2451953" cy="436795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인프라 및 시스템  진단</a:t>
            </a:r>
          </a:p>
        </p:txBody>
      </p:sp>
      <p:sp>
        <p:nvSpPr>
          <p:cNvPr id="67" name="화살표: 오각형 8">
            <a:extLst>
              <a:ext uri="{FF2B5EF4-FFF2-40B4-BE49-F238E27FC236}">
                <a16:creationId xmlns:a16="http://schemas.microsoft.com/office/drawing/2014/main" id="{2BB38019-B841-CFCC-A81E-900FCD6B527D}"/>
              </a:ext>
            </a:extLst>
          </p:cNvPr>
          <p:cNvSpPr/>
          <p:nvPr/>
        </p:nvSpPr>
        <p:spPr>
          <a:xfrm>
            <a:off x="6982455" y="1588469"/>
            <a:ext cx="2451953" cy="436795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err="1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모의해킹</a:t>
            </a:r>
            <a:endParaRPr lang="ko-KR" altLang="en-US" sz="14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3" name="S417">
            <a:extLst>
              <a:ext uri="{FF2B5EF4-FFF2-40B4-BE49-F238E27FC236}">
                <a16:creationId xmlns:a16="http://schemas.microsoft.com/office/drawing/2014/main" id="{D996B7AE-8E53-FE3B-94B4-103A26FA0685}"/>
              </a:ext>
            </a:extLst>
          </p:cNvPr>
          <p:cNvSpPr/>
          <p:nvPr/>
        </p:nvSpPr>
        <p:spPr>
          <a:xfrm>
            <a:off x="1524796" y="1480457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4" name="S417">
            <a:extLst>
              <a:ext uri="{FF2B5EF4-FFF2-40B4-BE49-F238E27FC236}">
                <a16:creationId xmlns:a16="http://schemas.microsoft.com/office/drawing/2014/main" id="{EDDB1CD1-6AFF-CDC4-3C50-78C667BB14B6}"/>
              </a:ext>
            </a:extLst>
          </p:cNvPr>
          <p:cNvSpPr/>
          <p:nvPr/>
        </p:nvSpPr>
        <p:spPr>
          <a:xfrm>
            <a:off x="4218113" y="1474402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5" name="S417">
            <a:extLst>
              <a:ext uri="{FF2B5EF4-FFF2-40B4-BE49-F238E27FC236}">
                <a16:creationId xmlns:a16="http://schemas.microsoft.com/office/drawing/2014/main" id="{14AAA7A0-8684-998F-A4B5-91E63DF57BA7}"/>
              </a:ext>
            </a:extLst>
          </p:cNvPr>
          <p:cNvSpPr/>
          <p:nvPr/>
        </p:nvSpPr>
        <p:spPr>
          <a:xfrm>
            <a:off x="6878088" y="1480791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06" name="사각형: 잘린 대각선 방향 모서리 45">
            <a:extLst>
              <a:ext uri="{FF2B5EF4-FFF2-40B4-BE49-F238E27FC236}">
                <a16:creationId xmlns:a16="http://schemas.microsoft.com/office/drawing/2014/main" id="{89676835-DB99-299F-CE0D-09597FB5E09A}"/>
              </a:ext>
            </a:extLst>
          </p:cNvPr>
          <p:cNvSpPr/>
          <p:nvPr/>
        </p:nvSpPr>
        <p:spPr>
          <a:xfrm>
            <a:off x="415925" y="5369574"/>
            <a:ext cx="1010000" cy="779350"/>
          </a:xfrm>
          <a:prstGeom prst="snip2DiagRect">
            <a:avLst/>
          </a:prstGeom>
          <a:solidFill>
            <a:schemeClr val="bg2">
              <a:lumMod val="90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57769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주요</a:t>
            </a:r>
            <a:br>
              <a:rPr kumimoji="0" lang="en-US" altLang="ko-KR" sz="12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</a:br>
            <a:r>
              <a:rPr kumimoji="0" lang="ko-KR" altLang="en-US" sz="12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산출물</a:t>
            </a:r>
          </a:p>
        </p:txBody>
      </p:sp>
      <p:sp>
        <p:nvSpPr>
          <p:cNvPr id="109" name="직사각형 53">
            <a:extLst>
              <a:ext uri="{FF2B5EF4-FFF2-40B4-BE49-F238E27FC236}">
                <a16:creationId xmlns:a16="http://schemas.microsoft.com/office/drawing/2014/main" id="{CB9125A0-473B-29FB-66C8-B298E026D203}"/>
              </a:ext>
            </a:extLst>
          </p:cNvPr>
          <p:cNvSpPr/>
          <p:nvPr/>
        </p:nvSpPr>
        <p:spPr>
          <a:xfrm>
            <a:off x="6976772" y="5369574"/>
            <a:ext cx="2451952" cy="7793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모의 해킹 진단 결과 기반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개선</a:t>
            </a:r>
            <a:r>
              <a:rPr lang="en-US" altLang="ko-KR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조치 가이드</a:t>
            </a:r>
          </a:p>
        </p:txBody>
      </p:sp>
      <p:sp>
        <p:nvSpPr>
          <p:cNvPr id="110" name="S402">
            <a:extLst>
              <a:ext uri="{FF2B5EF4-FFF2-40B4-BE49-F238E27FC236}">
                <a16:creationId xmlns:a16="http://schemas.microsoft.com/office/drawing/2014/main" id="{9DC421B1-B04B-24CC-6CC8-13AF8504768B}"/>
              </a:ext>
            </a:extLst>
          </p:cNvPr>
          <p:cNvSpPr/>
          <p:nvPr/>
        </p:nvSpPr>
        <p:spPr>
          <a:xfrm>
            <a:off x="415925" y="2245428"/>
            <a:ext cx="1010000" cy="2839831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57769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JW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보안</a:t>
            </a:r>
            <a:br>
              <a:rPr kumimoji="0" lang="en-US" altLang="ko-KR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</a:br>
            <a:r>
              <a:rPr kumimoji="0" lang="ko-KR" altLang="en-US" sz="1600" b="1" i="0" u="none" strike="noStrike" kern="0" cap="none" spc="0" normalizeH="0" baseline="0" noProof="0" dirty="0">
                <a:ln>
                  <a:solidFill>
                    <a:srgbClr val="7D7D7D"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수준 진단</a:t>
            </a:r>
          </a:p>
        </p:txBody>
      </p:sp>
      <p:sp>
        <p:nvSpPr>
          <p:cNvPr id="111" name="Rectangle 64">
            <a:extLst>
              <a:ext uri="{FF2B5EF4-FFF2-40B4-BE49-F238E27FC236}">
                <a16:creationId xmlns:a16="http://schemas.microsoft.com/office/drawing/2014/main" id="{E8AA60B4-F247-9544-B0F3-8AC35E1919E3}"/>
              </a:ext>
            </a:extLst>
          </p:cNvPr>
          <p:cNvSpPr/>
          <p:nvPr/>
        </p:nvSpPr>
        <p:spPr>
          <a:xfrm>
            <a:off x="1595820" y="2245429"/>
            <a:ext cx="2451953" cy="1367576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비즈니스 관점</a:t>
            </a:r>
          </a:p>
        </p:txBody>
      </p:sp>
      <p:sp>
        <p:nvSpPr>
          <p:cNvPr id="112" name="Rectangle 66">
            <a:extLst>
              <a:ext uri="{FF2B5EF4-FFF2-40B4-BE49-F238E27FC236}">
                <a16:creationId xmlns:a16="http://schemas.microsoft.com/office/drawing/2014/main" id="{323A4898-6703-BA7D-3823-3FA2DE132B3B}"/>
              </a:ext>
            </a:extLst>
          </p:cNvPr>
          <p:cNvSpPr/>
          <p:nvPr/>
        </p:nvSpPr>
        <p:spPr>
          <a:xfrm>
            <a:off x="1595820" y="3727338"/>
            <a:ext cx="2451952" cy="136757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개발</a:t>
            </a: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운영 담당자 관점</a:t>
            </a:r>
          </a:p>
        </p:txBody>
      </p:sp>
      <p:sp>
        <p:nvSpPr>
          <p:cNvPr id="113" name="Rectangle 69">
            <a:extLst>
              <a:ext uri="{FF2B5EF4-FFF2-40B4-BE49-F238E27FC236}">
                <a16:creationId xmlns:a16="http://schemas.microsoft.com/office/drawing/2014/main" id="{3114AC61-C216-26A7-FF52-9B49F538C392}"/>
              </a:ext>
            </a:extLst>
          </p:cNvPr>
          <p:cNvSpPr/>
          <p:nvPr/>
        </p:nvSpPr>
        <p:spPr>
          <a:xfrm>
            <a:off x="1711353" y="2557832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정책 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조직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등 보안 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R&amp;R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진단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endParaRPr kumimoji="0" lang="ko-KR" altLang="en-US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4" name="Rectangle 72">
            <a:extLst>
              <a:ext uri="{FF2B5EF4-FFF2-40B4-BE49-F238E27FC236}">
                <a16:creationId xmlns:a16="http://schemas.microsoft.com/office/drawing/2014/main" id="{1F4191AE-5D04-16EA-E09A-9CF4282873FB}"/>
              </a:ext>
            </a:extLst>
          </p:cNvPr>
          <p:cNvSpPr/>
          <p:nvPr/>
        </p:nvSpPr>
        <p:spPr>
          <a:xfrm>
            <a:off x="1711353" y="3098835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 운영 법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규제 충족 여부 진단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5" name="Rectangle 73">
            <a:extLst>
              <a:ext uri="{FF2B5EF4-FFF2-40B4-BE49-F238E27FC236}">
                <a16:creationId xmlns:a16="http://schemas.microsoft.com/office/drawing/2014/main" id="{6D58B269-BB31-EACD-7019-5ED18B02D02A}"/>
              </a:ext>
            </a:extLst>
          </p:cNvPr>
          <p:cNvSpPr/>
          <p:nvPr/>
        </p:nvSpPr>
        <p:spPr>
          <a:xfrm>
            <a:off x="1711353" y="4034090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계정 권한 등 접근통제 실효성 진단</a:t>
            </a:r>
          </a:p>
        </p:txBody>
      </p:sp>
      <p:sp>
        <p:nvSpPr>
          <p:cNvPr id="116" name="Rectangle 74">
            <a:extLst>
              <a:ext uri="{FF2B5EF4-FFF2-40B4-BE49-F238E27FC236}">
                <a16:creationId xmlns:a16="http://schemas.microsoft.com/office/drawing/2014/main" id="{B8A45388-A1EA-352C-6514-B4C9C40E1AAD}"/>
              </a:ext>
            </a:extLst>
          </p:cNvPr>
          <p:cNvSpPr/>
          <p:nvPr/>
        </p:nvSpPr>
        <p:spPr>
          <a:xfrm>
            <a:off x="1711353" y="4569442"/>
            <a:ext cx="2189527" cy="457200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개발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0" lang="ko-KR" altLang="en-US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외주 포함</a:t>
            </a:r>
            <a:r>
              <a:rPr kumimoji="0" lang="en-US" altLang="ko-KR" sz="7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보안 성숙도 진단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7" name="Rectangle 75">
            <a:extLst>
              <a:ext uri="{FF2B5EF4-FFF2-40B4-BE49-F238E27FC236}">
                <a16:creationId xmlns:a16="http://schemas.microsoft.com/office/drawing/2014/main" id="{E084598C-7ADF-C3DC-6262-D2F4ED3601BC}"/>
              </a:ext>
            </a:extLst>
          </p:cNvPr>
          <p:cNvSpPr/>
          <p:nvPr/>
        </p:nvSpPr>
        <p:spPr>
          <a:xfrm>
            <a:off x="4289138" y="2245428"/>
            <a:ext cx="2451953" cy="28398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인프라 취약점</a:t>
            </a:r>
          </a:p>
        </p:txBody>
      </p:sp>
      <p:sp>
        <p:nvSpPr>
          <p:cNvPr id="118" name="Rectangle 76">
            <a:extLst>
              <a:ext uri="{FF2B5EF4-FFF2-40B4-BE49-F238E27FC236}">
                <a16:creationId xmlns:a16="http://schemas.microsoft.com/office/drawing/2014/main" id="{B8EFFA53-E2B8-D211-B042-099F5ECC8431}"/>
              </a:ext>
            </a:extLst>
          </p:cNvPr>
          <p:cNvSpPr/>
          <p:nvPr/>
        </p:nvSpPr>
        <p:spPr>
          <a:xfrm>
            <a:off x="6982455" y="2245428"/>
            <a:ext cx="2451952" cy="2839831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tIns="72000" rtlCol="0" anchor="t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시나리오 기반 점검</a:t>
            </a:r>
          </a:p>
        </p:txBody>
      </p:sp>
      <p:sp>
        <p:nvSpPr>
          <p:cNvPr id="119" name="Rectangle 77">
            <a:extLst>
              <a:ext uri="{FF2B5EF4-FFF2-40B4-BE49-F238E27FC236}">
                <a16:creationId xmlns:a16="http://schemas.microsoft.com/office/drawing/2014/main" id="{D14E7026-06AB-F435-8313-2B1A14C32CE4}"/>
              </a:ext>
            </a:extLst>
          </p:cNvPr>
          <p:cNvSpPr/>
          <p:nvPr/>
        </p:nvSpPr>
        <p:spPr>
          <a:xfrm>
            <a:off x="4420351" y="2564594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자산 관리 및 현행화 수준</a:t>
            </a:r>
          </a:p>
        </p:txBody>
      </p:sp>
      <p:sp>
        <p:nvSpPr>
          <p:cNvPr id="120" name="Rectangle 78">
            <a:extLst>
              <a:ext uri="{FF2B5EF4-FFF2-40B4-BE49-F238E27FC236}">
                <a16:creationId xmlns:a16="http://schemas.microsoft.com/office/drawing/2014/main" id="{6E3E31F4-A572-8D3A-51C1-E66F09494379}"/>
              </a:ext>
            </a:extLst>
          </p:cNvPr>
          <p:cNvSpPr/>
          <p:nvPr/>
        </p:nvSpPr>
        <p:spPr>
          <a:xfrm>
            <a:off x="4420351" y="3172262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lvl="0" algn="ctr" defTabSz="914400">
              <a:defRPr/>
            </a:pPr>
            <a:r>
              <a:rPr lang="en-US" altLang="ko-KR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IT(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  <a:r>
              <a:rPr lang="en-US" altLang="ko-KR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DB 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등</a:t>
            </a:r>
            <a:r>
              <a:rPr lang="en-US" altLang="ko-KR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취약점 진단 </a:t>
            </a:r>
          </a:p>
        </p:txBody>
      </p:sp>
      <p:sp>
        <p:nvSpPr>
          <p:cNvPr id="121" name="Rectangle 83">
            <a:extLst>
              <a:ext uri="{FF2B5EF4-FFF2-40B4-BE49-F238E27FC236}">
                <a16:creationId xmlns:a16="http://schemas.microsoft.com/office/drawing/2014/main" id="{63F919E6-F2F1-425F-739F-05F518488143}"/>
              </a:ext>
            </a:extLst>
          </p:cNvPr>
          <p:cNvSpPr/>
          <p:nvPr/>
        </p:nvSpPr>
        <p:spPr>
          <a:xfrm>
            <a:off x="4420349" y="3777352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취약점 진단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2" name="Rectangle 84">
            <a:extLst>
              <a:ext uri="{FF2B5EF4-FFF2-40B4-BE49-F238E27FC236}">
                <a16:creationId xmlns:a16="http://schemas.microsoft.com/office/drawing/2014/main" id="{5B3C2A3B-F268-1F83-CE1F-238DCB3ED6F5}"/>
              </a:ext>
            </a:extLst>
          </p:cNvPr>
          <p:cNvSpPr/>
          <p:nvPr/>
        </p:nvSpPr>
        <p:spPr>
          <a:xfrm>
            <a:off x="4420348" y="4388651"/>
            <a:ext cx="2189527" cy="484865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 시스템 </a:t>
            </a:r>
            <a:r>
              <a:rPr lang="ko-KR" altLang="en-US" sz="1100" kern="0" dirty="0">
                <a:solidFill>
                  <a:prstClr val="black">
                    <a:lumMod val="85000"/>
                    <a:lumOff val="15000"/>
                  </a:prst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 분석</a:t>
            </a:r>
            <a:endParaRPr kumimoji="0" lang="ko-KR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23" name="Group 88">
            <a:extLst>
              <a:ext uri="{FF2B5EF4-FFF2-40B4-BE49-F238E27FC236}">
                <a16:creationId xmlns:a16="http://schemas.microsoft.com/office/drawing/2014/main" id="{5489D85B-C247-FD1C-D9DF-1D3CD40F4114}"/>
              </a:ext>
            </a:extLst>
          </p:cNvPr>
          <p:cNvGrpSpPr/>
          <p:nvPr/>
        </p:nvGrpSpPr>
        <p:grpSpPr>
          <a:xfrm>
            <a:off x="7099883" y="2564591"/>
            <a:ext cx="2189527" cy="2308925"/>
            <a:chOff x="7099883" y="2564595"/>
            <a:chExt cx="2189527" cy="1006722"/>
          </a:xfrm>
        </p:grpSpPr>
        <p:sp>
          <p:nvSpPr>
            <p:cNvPr id="124" name="Rectangle 79">
              <a:extLst>
                <a:ext uri="{FF2B5EF4-FFF2-40B4-BE49-F238E27FC236}">
                  <a16:creationId xmlns:a16="http://schemas.microsoft.com/office/drawing/2014/main" id="{3D242D34-5BF1-1783-384B-C8D32ED6426B}"/>
                </a:ext>
              </a:extLst>
            </p:cNvPr>
            <p:cNvSpPr/>
            <p:nvPr/>
          </p:nvSpPr>
          <p:spPr>
            <a:xfrm>
              <a:off x="7099883" y="2564595"/>
              <a:ext cx="2189527" cy="45720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lIns="36000" rIns="360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3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주요 대외 서비스 취약점 점검</a:t>
              </a:r>
              <a:endParaRPr kumimoji="0" lang="ko-KR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25" name="Rectangle 80">
              <a:extLst>
                <a:ext uri="{FF2B5EF4-FFF2-40B4-BE49-F238E27FC236}">
                  <a16:creationId xmlns:a16="http://schemas.microsoft.com/office/drawing/2014/main" id="{1E5F69CA-5057-61C1-D221-D9CE907D8727}"/>
                </a:ext>
              </a:extLst>
            </p:cNvPr>
            <p:cNvSpPr/>
            <p:nvPr/>
          </p:nvSpPr>
          <p:spPr>
            <a:xfrm>
              <a:off x="7099883" y="3114117"/>
              <a:ext cx="2189527" cy="457200"/>
            </a:xfrm>
            <a:prstGeom prst="rect">
              <a:avLst/>
            </a:prstGeom>
            <a:solidFill>
              <a:sysClr val="window" lastClr="FFFFFF"/>
            </a:solidFill>
            <a:ln w="9525" cap="flat" cmpd="sng" algn="ctr">
              <a:solidFill>
                <a:schemeClr val="tx1">
                  <a:lumMod val="65000"/>
                  <a:lumOff val="3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고객</a:t>
              </a:r>
              <a:r>
                <a:rPr lang="en-US" altLang="ko-KR" sz="1100" kern="0" dirty="0">
                  <a:solidFill>
                    <a:prstClr val="black">
                      <a:lumMod val="85000"/>
                      <a:lumOff val="15000"/>
                    </a:prst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연구데이터 유출 리스크</a:t>
              </a:r>
              <a:r>
                <a:rPr kumimoji="0" lang="en-US" altLang="ko-KR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점검</a:t>
              </a:r>
            </a:p>
          </p:txBody>
        </p:sp>
      </p:grpSp>
      <p:sp>
        <p:nvSpPr>
          <p:cNvPr id="2" name="직사각형 47">
            <a:extLst>
              <a:ext uri="{FF2B5EF4-FFF2-40B4-BE49-F238E27FC236}">
                <a16:creationId xmlns:a16="http://schemas.microsoft.com/office/drawing/2014/main" id="{7CDBBB3D-77F2-B3FD-CC7B-FEE02A80CC3E}"/>
              </a:ext>
            </a:extLst>
          </p:cNvPr>
          <p:cNvSpPr/>
          <p:nvPr/>
        </p:nvSpPr>
        <p:spPr>
          <a:xfrm>
            <a:off x="1595818" y="5369574"/>
            <a:ext cx="2451955" cy="7793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현황 및 성숙도 분석서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마스터플랜</a:t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기술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R&amp;R,</a:t>
            </a:r>
            <a:r>
              <a:rPr kumimoji="0" lang="ko-KR" altLang="en-US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프로세스 개선</a:t>
            </a:r>
            <a:r>
              <a:rPr kumimoji="0" lang="en-US" altLang="ko-KR" sz="105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kumimoji="0" lang="ko-KR" altLang="en-US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직사각형 51">
            <a:extLst>
              <a:ext uri="{FF2B5EF4-FFF2-40B4-BE49-F238E27FC236}">
                <a16:creationId xmlns:a16="http://schemas.microsoft.com/office/drawing/2014/main" id="{D4122A2B-C0C9-AD42-21F7-D18E6AAF61AD}"/>
              </a:ext>
            </a:extLst>
          </p:cNvPr>
          <p:cNvSpPr/>
          <p:nvPr/>
        </p:nvSpPr>
        <p:spPr>
          <a:xfrm>
            <a:off x="4286295" y="5369574"/>
            <a:ext cx="2451954" cy="779350"/>
          </a:xfrm>
          <a:prstGeom prst="rect">
            <a:avLst/>
          </a:prstGeom>
          <a:solidFill>
            <a:schemeClr val="bg1"/>
          </a:solidFill>
          <a:ln w="190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시스템</a:t>
            </a:r>
            <a:r>
              <a:rPr lang="en-US" altLang="ko-KR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인프라 취약점</a:t>
            </a:r>
            <a: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br>
              <a:rPr kumimoji="0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개선</a:t>
            </a:r>
            <a:r>
              <a:rPr lang="en-US" altLang="ko-KR" sz="105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조치 가이드</a:t>
            </a:r>
            <a:endParaRPr kumimoji="0" lang="en-US" altLang="ko-KR" sz="10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슬라이드 번호 개체 틀 11">
            <a:extLst>
              <a:ext uri="{FF2B5EF4-FFF2-40B4-BE49-F238E27FC236}">
                <a16:creationId xmlns:a16="http://schemas.microsoft.com/office/drawing/2014/main" id="{DC3AC89C-E06C-C40C-CF00-DCBED6EDA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740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81809-923C-6F8B-884D-B46508FCA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D3EB8948-E64D-17E7-772E-96094EB0B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관리체계 진단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4C41EB-C32A-3F0C-2338-75E8740CE075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EY CPA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고객정보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생산환경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연구데이터의 핵심 리스크를 식별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우선순위 기반 개선 방향 도출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en-US" b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2" name="그룹 8">
            <a:extLst>
              <a:ext uri="{FF2B5EF4-FFF2-40B4-BE49-F238E27FC236}">
                <a16:creationId xmlns:a16="http://schemas.microsoft.com/office/drawing/2014/main" id="{198E2FF5-159C-0764-96FF-8A256F3E668D}"/>
              </a:ext>
            </a:extLst>
          </p:cNvPr>
          <p:cNvGrpSpPr/>
          <p:nvPr/>
        </p:nvGrpSpPr>
        <p:grpSpPr>
          <a:xfrm>
            <a:off x="433391" y="1569678"/>
            <a:ext cx="9043984" cy="4588124"/>
            <a:chOff x="433391" y="1880923"/>
            <a:chExt cx="9043984" cy="4284928"/>
          </a:xfrm>
        </p:grpSpPr>
        <p:sp>
          <p:nvSpPr>
            <p:cNvPr id="93" name="직사각형 122">
              <a:extLst>
                <a:ext uri="{FF2B5EF4-FFF2-40B4-BE49-F238E27FC236}">
                  <a16:creationId xmlns:a16="http://schemas.microsoft.com/office/drawing/2014/main" id="{BF18D26C-5B33-A098-4879-A4340FA9BB9D}"/>
                </a:ext>
              </a:extLst>
            </p:cNvPr>
            <p:cNvSpPr/>
            <p:nvPr/>
          </p:nvSpPr>
          <p:spPr bwMode="gray">
            <a:xfrm>
              <a:off x="433391" y="2130388"/>
              <a:ext cx="1719972" cy="2109484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90000" tIns="36000" rIns="90000" bIns="3600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4" name="Rectangle 21">
              <a:extLst>
                <a:ext uri="{FF2B5EF4-FFF2-40B4-BE49-F238E27FC236}">
                  <a16:creationId xmlns:a16="http://schemas.microsoft.com/office/drawing/2014/main" id="{EA7E1995-7774-6FE8-D637-82983AFAE640}"/>
                </a:ext>
              </a:extLst>
            </p:cNvPr>
            <p:cNvSpPr/>
            <p:nvPr/>
          </p:nvSpPr>
          <p:spPr>
            <a:xfrm>
              <a:off x="608288" y="2367593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ISO Standards</a:t>
              </a:r>
              <a:b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(27001/27701 </a:t>
              </a:r>
              <a:r>
                <a:rPr kumimoji="0" lang="ko-KR" altLang="en-US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등</a:t>
              </a: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</a:p>
          </p:txBody>
        </p:sp>
        <p:sp>
          <p:nvSpPr>
            <p:cNvPr id="95" name="Rectangle 21">
              <a:extLst>
                <a:ext uri="{FF2B5EF4-FFF2-40B4-BE49-F238E27FC236}">
                  <a16:creationId xmlns:a16="http://schemas.microsoft.com/office/drawing/2014/main" id="{66EB8ADE-4327-8756-EEF2-3118C628C5BB}"/>
                </a:ext>
              </a:extLst>
            </p:cNvPr>
            <p:cNvSpPr/>
            <p:nvPr/>
          </p:nvSpPr>
          <p:spPr>
            <a:xfrm>
              <a:off x="608288" y="2915429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95000"/>
              </a:schemeClr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0" cap="none" spc="-5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ISMS</a:t>
              </a:r>
              <a:endParaRPr kumimoji="0" lang="ko-KR" altLang="en-US" sz="1200" b="1" i="0" u="none" strike="noStrike" kern="0" cap="none" spc="-50" normalizeH="0" baseline="0" noProof="0" dirty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6" name="Rectangle 21">
              <a:extLst>
                <a:ext uri="{FF2B5EF4-FFF2-40B4-BE49-F238E27FC236}">
                  <a16:creationId xmlns:a16="http://schemas.microsoft.com/office/drawing/2014/main" id="{5E490C48-3869-A639-5990-39E4A93CEF04}"/>
                </a:ext>
              </a:extLst>
            </p:cNvPr>
            <p:cNvSpPr/>
            <p:nvPr/>
          </p:nvSpPr>
          <p:spPr>
            <a:xfrm rot="5400000">
              <a:off x="1236452" y="3919769"/>
              <a:ext cx="274932" cy="303826"/>
            </a:xfrm>
            <a:prstGeom prst="roundRect">
              <a:avLst>
                <a:gd name="adj" fmla="val 0"/>
              </a:avLst>
            </a:prstGeom>
            <a:noFill/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…</a:t>
              </a:r>
            </a:p>
          </p:txBody>
        </p:sp>
        <p:sp>
          <p:nvSpPr>
            <p:cNvPr id="97" name="Rectangle 21">
              <a:extLst>
                <a:ext uri="{FF2B5EF4-FFF2-40B4-BE49-F238E27FC236}">
                  <a16:creationId xmlns:a16="http://schemas.microsoft.com/office/drawing/2014/main" id="{96C29E34-CB98-4CE8-8D3C-110B782806CE}"/>
                </a:ext>
              </a:extLst>
            </p:cNvPr>
            <p:cNvSpPr/>
            <p:nvPr/>
          </p:nvSpPr>
          <p:spPr>
            <a:xfrm>
              <a:off x="608288" y="3437180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GDPR</a:t>
              </a:r>
              <a:endParaRPr kumimoji="0" lang="ko-KR" altLang="en-US" sz="1200" b="0" i="0" u="none" strike="noStrike" kern="0" cap="none" spc="-5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8" name="직사각형 122">
              <a:extLst>
                <a:ext uri="{FF2B5EF4-FFF2-40B4-BE49-F238E27FC236}">
                  <a16:creationId xmlns:a16="http://schemas.microsoft.com/office/drawing/2014/main" id="{3D9A106D-6DA0-CAAC-4E72-F3D5FC72F796}"/>
                </a:ext>
              </a:extLst>
            </p:cNvPr>
            <p:cNvSpPr/>
            <p:nvPr/>
          </p:nvSpPr>
          <p:spPr bwMode="gray">
            <a:xfrm>
              <a:off x="433391" y="4686300"/>
              <a:ext cx="1719972" cy="1226326"/>
            </a:xfrm>
            <a:prstGeom prst="rect">
              <a:avLst/>
            </a:prstGeom>
            <a:solidFill>
              <a:sysClr val="window" lastClr="FFFFFF"/>
            </a:solidFill>
            <a:ln w="6350" algn="ctr">
              <a:solidFill>
                <a:schemeClr val="tx1">
                  <a:lumMod val="75000"/>
                  <a:lumOff val="2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90000" tIns="36000" rIns="90000" bIns="36000" rtlCol="0" anchor="ctr"/>
            <a:lstStyle/>
            <a:p>
              <a:pPr marL="0" marR="0" lvl="0" indent="0" algn="ctr" defTabSz="914400" eaLnBrk="1" fontAlgn="base" latinLnBrk="0" hangingPunct="1">
                <a:lnSpc>
                  <a:spcPct val="110000"/>
                </a:lnSpc>
                <a:spcBef>
                  <a:spcPts val="3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400" b="0" i="0" u="none" strike="noStrike" kern="0" cap="none" spc="-10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99" name="Rectangle 21">
              <a:extLst>
                <a:ext uri="{FF2B5EF4-FFF2-40B4-BE49-F238E27FC236}">
                  <a16:creationId xmlns:a16="http://schemas.microsoft.com/office/drawing/2014/main" id="{CCD1D499-7B3B-8E9B-0EED-C914696F9CF2}"/>
                </a:ext>
              </a:extLst>
            </p:cNvPr>
            <p:cNvSpPr/>
            <p:nvPr/>
          </p:nvSpPr>
          <p:spPr>
            <a:xfrm>
              <a:off x="608288" y="5356190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NIST</a:t>
              </a:r>
              <a:r>
                <a:rPr kumimoji="0" lang="ko-KR" altLang="en-US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RMF</a:t>
              </a:r>
              <a:endParaRPr kumimoji="0" lang="ko-KR" altLang="en-US" sz="1200" b="0" i="0" u="none" strike="noStrike" kern="0" cap="none" spc="-5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0" name="더하기 기호 35">
              <a:extLst>
                <a:ext uri="{FF2B5EF4-FFF2-40B4-BE49-F238E27FC236}">
                  <a16:creationId xmlns:a16="http://schemas.microsoft.com/office/drawing/2014/main" id="{FD9FEAE7-FAEA-8E93-285B-2154FD2EFC29}"/>
                </a:ext>
              </a:extLst>
            </p:cNvPr>
            <p:cNvSpPr/>
            <p:nvPr/>
          </p:nvSpPr>
          <p:spPr>
            <a:xfrm>
              <a:off x="1113377" y="4274557"/>
              <a:ext cx="360000" cy="352757"/>
            </a:xfrm>
            <a:prstGeom prst="mathPlus">
              <a:avLst/>
            </a:prstGeom>
            <a:solidFill>
              <a:srgbClr val="404040"/>
            </a:solidFill>
            <a:ln w="19050" cap="flat" cmpd="sng" algn="ctr">
              <a:solidFill>
                <a:srgbClr val="404040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1" name="Rectangle 2">
              <a:extLst>
                <a:ext uri="{FF2B5EF4-FFF2-40B4-BE49-F238E27FC236}">
                  <a16:creationId xmlns:a16="http://schemas.microsoft.com/office/drawing/2014/main" id="{F6E30CC9-9E4F-FCD3-9E95-2EAF38745181}"/>
                </a:ext>
              </a:extLst>
            </p:cNvPr>
            <p:cNvSpPr/>
            <p:nvPr/>
          </p:nvSpPr>
          <p:spPr>
            <a:xfrm>
              <a:off x="433391" y="1881189"/>
              <a:ext cx="1719972" cy="268839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-5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국내</a:t>
              </a:r>
              <a:r>
                <a:rPr kumimoji="0" lang="en-US" altLang="ko-KR" sz="1400" b="1" i="0" u="none" strike="noStrike" kern="0" cap="none" spc="-5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400" b="1" i="0" u="none" strike="noStrike" kern="0" cap="none" spc="-5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외 인증 표준</a:t>
              </a:r>
            </a:p>
          </p:txBody>
        </p:sp>
        <p:sp>
          <p:nvSpPr>
            <p:cNvPr id="102" name="Rectangle 3">
              <a:extLst>
                <a:ext uri="{FF2B5EF4-FFF2-40B4-BE49-F238E27FC236}">
                  <a16:creationId xmlns:a16="http://schemas.microsoft.com/office/drawing/2014/main" id="{89AE8BDD-D24B-D3D4-811F-73773A3796E8}"/>
                </a:ext>
              </a:extLst>
            </p:cNvPr>
            <p:cNvSpPr/>
            <p:nvPr/>
          </p:nvSpPr>
          <p:spPr>
            <a:xfrm>
              <a:off x="433391" y="5897012"/>
              <a:ext cx="1719972" cy="268839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-5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국내</a:t>
              </a:r>
              <a:r>
                <a:rPr kumimoji="0" lang="en-US" altLang="ko-KR" sz="1400" b="1" i="0" u="none" strike="noStrike" kern="0" cap="none" spc="-5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400" b="1" i="0" u="none" strike="noStrike" kern="0" cap="none" spc="-5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외 컴플라이언스</a:t>
              </a:r>
            </a:p>
          </p:txBody>
        </p:sp>
        <p:grpSp>
          <p:nvGrpSpPr>
            <p:cNvPr id="103" name="dynamictitle__6382540735394620251">
              <a:extLst>
                <a:ext uri="{FF2B5EF4-FFF2-40B4-BE49-F238E27FC236}">
                  <a16:creationId xmlns:a16="http://schemas.microsoft.com/office/drawing/2014/main" id="{0174A71D-DA55-6978-EF14-D06965045C59}"/>
                </a:ext>
              </a:extLst>
            </p:cNvPr>
            <p:cNvGrpSpPr/>
            <p:nvPr>
              <p:custDataLst>
                <p:tags r:id="rId1"/>
              </p:custDataLst>
            </p:nvPr>
          </p:nvGrpSpPr>
          <p:grpSpPr>
            <a:xfrm>
              <a:off x="2328778" y="1880923"/>
              <a:ext cx="7148597" cy="269105"/>
              <a:chOff x="2832361" y="2076205"/>
              <a:chExt cx="3534683" cy="269105"/>
            </a:xfrm>
          </p:grpSpPr>
          <p:sp>
            <p:nvSpPr>
              <p:cNvPr id="171" name="Arrow: Left-Right 41">
                <a:extLst>
                  <a:ext uri="{FF2B5EF4-FFF2-40B4-BE49-F238E27FC236}">
                    <a16:creationId xmlns:a16="http://schemas.microsoft.com/office/drawing/2014/main" id="{FE31A0D8-4762-2C30-20B2-AAEAC036AE5F}"/>
                  </a:ext>
                </a:extLst>
              </p:cNvPr>
              <p:cNvSpPr/>
              <p:nvPr/>
            </p:nvSpPr>
            <p:spPr>
              <a:xfrm>
                <a:off x="2832361" y="2076205"/>
                <a:ext cx="3534683" cy="269105"/>
              </a:xfrm>
              <a:prstGeom prst="leftRightArrow">
                <a:avLst>
                  <a:gd name="adj1" fmla="val 100000"/>
                  <a:gd name="adj2" fmla="val 0"/>
                </a:avLst>
              </a:prstGeom>
              <a:noFill/>
              <a:ln w="9525" cap="flat" cmpd="sng" algn="ctr">
                <a:noFill/>
                <a:prstDash val="solid"/>
              </a:ln>
              <a:effectLst/>
            </p:spPr>
            <p:txBody>
              <a:bodyPr lIns="0" tIns="0" rIns="0" bIns="72000" rtlCol="0" anchor="b" anchorCtr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EY 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CPA : 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보안 관리 체계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위협 탐지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사고 대응 등 기업의 사이버 보안역량을 </a:t>
                </a:r>
                <a:r>
                  <a:rPr kumimoji="0" lang="en-US" altLang="ko-KR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5</a:t>
                </a:r>
                <a:r>
                  <a:rPr kumimoji="0" lang="ko-KR" altLang="en-US" sz="1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단계 성숙도로 평가</a:t>
                </a:r>
                <a:endParaRPr kumimoji="0" lang="en-US" altLang="ko-KR" sz="1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cxnSp>
            <p:nvCxnSpPr>
              <p:cNvPr id="172" name="Straight Connector 42">
                <a:extLst>
                  <a:ext uri="{FF2B5EF4-FFF2-40B4-BE49-F238E27FC236}">
                    <a16:creationId xmlns:a16="http://schemas.microsoft.com/office/drawing/2014/main" id="{1E74C7AA-AD06-20F3-B7FE-190683570766}"/>
                  </a:ext>
                </a:extLst>
              </p:cNvPr>
              <p:cNvCxnSpPr>
                <a:stCxn id="171" idx="4"/>
                <a:endCxn id="171" idx="6"/>
              </p:cNvCxnSpPr>
              <p:nvPr/>
            </p:nvCxnSpPr>
            <p:spPr>
              <a:xfrm>
                <a:off x="2832361" y="2345310"/>
                <a:ext cx="3534683" cy="0"/>
              </a:xfrm>
              <a:prstGeom prst="line">
                <a:avLst/>
              </a:prstGeom>
              <a:noFill/>
              <a:ln w="9525" cap="flat" cmpd="sng" algn="ctr">
                <a:solidFill>
                  <a:srgbClr val="74748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104" name="그룹 5">
              <a:extLst>
                <a:ext uri="{FF2B5EF4-FFF2-40B4-BE49-F238E27FC236}">
                  <a16:creationId xmlns:a16="http://schemas.microsoft.com/office/drawing/2014/main" id="{4C7707F3-3B3B-5B9D-ABB9-CEA0DC8A4EB8}"/>
                </a:ext>
              </a:extLst>
            </p:cNvPr>
            <p:cNvGrpSpPr/>
            <p:nvPr/>
          </p:nvGrpSpPr>
          <p:grpSpPr>
            <a:xfrm>
              <a:off x="2328260" y="2289727"/>
              <a:ext cx="7143381" cy="3443530"/>
              <a:chOff x="1156214" y="2564376"/>
              <a:chExt cx="7589740" cy="3461557"/>
            </a:xfrm>
          </p:grpSpPr>
          <p:sp>
            <p:nvSpPr>
              <p:cNvPr id="113" name="Rectangle 79">
                <a:extLst>
                  <a:ext uri="{FF2B5EF4-FFF2-40B4-BE49-F238E27FC236}">
                    <a16:creationId xmlns:a16="http://schemas.microsoft.com/office/drawing/2014/main" id="{7089325D-B4C4-835A-CAED-91C94100A2E7}"/>
                  </a:ext>
                </a:extLst>
              </p:cNvPr>
              <p:cNvSpPr/>
              <p:nvPr/>
            </p:nvSpPr>
            <p:spPr>
              <a:xfrm>
                <a:off x="1156214" y="2564376"/>
                <a:ext cx="7589740" cy="346155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noFill/>
                <a:prstDash val="solid"/>
              </a:ln>
              <a:effectLst/>
            </p:spPr>
            <p:txBody>
              <a:bodyPr wrap="square" lIns="0" tIns="0" rIns="0" bIns="0" rtlCol="0" anchor="t" anchorCtr="0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000" b="0" i="0" u="none" strike="noStrike" kern="0" cap="none" spc="-5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grpSp>
            <p:nvGrpSpPr>
              <p:cNvPr id="114" name="Group 80">
                <a:extLst>
                  <a:ext uri="{FF2B5EF4-FFF2-40B4-BE49-F238E27FC236}">
                    <a16:creationId xmlns:a16="http://schemas.microsoft.com/office/drawing/2014/main" id="{96529BDC-EDF4-BB9E-418B-F055EDC6008A}"/>
                  </a:ext>
                </a:extLst>
              </p:cNvPr>
              <p:cNvGrpSpPr/>
              <p:nvPr/>
            </p:nvGrpSpPr>
            <p:grpSpPr>
              <a:xfrm>
                <a:off x="1212235" y="2609975"/>
                <a:ext cx="7490254" cy="3415958"/>
                <a:chOff x="621952" y="1137915"/>
                <a:chExt cx="10966481" cy="5001304"/>
              </a:xfrm>
            </p:grpSpPr>
            <p:sp>
              <p:nvSpPr>
                <p:cNvPr id="115" name="Rectangle 81">
                  <a:extLst>
                    <a:ext uri="{FF2B5EF4-FFF2-40B4-BE49-F238E27FC236}">
                      <a16:creationId xmlns:a16="http://schemas.microsoft.com/office/drawing/2014/main" id="{496E4873-8F4B-B385-E97A-1E18366428DC}"/>
                    </a:ext>
                  </a:extLst>
                </p:cNvPr>
                <p:cNvSpPr/>
                <p:nvPr/>
              </p:nvSpPr>
              <p:spPr>
                <a:xfrm>
                  <a:off x="621952" y="1137915"/>
                  <a:ext cx="10954445" cy="5001304"/>
                </a:xfrm>
                <a:prstGeom prst="rect">
                  <a:avLst/>
                </a:prstGeom>
                <a:solidFill>
                  <a:srgbClr val="F2F2F2"/>
                </a:solidFill>
                <a:ln w="9525" cap="flat" cmpd="sng" algn="ctr">
                  <a:noFill/>
                  <a:prstDash val="solid"/>
                </a:ln>
                <a:effectLst/>
              </p:spPr>
              <p:txBody>
                <a:bodyPr wrap="square" lIns="0" tIns="0" rIns="0" bIns="0" rtlCol="0" anchor="t" anchorCtr="0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000" b="0" i="0" u="none" strike="noStrike" kern="0" cap="none" spc="-5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endParaRPr>
                </a:p>
              </p:txBody>
            </p:sp>
            <p:grpSp>
              <p:nvGrpSpPr>
                <p:cNvPr id="116" name="Group 82">
                  <a:extLst>
                    <a:ext uri="{FF2B5EF4-FFF2-40B4-BE49-F238E27FC236}">
                      <a16:creationId xmlns:a16="http://schemas.microsoft.com/office/drawing/2014/main" id="{F96AE1CE-114D-D68E-EAA9-64EC6FD38BB9}"/>
                    </a:ext>
                  </a:extLst>
                </p:cNvPr>
                <p:cNvGrpSpPr/>
                <p:nvPr/>
              </p:nvGrpSpPr>
              <p:grpSpPr>
                <a:xfrm>
                  <a:off x="621953" y="1137915"/>
                  <a:ext cx="10966480" cy="5001304"/>
                  <a:chOff x="621953" y="1137915"/>
                  <a:chExt cx="10966480" cy="5001304"/>
                </a:xfrm>
              </p:grpSpPr>
              <p:sp>
                <p:nvSpPr>
                  <p:cNvPr id="117" name="Rectangle 83">
                    <a:extLst>
                      <a:ext uri="{FF2B5EF4-FFF2-40B4-BE49-F238E27FC236}">
                        <a16:creationId xmlns:a16="http://schemas.microsoft.com/office/drawing/2014/main" id="{DD559DC2-5C51-7210-FEB2-9C1C9CEE7AE9}"/>
                      </a:ext>
                    </a:extLst>
                  </p:cNvPr>
                  <p:cNvSpPr/>
                  <p:nvPr/>
                </p:nvSpPr>
                <p:spPr>
                  <a:xfrm>
                    <a:off x="5023104" y="1279434"/>
                    <a:ext cx="2541347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데이터 보호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18" name="Rectangle 84">
                    <a:extLst>
                      <a:ext uri="{FF2B5EF4-FFF2-40B4-BE49-F238E27FC236}">
                        <a16:creationId xmlns:a16="http://schemas.microsoft.com/office/drawing/2014/main" id="{7D001CBB-8BA2-C9CD-F914-5C480A8AFCA3}"/>
                      </a:ext>
                    </a:extLst>
                  </p:cNvPr>
                  <p:cNvSpPr/>
                  <p:nvPr/>
                </p:nvSpPr>
                <p:spPr>
                  <a:xfrm>
                    <a:off x="5062807" y="2534924"/>
                    <a:ext cx="2511473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none" lIns="36000" tIns="36000" rIns="36000" bIns="36000" rtlCol="0" anchor="ctr" anchorCtr="0">
                    <a:noAutofit/>
                  </a:bodyPr>
                  <a:lstStyle/>
                  <a:p>
                    <a:pPr marL="449263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식별 및 접근 관리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19" name="Rectangle 85">
                    <a:extLst>
                      <a:ext uri="{FF2B5EF4-FFF2-40B4-BE49-F238E27FC236}">
                        <a16:creationId xmlns:a16="http://schemas.microsoft.com/office/drawing/2014/main" id="{93C910AA-93E6-38E3-D2C8-8B0C5592A12A}"/>
                      </a:ext>
                    </a:extLst>
                  </p:cNvPr>
                  <p:cNvSpPr/>
                  <p:nvPr/>
                </p:nvSpPr>
                <p:spPr>
                  <a:xfrm>
                    <a:off x="5158739" y="3802672"/>
                    <a:ext cx="1686439" cy="601688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none" lIns="36000" tIns="36000" rIns="36000" bIns="36000" rtlCol="0" anchor="ctr" anchorCtr="0">
                    <a:noAutofit/>
                  </a:bodyPr>
                  <a:lstStyle/>
                  <a:p>
                    <a:pPr marL="449263" marR="0" lvl="0" indent="0" algn="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아키텍처</a:t>
                    </a:r>
                    <a: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&amp;</a:t>
                    </a:r>
                  </a:p>
                  <a:p>
                    <a:pPr marL="449263" marR="0" lvl="0" indent="0" algn="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엔지니어링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0" name="Rectangle 86">
                    <a:extLst>
                      <a:ext uri="{FF2B5EF4-FFF2-40B4-BE49-F238E27FC236}">
                        <a16:creationId xmlns:a16="http://schemas.microsoft.com/office/drawing/2014/main" id="{E53A6CD0-1C45-334C-607E-FB49DC348D99}"/>
                      </a:ext>
                    </a:extLst>
                  </p:cNvPr>
                  <p:cNvSpPr/>
                  <p:nvPr/>
                </p:nvSpPr>
                <p:spPr>
                  <a:xfrm>
                    <a:off x="5158739" y="4470400"/>
                    <a:ext cx="1686439" cy="259556"/>
                  </a:xfrm>
                  <a:prstGeom prst="rect">
                    <a:avLst/>
                  </a:prstGeom>
                  <a:solidFill>
                    <a:srgbClr val="FAFAFA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388938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제품 보안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1" name="Rectangle 87">
                    <a:extLst>
                      <a:ext uri="{FF2B5EF4-FFF2-40B4-BE49-F238E27FC236}">
                        <a16:creationId xmlns:a16="http://schemas.microsoft.com/office/drawing/2014/main" id="{722C0C37-4BB6-F045-EEEB-0292F6DB6C86}"/>
                      </a:ext>
                    </a:extLst>
                  </p:cNvPr>
                  <p:cNvSpPr/>
                  <p:nvPr/>
                </p:nvSpPr>
                <p:spPr>
                  <a:xfrm>
                    <a:off x="5100318" y="5093655"/>
                    <a:ext cx="1552351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431800" marR="0" lvl="0" indent="0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취약점 식별 및 개선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2" name="Oval 88">
                    <a:extLst>
                      <a:ext uri="{FF2B5EF4-FFF2-40B4-BE49-F238E27FC236}">
                        <a16:creationId xmlns:a16="http://schemas.microsoft.com/office/drawing/2014/main" id="{013A3D23-6E0F-DB59-EB68-D53633FADC19}"/>
                      </a:ext>
                    </a:extLst>
                  </p:cNvPr>
                  <p:cNvSpPr/>
                  <p:nvPr/>
                </p:nvSpPr>
                <p:spPr>
                  <a:xfrm>
                    <a:off x="4302407" y="2393409"/>
                    <a:ext cx="1234800" cy="1234832"/>
                  </a:xfrm>
                  <a:prstGeom prst="ellipse">
                    <a:avLst/>
                  </a:prstGeom>
                  <a:solidFill>
                    <a:srgbClr val="F2F2F2"/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3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3" name="Oval 89">
                    <a:extLst>
                      <a:ext uri="{FF2B5EF4-FFF2-40B4-BE49-F238E27FC236}">
                        <a16:creationId xmlns:a16="http://schemas.microsoft.com/office/drawing/2014/main" id="{DB3DD5DB-408A-1B78-9F91-AC1CDA924FC8}"/>
                      </a:ext>
                    </a:extLst>
                  </p:cNvPr>
                  <p:cNvSpPr/>
                  <p:nvPr/>
                </p:nvSpPr>
                <p:spPr>
                  <a:xfrm>
                    <a:off x="4302407" y="3648897"/>
                    <a:ext cx="1234800" cy="1234832"/>
                  </a:xfrm>
                  <a:prstGeom prst="ellipse">
                    <a:avLst/>
                  </a:prstGeom>
                  <a:solidFill>
                    <a:srgbClr val="F2F2F2"/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5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4" name="Oval 90">
                    <a:extLst>
                      <a:ext uri="{FF2B5EF4-FFF2-40B4-BE49-F238E27FC236}">
                        <a16:creationId xmlns:a16="http://schemas.microsoft.com/office/drawing/2014/main" id="{51216DC2-9403-8F23-692E-218B5B97FF71}"/>
                      </a:ext>
                    </a:extLst>
                  </p:cNvPr>
                  <p:cNvSpPr/>
                  <p:nvPr/>
                </p:nvSpPr>
                <p:spPr>
                  <a:xfrm>
                    <a:off x="4302407" y="4904387"/>
                    <a:ext cx="1234800" cy="1234832"/>
                  </a:xfrm>
                  <a:prstGeom prst="ellipse">
                    <a:avLst/>
                  </a:prstGeom>
                  <a:solidFill>
                    <a:sysClr val="window" lastClr="FFFFFF">
                      <a:lumMod val="95000"/>
                    </a:sysClr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6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5" name="Oval 91">
                    <a:extLst>
                      <a:ext uri="{FF2B5EF4-FFF2-40B4-BE49-F238E27FC236}">
                        <a16:creationId xmlns:a16="http://schemas.microsoft.com/office/drawing/2014/main" id="{8198C036-2282-53EB-69FF-1142FFF249D3}"/>
                      </a:ext>
                    </a:extLst>
                  </p:cNvPr>
                  <p:cNvSpPr/>
                  <p:nvPr/>
                </p:nvSpPr>
                <p:spPr>
                  <a:xfrm>
                    <a:off x="4302407" y="1137919"/>
                    <a:ext cx="1234800" cy="1234832"/>
                  </a:xfrm>
                  <a:prstGeom prst="ellipse">
                    <a:avLst/>
                  </a:prstGeom>
                  <a:solidFill>
                    <a:srgbClr val="F2F2F2"/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2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7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6" name="Rectangle 92">
                    <a:extLst>
                      <a:ext uri="{FF2B5EF4-FFF2-40B4-BE49-F238E27FC236}">
                        <a16:creationId xmlns:a16="http://schemas.microsoft.com/office/drawing/2014/main" id="{319C4259-215A-B1FD-9B45-B3D30B94F742}"/>
                      </a:ext>
                    </a:extLst>
                  </p:cNvPr>
                  <p:cNvSpPr/>
                  <p:nvPr/>
                </p:nvSpPr>
                <p:spPr>
                  <a:xfrm>
                    <a:off x="10312772" y="1137919"/>
                    <a:ext cx="911956" cy="2432083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1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36000" tIns="0" rIns="3600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모니터링</a:t>
                    </a:r>
                    <a: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&amp; </a:t>
                    </a: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리포팅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27" name="Rectangle 93">
                    <a:extLst>
                      <a:ext uri="{FF2B5EF4-FFF2-40B4-BE49-F238E27FC236}">
                        <a16:creationId xmlns:a16="http://schemas.microsoft.com/office/drawing/2014/main" id="{93827E59-2BE5-F9BD-9570-5B3609E76F85}"/>
                      </a:ext>
                    </a:extLst>
                  </p:cNvPr>
                  <p:cNvSpPr/>
                  <p:nvPr/>
                </p:nvSpPr>
                <p:spPr>
                  <a:xfrm>
                    <a:off x="10312772" y="3653757"/>
                    <a:ext cx="911956" cy="2432083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  <a:extLst>
                    <a:ext uri="{91240B29-F687-4F45-9708-019B960494DF}">
                      <a14:hiddenLine xmlns:a14="http://schemas.microsoft.com/office/drawing/2010/main" w="9525" cap="flat" cmpd="sng" algn="ctr">
                        <a:solidFill>
                          <a:schemeClr val="accent1"/>
                        </a:solidFill>
                        <a:prstDash val="solid"/>
                      </a14:hiddenLine>
                    </a:ext>
                  </a:extLst>
                </p:spPr>
                <p:txBody>
                  <a:bodyPr wrap="square" lIns="36000" tIns="0" rIns="3600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컴플라이언스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cxnSp>
                <p:nvCxnSpPr>
                  <p:cNvPr id="128" name="Straight Connector 94">
                    <a:extLst>
                      <a:ext uri="{FF2B5EF4-FFF2-40B4-BE49-F238E27FC236}">
                        <a16:creationId xmlns:a16="http://schemas.microsoft.com/office/drawing/2014/main" id="{5C0CAF1F-A26C-C554-C527-01FCF8F8BB03}"/>
                      </a:ext>
                    </a:extLst>
                  </p:cNvPr>
                  <p:cNvCxnSpPr/>
                  <p:nvPr/>
                </p:nvCxnSpPr>
                <p:spPr>
                  <a:xfrm>
                    <a:off x="10122716" y="1137920"/>
                    <a:ext cx="0" cy="4947920"/>
                  </a:xfrm>
                  <a:prstGeom prst="line">
                    <a:avLst/>
                  </a:prstGeom>
                  <a:solidFill>
                    <a:srgbClr val="FFFFFF"/>
                  </a:solidFill>
                  <a:ln w="9525" cap="flat" cmpd="sng" algn="ctr">
                    <a:solidFill>
                      <a:srgbClr val="2E2E38"/>
                    </a:solidFill>
                    <a:prstDash val="dash"/>
                    <a:headEnd type="oval"/>
                    <a:tailEnd type="oval"/>
                  </a:ln>
                  <a:effectLst/>
                </p:spPr>
              </p:cxnSp>
              <p:sp>
                <p:nvSpPr>
                  <p:cNvPr id="129" name="Isosceles Triangle 95">
                    <a:extLst>
                      <a:ext uri="{FF2B5EF4-FFF2-40B4-BE49-F238E27FC236}">
                        <a16:creationId xmlns:a16="http://schemas.microsoft.com/office/drawing/2014/main" id="{D9E2CD0D-5DE0-366E-A3B3-A4421A32075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0036289" y="3528684"/>
                    <a:ext cx="329087" cy="166394"/>
                  </a:xfrm>
                  <a:prstGeom prst="triangle">
                    <a:avLst/>
                  </a:prstGeom>
                  <a:solidFill>
                    <a:srgbClr val="333333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0" name="Rectangle 96">
                    <a:extLst>
                      <a:ext uri="{FF2B5EF4-FFF2-40B4-BE49-F238E27FC236}">
                        <a16:creationId xmlns:a16="http://schemas.microsoft.com/office/drawing/2014/main" id="{CC8AF5FB-2AA1-F0A2-18EC-4BA8D5E7EFE5}"/>
                      </a:ext>
                    </a:extLst>
                  </p:cNvPr>
                  <p:cNvSpPr/>
                  <p:nvPr/>
                </p:nvSpPr>
                <p:spPr>
                  <a:xfrm>
                    <a:off x="7651976" y="1279434"/>
                    <a:ext cx="2276883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개인정보 보호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1" name="Rectangle 97">
                    <a:extLst>
                      <a:ext uri="{FF2B5EF4-FFF2-40B4-BE49-F238E27FC236}">
                        <a16:creationId xmlns:a16="http://schemas.microsoft.com/office/drawing/2014/main" id="{CB2FB456-6EB9-BA91-65D6-43192132E339}"/>
                      </a:ext>
                    </a:extLst>
                  </p:cNvPr>
                  <p:cNvSpPr/>
                  <p:nvPr/>
                </p:nvSpPr>
                <p:spPr>
                  <a:xfrm>
                    <a:off x="7661314" y="2534924"/>
                    <a:ext cx="2267545" cy="951802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내부자 위협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2" name="Rectangle 98">
                    <a:extLst>
                      <a:ext uri="{FF2B5EF4-FFF2-40B4-BE49-F238E27FC236}">
                        <a16:creationId xmlns:a16="http://schemas.microsoft.com/office/drawing/2014/main" id="{B86CD29D-5D36-0BDD-E567-69D66A393597}"/>
                      </a:ext>
                    </a:extLst>
                  </p:cNvPr>
                  <p:cNvSpPr/>
                  <p:nvPr/>
                </p:nvSpPr>
                <p:spPr>
                  <a:xfrm>
                    <a:off x="6911528" y="3802672"/>
                    <a:ext cx="1169574" cy="601688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 인프라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3" name="Rectangle 99">
                    <a:extLst>
                      <a:ext uri="{FF2B5EF4-FFF2-40B4-BE49-F238E27FC236}">
                        <a16:creationId xmlns:a16="http://schemas.microsoft.com/office/drawing/2014/main" id="{815DE33B-85B4-96D4-8737-4957FA30555B}"/>
                      </a:ext>
                    </a:extLst>
                  </p:cNvPr>
                  <p:cNvSpPr/>
                  <p:nvPr/>
                </p:nvSpPr>
                <p:spPr>
                  <a:xfrm>
                    <a:off x="8168640" y="3802672"/>
                    <a:ext cx="1760219" cy="601687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개발 보안 관리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4" name="Rectangle 100">
                    <a:extLst>
                      <a:ext uri="{FF2B5EF4-FFF2-40B4-BE49-F238E27FC236}">
                        <a16:creationId xmlns:a16="http://schemas.microsoft.com/office/drawing/2014/main" id="{4ADCB672-9450-E444-5C66-43428814582C}"/>
                      </a:ext>
                    </a:extLst>
                  </p:cNvPr>
                  <p:cNvSpPr/>
                  <p:nvPr/>
                </p:nvSpPr>
                <p:spPr>
                  <a:xfrm>
                    <a:off x="6911528" y="4470400"/>
                    <a:ext cx="1169574" cy="259556"/>
                  </a:xfrm>
                  <a:prstGeom prst="rect">
                    <a:avLst/>
                  </a:prstGeom>
                  <a:solidFill>
                    <a:srgbClr val="FAFAFA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Cloud </a:t>
                    </a: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5" name="Rectangle 101">
                    <a:extLst>
                      <a:ext uri="{FF2B5EF4-FFF2-40B4-BE49-F238E27FC236}">
                        <a16:creationId xmlns:a16="http://schemas.microsoft.com/office/drawing/2014/main" id="{470240EE-14C9-1437-F21C-3DAA4A88B483}"/>
                      </a:ext>
                    </a:extLst>
                  </p:cNvPr>
                  <p:cNvSpPr/>
                  <p:nvPr/>
                </p:nvSpPr>
                <p:spPr>
                  <a:xfrm>
                    <a:off x="8168640" y="4470400"/>
                    <a:ext cx="1760219" cy="259556"/>
                  </a:xfrm>
                  <a:prstGeom prst="rect">
                    <a:avLst/>
                  </a:prstGeom>
                  <a:solidFill>
                    <a:srgbClr val="FAFAFA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운영기술 보안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6" name="Rectangle 102">
                    <a:extLst>
                      <a:ext uri="{FF2B5EF4-FFF2-40B4-BE49-F238E27FC236}">
                        <a16:creationId xmlns:a16="http://schemas.microsoft.com/office/drawing/2014/main" id="{D7A55851-FE96-86CD-0103-D3395D5FF7E3}"/>
                      </a:ext>
                    </a:extLst>
                  </p:cNvPr>
                  <p:cNvSpPr/>
                  <p:nvPr/>
                </p:nvSpPr>
                <p:spPr>
                  <a:xfrm>
                    <a:off x="6725920" y="5093655"/>
                    <a:ext cx="1018813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위협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 err="1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인텔리전스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7" name="Rectangle 103">
                    <a:extLst>
                      <a:ext uri="{FF2B5EF4-FFF2-40B4-BE49-F238E27FC236}">
                        <a16:creationId xmlns:a16="http://schemas.microsoft.com/office/drawing/2014/main" id="{57A4CC17-42A9-3D13-D3FB-ACDC15C19C02}"/>
                      </a:ext>
                    </a:extLst>
                  </p:cNvPr>
                  <p:cNvSpPr/>
                  <p:nvPr/>
                </p:nvSpPr>
                <p:spPr>
                  <a:xfrm>
                    <a:off x="7817982" y="5093655"/>
                    <a:ext cx="1018813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모니터링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8" name="Rectangle 104">
                    <a:extLst>
                      <a:ext uri="{FF2B5EF4-FFF2-40B4-BE49-F238E27FC236}">
                        <a16:creationId xmlns:a16="http://schemas.microsoft.com/office/drawing/2014/main" id="{7710FAB4-528D-35EE-9A94-6C364F026B77}"/>
                      </a:ext>
                    </a:extLst>
                  </p:cNvPr>
                  <p:cNvSpPr/>
                  <p:nvPr/>
                </p:nvSpPr>
                <p:spPr>
                  <a:xfrm>
                    <a:off x="8910045" y="5093655"/>
                    <a:ext cx="1018813" cy="887700"/>
                  </a:xfrm>
                  <a:prstGeom prst="rect">
                    <a:avLst/>
                  </a:prstGeom>
                  <a:solidFill>
                    <a:srgbClr val="E8E8E8">
                      <a:lumMod val="20000"/>
                      <a:lumOff val="80000"/>
                    </a:srgbClr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wrap="square" lIns="36000" tIns="36000" rIns="36000" bIns="3600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침해사고</a:t>
                    </a:r>
                    <a:br>
                      <a: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대응</a:t>
                    </a:r>
                    <a:endParaRPr kumimoji="0" lang="en-US" altLang="ko-KR" sz="900" b="1" i="0" u="none" strike="noStrike" kern="0" cap="none" spc="-50" normalizeH="0" baseline="0" noProof="0">
                      <a:ln>
                        <a:noFill/>
                      </a:ln>
                      <a:solidFill>
                        <a:srgbClr val="2E2E38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39" name="Rectangle 105">
                    <a:extLst>
                      <a:ext uri="{FF2B5EF4-FFF2-40B4-BE49-F238E27FC236}">
                        <a16:creationId xmlns:a16="http://schemas.microsoft.com/office/drawing/2014/main" id="{173E4D86-76B6-F47A-5BF7-0F8A31F18736}"/>
                      </a:ext>
                    </a:extLst>
                  </p:cNvPr>
                  <p:cNvSpPr/>
                  <p:nvPr/>
                </p:nvSpPr>
                <p:spPr>
                  <a:xfrm>
                    <a:off x="4876799" y="2455988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0" name="Rectangle 106">
                    <a:extLst>
                      <a:ext uri="{FF2B5EF4-FFF2-40B4-BE49-F238E27FC236}">
                        <a16:creationId xmlns:a16="http://schemas.microsoft.com/office/drawing/2014/main" id="{101E8A05-F504-AEC1-F0B4-726EEC0AE608}"/>
                      </a:ext>
                    </a:extLst>
                  </p:cNvPr>
                  <p:cNvSpPr/>
                  <p:nvPr/>
                </p:nvSpPr>
                <p:spPr>
                  <a:xfrm>
                    <a:off x="4876799" y="3711476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1" name="Rectangle 107">
                    <a:extLst>
                      <a:ext uri="{FF2B5EF4-FFF2-40B4-BE49-F238E27FC236}">
                        <a16:creationId xmlns:a16="http://schemas.microsoft.com/office/drawing/2014/main" id="{B93157B6-AA93-5B80-9105-41AF82FDE81C}"/>
                      </a:ext>
                    </a:extLst>
                  </p:cNvPr>
                  <p:cNvSpPr/>
                  <p:nvPr/>
                </p:nvSpPr>
                <p:spPr>
                  <a:xfrm>
                    <a:off x="4876799" y="1200498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2" name="Rectangle 108">
                    <a:extLst>
                      <a:ext uri="{FF2B5EF4-FFF2-40B4-BE49-F238E27FC236}">
                        <a16:creationId xmlns:a16="http://schemas.microsoft.com/office/drawing/2014/main" id="{5299F0E4-34A6-1926-228A-F85116DD9B27}"/>
                      </a:ext>
                    </a:extLst>
                  </p:cNvPr>
                  <p:cNvSpPr/>
                  <p:nvPr/>
                </p:nvSpPr>
                <p:spPr>
                  <a:xfrm>
                    <a:off x="11292840" y="1137920"/>
                    <a:ext cx="295593" cy="4947921"/>
                  </a:xfrm>
                  <a:prstGeom prst="rect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vert270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거버넌스</a:t>
                    </a:r>
                    <a:r>
                      <a: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, </a:t>
                    </a: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리스크</a:t>
                    </a:r>
                    <a:r>
                      <a: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, </a:t>
                    </a:r>
                    <a:r>
                      <a:rPr kumimoji="0" lang="ko-KR" altLang="en-US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컴플라이언스</a:t>
                    </a:r>
                    <a:endParaRPr kumimoji="0" lang="en-US" altLang="ko-KR" sz="9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grpSp>
                <p:nvGrpSpPr>
                  <p:cNvPr id="143" name="Group 109">
                    <a:extLst>
                      <a:ext uri="{FF2B5EF4-FFF2-40B4-BE49-F238E27FC236}">
                        <a16:creationId xmlns:a16="http://schemas.microsoft.com/office/drawing/2014/main" id="{CF7F3ACF-B3E6-065A-10EA-A8780CA16531}"/>
                      </a:ext>
                    </a:extLst>
                  </p:cNvPr>
                  <p:cNvGrpSpPr/>
                  <p:nvPr/>
                </p:nvGrpSpPr>
                <p:grpSpPr>
                  <a:xfrm>
                    <a:off x="621953" y="1137915"/>
                    <a:ext cx="3556528" cy="4947929"/>
                    <a:chOff x="-76456" y="1137915"/>
                    <a:chExt cx="3556528" cy="4947929"/>
                  </a:xfrm>
                </p:grpSpPr>
                <p:sp>
                  <p:nvSpPr>
                    <p:cNvPr id="149" name="Rectangle 115">
                      <a:extLst>
                        <a:ext uri="{FF2B5EF4-FFF2-40B4-BE49-F238E27FC236}">
                          <a16:creationId xmlns:a16="http://schemas.microsoft.com/office/drawing/2014/main" id="{672AA72A-D810-E017-098F-7A92FF6DE8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1137920"/>
                      <a:ext cx="2396750" cy="320490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vert="horz" wrap="square" lIns="0" tIns="0" rIns="0" bIns="0" rtlCol="0" anchor="ctr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거버넌스</a:t>
                      </a:r>
                      <a:r>
                        <a:rPr kumimoji="0" lang="en-US" altLang="ko-KR" sz="8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0" lang="ko-KR" altLang="en-US" sz="8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리스크 및 컴플라이언스</a:t>
                      </a:r>
                      <a:endPara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0" name="Rectangle 116">
                      <a:extLst>
                        <a:ext uri="{FF2B5EF4-FFF2-40B4-BE49-F238E27FC236}">
                          <a16:creationId xmlns:a16="http://schemas.microsoft.com/office/drawing/2014/main" id="{4DC18EB4-AEFC-CD0E-B454-F18BEAB9CA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2656158"/>
                      <a:ext cx="2396750" cy="1094485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1" name="Rectangle 117">
                      <a:extLst>
                        <a:ext uri="{FF2B5EF4-FFF2-40B4-BE49-F238E27FC236}">
                          <a16:creationId xmlns:a16="http://schemas.microsoft.com/office/drawing/2014/main" id="{26E92E7D-8D7D-F1CA-F2EA-BF86B363A6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1509913"/>
                      <a:ext cx="2396750" cy="1051779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2" name="Rectangle 118">
                      <a:extLst>
                        <a:ext uri="{FF2B5EF4-FFF2-40B4-BE49-F238E27FC236}">
                          <a16:creationId xmlns:a16="http://schemas.microsoft.com/office/drawing/2014/main" id="{E9432038-7E10-8237-BD8A-475C634C63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3845109"/>
                      <a:ext cx="2396750" cy="1094485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3" name="Rectangle 119">
                      <a:extLst>
                        <a:ext uri="{FF2B5EF4-FFF2-40B4-BE49-F238E27FC236}">
                          <a16:creationId xmlns:a16="http://schemas.microsoft.com/office/drawing/2014/main" id="{D0B92261-89E2-C8FA-49EA-64087F44B2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83322" y="5034061"/>
                      <a:ext cx="2396750" cy="1051779"/>
                    </a:xfrm>
                    <a:prstGeom prst="rect">
                      <a:avLst/>
                    </a:pr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t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4" name="Freeform: Shape 120">
                      <a:extLst>
                        <a:ext uri="{FF2B5EF4-FFF2-40B4-BE49-F238E27FC236}">
                          <a16:creationId xmlns:a16="http://schemas.microsoft.com/office/drawing/2014/main" id="{5E6ACB5D-E286-07EC-D8D1-644C28E8D7E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197696" y="3081347"/>
                      <a:ext cx="3237465" cy="1477623"/>
                    </a:xfrm>
                    <a:custGeom>
                      <a:avLst/>
                      <a:gdLst>
                        <a:gd name="connsiteX0" fmla="*/ 0 w 3237465"/>
                        <a:gd name="connsiteY0" fmla="*/ 1477623 h 1477623"/>
                        <a:gd name="connsiteX1" fmla="*/ 7349 w 3237465"/>
                        <a:gd name="connsiteY1" fmla="*/ 1399364 h 1477623"/>
                        <a:gd name="connsiteX2" fmla="*/ 776676 w 3237465"/>
                        <a:gd name="connsiteY2" fmla="*/ 232160 h 1477623"/>
                        <a:gd name="connsiteX3" fmla="*/ 1619035 w 3237465"/>
                        <a:gd name="connsiteY3" fmla="*/ 0 h 1477623"/>
                        <a:gd name="connsiteX4" fmla="*/ 2461307 w 3237465"/>
                        <a:gd name="connsiteY4" fmla="*/ 232466 h 1477623"/>
                        <a:gd name="connsiteX5" fmla="*/ 3230201 w 3237465"/>
                        <a:gd name="connsiteY5" fmla="*/ 1399958 h 1477623"/>
                        <a:gd name="connsiteX6" fmla="*/ 3237465 w 3237465"/>
                        <a:gd name="connsiteY6" fmla="*/ 1477623 h 1477623"/>
                        <a:gd name="connsiteX7" fmla="*/ 0 w 3237465"/>
                        <a:gd name="connsiteY7" fmla="*/ 1477623 h 1477623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3237465" h="1477623">
                          <a:moveTo>
                            <a:pt x="0" y="1477623"/>
                          </a:moveTo>
                          <a:lnTo>
                            <a:pt x="7349" y="1399364"/>
                          </a:lnTo>
                          <a:cubicBezTo>
                            <a:pt x="69394" y="920987"/>
                            <a:pt x="348338" y="488351"/>
                            <a:pt x="776676" y="232160"/>
                          </a:cubicBezTo>
                          <a:cubicBezTo>
                            <a:pt x="1035541" y="77332"/>
                            <a:pt x="1327295" y="-53"/>
                            <a:pt x="1619035" y="0"/>
                          </a:cubicBezTo>
                          <a:cubicBezTo>
                            <a:pt x="1910774" y="53"/>
                            <a:pt x="2202500" y="77543"/>
                            <a:pt x="2461307" y="232466"/>
                          </a:cubicBezTo>
                          <a:cubicBezTo>
                            <a:pt x="2889553" y="488814"/>
                            <a:pt x="3168337" y="921555"/>
                            <a:pt x="3230201" y="1399958"/>
                          </a:cubicBezTo>
                          <a:lnTo>
                            <a:pt x="3237465" y="1477623"/>
                          </a:lnTo>
                          <a:lnTo>
                            <a:pt x="0" y="1477623"/>
                          </a:lnTo>
                          <a:close/>
                        </a:path>
                      </a:pathLst>
                    </a:custGeom>
                    <a:solidFill>
                      <a:sysClr val="window" lastClr="FFFFFF">
                        <a:lumMod val="95000"/>
                      </a:sysClr>
                    </a:solidFill>
                    <a:ln w="9525" cap="flat" cmpd="sng" algn="ctr">
                      <a:noFill/>
                      <a:prstDash val="dash"/>
                      <a:headEnd type="oval"/>
                      <a:tailEnd type="oval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bg1"/>
                          </a:solidFill>
                          <a:prstDash val="dash"/>
                          <a:headEnd type="oval"/>
                          <a:tailEnd type="oval"/>
                        </a14:hiddenLine>
                      </a:ext>
                    </a:extLst>
                  </p:spPr>
                  <p:txBody>
                    <a:bodyPr wrap="square" lIns="0" tIns="0" rIns="0" bIns="0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5" name="Freeform: Shape 121">
                      <a:extLst>
                        <a:ext uri="{FF2B5EF4-FFF2-40B4-BE49-F238E27FC236}">
                          <a16:creationId xmlns:a16="http://schemas.microsoft.com/office/drawing/2014/main" id="{2DCE4C6D-0D9C-4BAA-D5EF-C7D3C0C8E90C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396529" y="3254305"/>
                      <a:ext cx="2808662" cy="1132841"/>
                    </a:xfrm>
                    <a:custGeom>
                      <a:avLst/>
                      <a:gdLst>
                        <a:gd name="connsiteX0" fmla="*/ 0 w 2808662"/>
                        <a:gd name="connsiteY0" fmla="*/ 1125948 h 1132841"/>
                        <a:gd name="connsiteX1" fmla="*/ 1410821 w 2808662"/>
                        <a:gd name="connsiteY1" fmla="*/ 17 h 1132841"/>
                        <a:gd name="connsiteX2" fmla="*/ 2780350 w 2808662"/>
                        <a:gd name="connsiteY2" fmla="*/ 1018414 h 1132841"/>
                        <a:gd name="connsiteX3" fmla="*/ 2808662 w 2808662"/>
                        <a:gd name="connsiteY3" fmla="*/ 1132841 h 1132841"/>
                        <a:gd name="connsiteX4" fmla="*/ 33478 w 2808662"/>
                        <a:gd name="connsiteY4" fmla="*/ 1132841 h 1132841"/>
                        <a:gd name="connsiteX5" fmla="*/ 0 w 2808662"/>
                        <a:gd name="connsiteY5" fmla="*/ 1125948 h 1132841"/>
                        <a:gd name="connsiteX0" fmla="*/ 0 w 2808662"/>
                        <a:gd name="connsiteY0" fmla="*/ 1125948 h 1132841"/>
                        <a:gd name="connsiteX1" fmla="*/ 1410821 w 2808662"/>
                        <a:gd name="connsiteY1" fmla="*/ 17 h 1132841"/>
                        <a:gd name="connsiteX2" fmla="*/ 2780350 w 2808662"/>
                        <a:gd name="connsiteY2" fmla="*/ 1018414 h 1132841"/>
                        <a:gd name="connsiteX3" fmla="*/ 2808662 w 2808662"/>
                        <a:gd name="connsiteY3" fmla="*/ 1132841 h 1132841"/>
                        <a:gd name="connsiteX4" fmla="*/ 0 w 2808662"/>
                        <a:gd name="connsiteY4" fmla="*/ 1125948 h 1132841"/>
                        <a:gd name="connsiteX0" fmla="*/ 0 w 2808662"/>
                        <a:gd name="connsiteY0" fmla="*/ 1125948 h 1217388"/>
                        <a:gd name="connsiteX1" fmla="*/ 1410821 w 2808662"/>
                        <a:gd name="connsiteY1" fmla="*/ 17 h 1217388"/>
                        <a:gd name="connsiteX2" fmla="*/ 2780350 w 2808662"/>
                        <a:gd name="connsiteY2" fmla="*/ 1018414 h 1217388"/>
                        <a:gd name="connsiteX3" fmla="*/ 2808662 w 2808662"/>
                        <a:gd name="connsiteY3" fmla="*/ 1132841 h 1217388"/>
                        <a:gd name="connsiteX4" fmla="*/ 91440 w 2808662"/>
                        <a:gd name="connsiteY4" fmla="*/ 1217388 h 1217388"/>
                        <a:gd name="connsiteX0" fmla="*/ 0 w 2808662"/>
                        <a:gd name="connsiteY0" fmla="*/ 1125948 h 1132841"/>
                        <a:gd name="connsiteX1" fmla="*/ 1410821 w 2808662"/>
                        <a:gd name="connsiteY1" fmla="*/ 17 h 1132841"/>
                        <a:gd name="connsiteX2" fmla="*/ 2780350 w 2808662"/>
                        <a:gd name="connsiteY2" fmla="*/ 1018414 h 1132841"/>
                        <a:gd name="connsiteX3" fmla="*/ 2808662 w 2808662"/>
                        <a:gd name="connsiteY3" fmla="*/ 1132841 h 113284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</a:cxnLst>
                      <a:rect l="l" t="t" r="r" b="b"/>
                      <a:pathLst>
                        <a:path w="2808662" h="1132841">
                          <a:moveTo>
                            <a:pt x="0" y="1125948"/>
                          </a:moveTo>
                          <a:cubicBezTo>
                            <a:pt x="139254" y="467445"/>
                            <a:pt x="729099" y="-3292"/>
                            <a:pt x="1410821" y="17"/>
                          </a:cubicBezTo>
                          <a:cubicBezTo>
                            <a:pt x="2050064" y="3119"/>
                            <a:pt x="2604354" y="422224"/>
                            <a:pt x="2780350" y="1018414"/>
                          </a:cubicBezTo>
                          <a:lnTo>
                            <a:pt x="2808662" y="1132841"/>
                          </a:lnTo>
                        </a:path>
                      </a:pathLst>
                    </a:custGeom>
                    <a:solidFill>
                      <a:srgbClr val="E8E8E8">
                        <a:lumMod val="40000"/>
                        <a:lumOff val="60000"/>
                      </a:srgbClr>
                    </a:solidFill>
                    <a:ln w="9525" cap="flat" cmpd="sng" algn="ctr">
                      <a:solidFill>
                        <a:srgbClr val="2E2E38"/>
                      </a:solidFill>
                      <a:prstDash val="dash"/>
                      <a:headEnd type="oval"/>
                      <a:tailEnd type="oval"/>
                    </a:ln>
                    <a:effectLst/>
                  </p:spPr>
                  <p:txBody>
                    <a:bodyPr wrap="square" lIns="0" tIns="0" rIns="0" bIns="0" rtlCol="0" anchor="ctr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6" name="Rectangle 122">
                      <a:extLst>
                        <a:ext uri="{FF2B5EF4-FFF2-40B4-BE49-F238E27FC236}">
                          <a16:creationId xmlns:a16="http://schemas.microsoft.com/office/drawing/2014/main" id="{54B7637B-17C4-226A-450B-D71F81B574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538236" y="3081623"/>
                      <a:ext cx="862115" cy="307777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정책 및</a:t>
                      </a:r>
                      <a:b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표준</a:t>
                      </a:r>
                      <a:endPara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7" name="Rectangle 123">
                      <a:extLst>
                        <a:ext uri="{FF2B5EF4-FFF2-40B4-BE49-F238E27FC236}">
                          <a16:creationId xmlns:a16="http://schemas.microsoft.com/office/drawing/2014/main" id="{5B5A65D8-10AF-CC45-7641-0F5D923038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621527" y="4106801"/>
                      <a:ext cx="778825" cy="571105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교육</a:t>
                      </a:r>
                      <a:b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및 인식 제고</a:t>
                      </a:r>
                      <a:endPara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8" name="Rectangle 124">
                      <a:extLst>
                        <a:ext uri="{FF2B5EF4-FFF2-40B4-BE49-F238E27FC236}">
                          <a16:creationId xmlns:a16="http://schemas.microsoft.com/office/drawing/2014/main" id="{8CCE0745-4605-338A-DFEC-38AAA8C238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54238" y="1845434"/>
                      <a:ext cx="1946112" cy="380737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거버넌스</a:t>
                      </a:r>
                      <a: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, </a:t>
                      </a: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운영모델 및</a:t>
                      </a:r>
                      <a:br>
                        <a: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</a:br>
                      <a:r>
                        <a:rPr kumimoji="0" lang="ko-KR" altLang="en-US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조직체계</a:t>
                      </a:r>
                      <a:endParaRPr kumimoji="0" lang="en-US" altLang="ko-KR" sz="9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59" name="Rectangle 125">
                      <a:extLst>
                        <a:ext uri="{FF2B5EF4-FFF2-40B4-BE49-F238E27FC236}">
                          <a16:creationId xmlns:a16="http://schemas.microsoft.com/office/drawing/2014/main" id="{A5D1B140-1E08-808D-0954-CF0B2F7352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49260" y="5464767"/>
                      <a:ext cx="1951093" cy="190368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wrap="square" lIns="0" tIns="0" rIns="0" bIns="0" rtlCol="0" anchor="ctr" anchorCtr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제</a:t>
                      </a:r>
                      <a:r>
                        <a: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3</a:t>
                      </a: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 공급망 리스크</a:t>
                      </a:r>
                      <a:r>
                        <a: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관리</a:t>
                      </a:r>
                      <a:endPara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sp>
                  <p:nvSpPr>
                    <p:cNvPr id="160" name="Rectangle 126">
                      <a:extLst>
                        <a:ext uri="{FF2B5EF4-FFF2-40B4-BE49-F238E27FC236}">
                          <a16:creationId xmlns:a16="http://schemas.microsoft.com/office/drawing/2014/main" id="{B01A5103-3F90-81CF-E96D-8BDF475EC8E5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471712" y="2996488"/>
                      <a:ext cx="1863530" cy="1603403"/>
                    </a:xfrm>
                    <a:prstGeom prst="rect">
                      <a:avLst/>
                    </a:prstGeom>
                    <a:noFill/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      <a:prstTxWarp prst="textArchDown">
                        <a:avLst/>
                      </a:prstTxWarp>
                      <a:no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7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Strategy</a:t>
                      </a:r>
                    </a:p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2E2E38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grpSp>
                  <p:nvGrpSpPr>
                    <p:cNvPr id="161" name="Group 127">
                      <a:extLst>
                        <a:ext uri="{FF2B5EF4-FFF2-40B4-BE49-F238E27FC236}">
                          <a16:creationId xmlns:a16="http://schemas.microsoft.com/office/drawing/2014/main" id="{2F72CB77-EEB2-FE26-9806-28EB761C34A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39006" y="2743932"/>
                      <a:ext cx="1014180" cy="2170444"/>
                      <a:chOff x="1039006" y="2355836"/>
                      <a:chExt cx="1014180" cy="2170444"/>
                    </a:xfrm>
                    <a:solidFill>
                      <a:srgbClr val="D2F4DC"/>
                    </a:solidFill>
                  </p:grpSpPr>
                  <p:sp>
                    <p:nvSpPr>
                      <p:cNvPr id="169" name="Freeform: Shape 135">
                        <a:extLst>
                          <a:ext uri="{FF2B5EF4-FFF2-40B4-BE49-F238E27FC236}">
                            <a16:creationId xmlns:a16="http://schemas.microsoft.com/office/drawing/2014/main" id="{7CE3DC47-3CFC-6920-0133-B272555935DA}"/>
                          </a:ext>
                        </a:extLst>
                      </p:cNvPr>
                      <p:cNvSpPr/>
                      <p:nvPr/>
                    </p:nvSpPr>
                    <p:spPr>
                      <a:xfrm rot="16200000">
                        <a:off x="460874" y="2933968"/>
                        <a:ext cx="2170444" cy="1014180"/>
                      </a:xfrm>
                      <a:custGeom>
                        <a:avLst/>
                        <a:gdLst>
                          <a:gd name="connsiteX0" fmla="*/ 33 w 2453640"/>
                          <a:gd name="connsiteY0" fmla="*/ 0 h 1227468"/>
                          <a:gd name="connsiteX1" fmla="*/ 2453607 w 2453640"/>
                          <a:gd name="connsiteY1" fmla="*/ 0 h 1227468"/>
                          <a:gd name="connsiteX2" fmla="*/ 2453640 w 2453640"/>
                          <a:gd name="connsiteY2" fmla="*/ 648 h 1227468"/>
                          <a:gd name="connsiteX3" fmla="*/ 1226820 w 2453640"/>
                          <a:gd name="connsiteY3" fmla="*/ 1227468 h 1227468"/>
                          <a:gd name="connsiteX4" fmla="*/ 0 w 2453640"/>
                          <a:gd name="connsiteY4" fmla="*/ 648 h 1227468"/>
                          <a:gd name="connsiteX5" fmla="*/ 33 w 2453640"/>
                          <a:gd name="connsiteY5" fmla="*/ 0 h 1227468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</a:cxnLst>
                        <a:rect l="l" t="t" r="r" b="b"/>
                        <a:pathLst>
                          <a:path w="2453640" h="1227468">
                            <a:moveTo>
                              <a:pt x="33" y="0"/>
                            </a:moveTo>
                            <a:lnTo>
                              <a:pt x="2453607" y="0"/>
                            </a:lnTo>
                            <a:lnTo>
                              <a:pt x="2453640" y="648"/>
                            </a:lnTo>
                            <a:cubicBezTo>
                              <a:pt x="2453640" y="678202"/>
                              <a:pt x="1904374" y="1227468"/>
                              <a:pt x="1226820" y="1227468"/>
                            </a:cubicBezTo>
                            <a:cubicBezTo>
                              <a:pt x="549266" y="1227468"/>
                              <a:pt x="0" y="678202"/>
                              <a:pt x="0" y="648"/>
                            </a:cubicBezTo>
                            <a:lnTo>
                              <a:pt x="33" y="0"/>
                            </a:lnTo>
                            <a:close/>
                          </a:path>
                        </a:pathLst>
                      </a:custGeom>
                      <a:solidFill>
                        <a:srgbClr val="E8E8E8">
                          <a:lumMod val="20000"/>
                          <a:lumOff val="80000"/>
                        </a:srgbClr>
                      </a:solidFill>
                      <a:ln w="9525" cap="flat" cmpd="sng" algn="ctr">
                        <a:solidFill>
                          <a:srgbClr val="2E2E38"/>
                        </a:solidFill>
                        <a:prstDash val="dash"/>
                      </a:ln>
                      <a:effectLst/>
                    </p:spPr>
                    <p:txBody>
                      <a:bodyPr wrap="square" lIns="0" tIns="0" rIns="0" bIns="0" rtlCol="0" anchor="t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ko-KR" altLang="en-US" sz="10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p:txBody>
                  </p:sp>
                  <p:sp>
                    <p:nvSpPr>
                      <p:cNvPr id="170" name="Rectangle 136">
                        <a:extLst>
                          <a:ext uri="{FF2B5EF4-FFF2-40B4-BE49-F238E27FC236}">
                            <a16:creationId xmlns:a16="http://schemas.microsoft.com/office/drawing/2014/main" id="{EACB09F1-6963-EE07-8B9E-42E7D042035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146294" y="3181785"/>
                        <a:ext cx="789186" cy="518546"/>
                      </a:xfrm>
                      <a:prstGeom prst="rect">
                        <a:avLst/>
                      </a:prstGeom>
                      <a:noFill/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rot="0" spcFirstLastPara="1" vertOverflow="overflow" horzOverflow="overflow" vert="horz" wrap="square" lIns="0" tIns="0" rIns="0" bIns="0" numCol="1" spcCol="0" rtlCol="0" fromWordArt="0" anchor="ctr" anchorCtr="0" forceAA="0" compatLnSpc="1">
                        <a:noAutofit/>
                      </a:bodyPr>
                      <a:lstStyle/>
                      <a:p>
                        <a:pPr marL="0" marR="0" lvl="0" indent="0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ko-KR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Cyber</a:t>
                        </a: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 리스크</a:t>
                        </a:r>
                        <a:br>
                          <a:rPr kumimoji="0" lang="en-US" altLang="ko-KR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</a:b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관리</a:t>
                        </a:r>
                      </a:p>
                    </p:txBody>
                  </p:sp>
                </p:grpSp>
                <p:sp>
                  <p:nvSpPr>
                    <p:cNvPr id="162" name="Rectangle 128">
                      <a:extLst>
                        <a:ext uri="{FF2B5EF4-FFF2-40B4-BE49-F238E27FC236}">
                          <a16:creationId xmlns:a16="http://schemas.microsoft.com/office/drawing/2014/main" id="{CCC845FB-1FD9-EB01-D11D-90273A0DC9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76456" y="1137915"/>
                      <a:ext cx="338652" cy="4947924"/>
                    </a:xfrm>
                    <a:prstGeom prst="rect">
                      <a:avLst/>
                    </a:prstGeom>
                    <a:solidFill>
                      <a:srgbClr val="E8E8E8"/>
                    </a:solidFill>
                    <a:ln w="9525" cap="flat" cmpd="sng" algn="ctr">
                      <a:noFill/>
                      <a:prstDash val="solid"/>
                    </a:ln>
                    <a:effectLst/>
                    <a:extLst>
                      <a:ext uri="{91240B29-F687-4F45-9708-019B960494DF}">
                        <a14:hiddenLine xmlns:a14="http://schemas.microsoft.com/office/drawing/2010/main" w="9525" cap="flat" cmpd="sng" algn="ctr">
                          <a:solidFill>
                            <a:schemeClr val="accent1"/>
                          </a:solidFill>
                          <a:prstDash val="solid"/>
                        </a14:hiddenLine>
                      </a:ext>
                    </a:extLst>
                  </p:spPr>
                  <p:txBody>
                    <a:bodyPr vert="vert270" wrap="square" lIns="0" tIns="0" rIns="0" bIns="0" rtlCol="0" anchor="ctr" anchorCtr="0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비즈니스 및 </a:t>
                      </a:r>
                      <a:r>
                        <a: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IT </a:t>
                      </a:r>
                      <a:r>
                        <a:rPr kumimoji="0" lang="ko-KR" altLang="en-US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전략</a:t>
                      </a:r>
                      <a:endParaRPr kumimoji="0" lang="en-US" altLang="ko-KR" sz="9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  <p:grpSp>
                  <p:nvGrpSpPr>
                    <p:cNvPr id="163" name="Group 129">
                      <a:extLst>
                        <a:ext uri="{FF2B5EF4-FFF2-40B4-BE49-F238E27FC236}">
                          <a16:creationId xmlns:a16="http://schemas.microsoft.com/office/drawing/2014/main" id="{63412B10-D050-98C3-76FB-4EB308AB1F1B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-1832079" y="3292134"/>
                      <a:ext cx="4947924" cy="639495"/>
                      <a:chOff x="3773300" y="1137920"/>
                      <a:chExt cx="6224810" cy="692482"/>
                    </a:xfrm>
                  </p:grpSpPr>
                  <p:sp>
                    <p:nvSpPr>
                      <p:cNvPr id="165" name="Rectangle 131">
                        <a:extLst>
                          <a:ext uri="{FF2B5EF4-FFF2-40B4-BE49-F238E27FC236}">
                            <a16:creationId xmlns:a16="http://schemas.microsoft.com/office/drawing/2014/main" id="{CCF15F0F-D7F3-00B3-F797-C57B84D2A15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73301" y="1509912"/>
                        <a:ext cx="2035690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복원력</a:t>
                        </a:r>
                      </a:p>
                    </p:txBody>
                  </p:sp>
                  <p:sp>
                    <p:nvSpPr>
                      <p:cNvPr id="166" name="Rectangle 132">
                        <a:extLst>
                          <a:ext uri="{FF2B5EF4-FFF2-40B4-BE49-F238E27FC236}">
                            <a16:creationId xmlns:a16="http://schemas.microsoft.com/office/drawing/2014/main" id="{DFDE198B-C90C-3CDB-543E-C259372AABE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867861" y="1509912"/>
                        <a:ext cx="2035690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en-US" altLang="ko-KR" sz="900" b="1" i="0" u="none" strike="noStrike" kern="0" cap="none" spc="-50" normalizeH="0" baseline="0" noProof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IT </a:t>
                        </a:r>
                        <a:r>
                          <a:rPr kumimoji="0" lang="ko-KR" altLang="en-US" sz="900" b="1" i="0" u="none" strike="noStrike" kern="0" cap="none" spc="-50" normalizeH="0" baseline="0" noProof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자산 관리</a:t>
                        </a:r>
                        <a:endParaRPr kumimoji="0" lang="en-US" altLang="ko-KR" sz="900" b="1" i="0" u="none" strike="noStrike" kern="0" cap="none" spc="-50" normalizeH="0" baseline="0" noProof="0">
                          <a:ln>
                            <a:noFill/>
                          </a:ln>
                          <a:solidFill>
                            <a:srgbClr val="2E2E38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p:txBody>
                  </p:sp>
                  <p:sp>
                    <p:nvSpPr>
                      <p:cNvPr id="167" name="Rectangle 133">
                        <a:extLst>
                          <a:ext uri="{FF2B5EF4-FFF2-40B4-BE49-F238E27FC236}">
                            <a16:creationId xmlns:a16="http://schemas.microsoft.com/office/drawing/2014/main" id="{FA560D2B-FFB5-3ECB-F73C-A5A44CEF3DF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62420" y="1509912"/>
                        <a:ext cx="2035690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/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o-KR" altLang="en-US" sz="900" b="1" i="0" u="none" strike="noStrike" kern="0" cap="none" spc="-50" normalizeH="0" baseline="0" noProof="0">
                            <a:ln>
                              <a:noFill/>
                            </a:ln>
                            <a:solidFill>
                              <a:srgbClr val="2E2E38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물리적 보안</a:t>
                        </a:r>
                      </a:p>
                    </p:txBody>
                  </p:sp>
                  <p:sp>
                    <p:nvSpPr>
                      <p:cNvPr id="168" name="Rectangle 134">
                        <a:extLst>
                          <a:ext uri="{FF2B5EF4-FFF2-40B4-BE49-F238E27FC236}">
                            <a16:creationId xmlns:a16="http://schemas.microsoft.com/office/drawing/2014/main" id="{A38DA48C-4635-F283-A76E-4230297AA28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73300" y="1137920"/>
                        <a:ext cx="6224809" cy="320490"/>
                      </a:xfrm>
                      <a:prstGeom prst="rect">
                        <a:avLst/>
                      </a:prstGeom>
                      <a:solidFill>
                        <a:srgbClr val="E8E8E8"/>
                      </a:solidFill>
                      <a:ln w="9525" cap="flat" cmpd="sng" algn="ctr">
                        <a:noFill/>
                        <a:prstDash val="solid"/>
                      </a:ln>
                      <a:effectLst/>
                    </p:spPr>
                    <p:txBody>
                      <a:bodyPr vert="horz" wrap="square" lIns="0" tIns="0" rIns="0" bIns="0" rtlCol="0" anchor="ctr" anchorCtr="0">
                        <a:noAutofit/>
                      </a:bodyPr>
                      <a:lstStyle/>
                      <a:p>
                        <a:pPr marL="0" marR="0" lvl="0" indent="0" algn="ctr" defTabSz="91440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kumimoji="0" lang="ko-KR" altLang="en-US" sz="900" b="1" i="0" u="none" strike="noStrike" kern="0" cap="none" spc="-5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Noto Sans KR" panose="020B0200000000000000" pitchFamily="50" charset="-127"/>
                            <a:ea typeface="Noto Sans KR" panose="020B0200000000000000" pitchFamily="50" charset="-127"/>
                          </a:rPr>
                          <a:t>조직 및 파트너십</a:t>
                        </a:r>
                        <a:endParaRPr kumimoji="0" lang="en-US" altLang="ko-KR" sz="9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</a:endParaRPr>
                      </a:p>
                    </p:txBody>
                  </p:sp>
                </p:grpSp>
                <p:sp>
                  <p:nvSpPr>
                    <p:cNvPr id="164" name="Isosceles Triangle 130">
                      <a:extLst>
                        <a:ext uri="{FF2B5EF4-FFF2-40B4-BE49-F238E27FC236}">
                          <a16:creationId xmlns:a16="http://schemas.microsoft.com/office/drawing/2014/main" id="{A58955FC-B65B-2D67-0A4B-A5DB270F5E40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284821" y="3736964"/>
                      <a:ext cx="301382" cy="166394"/>
                    </a:xfrm>
                    <a:prstGeom prst="triangle">
                      <a:avLst/>
                    </a:prstGeom>
                    <a:solidFill>
                      <a:srgbClr val="333333"/>
                    </a:solidFill>
                    <a:ln w="9525" cap="flat" cmpd="sng" algn="ctr">
                      <a:noFill/>
                      <a:prstDash val="solid"/>
                    </a:ln>
                    <a:effectLst/>
                  </p:spPr>
                  <p:txBody>
                    <a:bodyPr wrap="square" lIns="0" tIns="0" rIns="0" bIns="0" rtlCol="0" anchor="t" anchorCtr="0"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kern="0" cap="none" spc="-50" normalizeH="0" baseline="0" noProof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p:txBody>
                </p:sp>
              </p:grpSp>
              <p:sp>
                <p:nvSpPr>
                  <p:cNvPr id="144" name="Rectangle 110">
                    <a:extLst>
                      <a:ext uri="{FF2B5EF4-FFF2-40B4-BE49-F238E27FC236}">
                        <a16:creationId xmlns:a16="http://schemas.microsoft.com/office/drawing/2014/main" id="{0CB86A71-C08E-AD62-FCF0-BB4480556FBC}"/>
                      </a:ext>
                    </a:extLst>
                  </p:cNvPr>
                  <p:cNvSpPr/>
                  <p:nvPr/>
                </p:nvSpPr>
                <p:spPr>
                  <a:xfrm>
                    <a:off x="4876799" y="4966966"/>
                    <a:ext cx="5121311" cy="1109676"/>
                  </a:xfrm>
                  <a:prstGeom prst="rect">
                    <a:avLst/>
                  </a:prstGeom>
                  <a:noFill/>
                  <a:ln w="9525" cap="flat" cmpd="sng" algn="ctr">
                    <a:solidFill>
                      <a:schemeClr val="bg1">
                        <a:lumMod val="75000"/>
                      </a:schemeClr>
                    </a:solidFill>
                    <a:prstDash val="solid"/>
                  </a:ln>
                  <a:effectLst/>
                </p:spPr>
                <p:txBody>
                  <a:bodyPr wrap="square" lIns="0" tIns="0" rIns="0" bIns="0" rtlCol="0" anchor="t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000" b="0" i="0" u="none" strike="noStrike" kern="0" cap="none" spc="-50" normalizeH="0" baseline="0" noProof="0">
                      <a:ln>
                        <a:noFill/>
                      </a:ln>
                      <a:solidFill>
                        <a:srgbClr val="FFFFFF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5" name="Oval 111">
                    <a:extLst>
                      <a:ext uri="{FF2B5EF4-FFF2-40B4-BE49-F238E27FC236}">
                        <a16:creationId xmlns:a16="http://schemas.microsoft.com/office/drawing/2014/main" id="{4AAF6FD7-D4CD-EB70-DAF3-70137A924BE9}"/>
                      </a:ext>
                    </a:extLst>
                  </p:cNvPr>
                  <p:cNvSpPr/>
                  <p:nvPr/>
                </p:nvSpPr>
                <p:spPr>
                  <a:xfrm>
                    <a:off x="4294410" y="2441244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IAM </a:t>
                    </a: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및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내부자 위협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영역</a:t>
                    </a:r>
                    <a:endParaRPr kumimoji="0" lang="en-US" altLang="ko-KR" sz="800" b="1" i="0" u="none" strike="noStrike" kern="0" cap="none" spc="-5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6" name="Oval 112">
                    <a:extLst>
                      <a:ext uri="{FF2B5EF4-FFF2-40B4-BE49-F238E27FC236}">
                        <a16:creationId xmlns:a16="http://schemas.microsoft.com/office/drawing/2014/main" id="{160E30C6-36F2-0864-E0D9-3712F9A3C695}"/>
                      </a:ext>
                    </a:extLst>
                  </p:cNvPr>
                  <p:cNvSpPr/>
                  <p:nvPr/>
                </p:nvSpPr>
                <p:spPr>
                  <a:xfrm>
                    <a:off x="4294410" y="3723609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 아키텍처</a:t>
                    </a:r>
                    <a:r>
                      <a:rPr kumimoji="0" lang="en-US" altLang="ko-KR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&amp;</a:t>
                    </a:r>
                    <a:br>
                      <a:rPr kumimoji="0" lang="en-US" altLang="ko-KR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엔지니어링</a:t>
                    </a:r>
                    <a:br>
                      <a:rPr kumimoji="0" lang="en-US" altLang="ko-KR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영역</a:t>
                    </a:r>
                    <a:endParaRPr kumimoji="0" lang="en-US" altLang="ko-KR" sz="800" b="1" i="0" u="none" strike="noStrike" kern="0" cap="none" spc="-5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7" name="Oval 113">
                    <a:extLst>
                      <a:ext uri="{FF2B5EF4-FFF2-40B4-BE49-F238E27FC236}">
                        <a16:creationId xmlns:a16="http://schemas.microsoft.com/office/drawing/2014/main" id="{56E8D5EC-4FAE-5E05-84C3-A513B2BF5576}"/>
                      </a:ext>
                    </a:extLst>
                  </p:cNvPr>
                  <p:cNvSpPr/>
                  <p:nvPr/>
                </p:nvSpPr>
                <p:spPr>
                  <a:xfrm>
                    <a:off x="4294410" y="4952223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보안 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운영 영역</a:t>
                    </a:r>
                    <a:endParaRPr kumimoji="0" lang="en-US" altLang="ko-KR" sz="800" b="1" i="0" u="none" strike="noStrike" kern="0" cap="none" spc="-5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  <p:sp>
                <p:nvSpPr>
                  <p:cNvPr id="148" name="Oval 114">
                    <a:extLst>
                      <a:ext uri="{FF2B5EF4-FFF2-40B4-BE49-F238E27FC236}">
                        <a16:creationId xmlns:a16="http://schemas.microsoft.com/office/drawing/2014/main" id="{B6A62F11-E218-F001-EABD-A0D843E676C9}"/>
                      </a:ext>
                    </a:extLst>
                  </p:cNvPr>
                  <p:cNvSpPr/>
                  <p:nvPr/>
                </p:nvSpPr>
                <p:spPr>
                  <a:xfrm>
                    <a:off x="4294410" y="1185755"/>
                    <a:ext cx="1137600" cy="1139161"/>
                  </a:xfrm>
                  <a:prstGeom prst="ellipse">
                    <a:avLst/>
                  </a:prstGeom>
                  <a:solidFill>
                    <a:srgbClr val="E8E8E8"/>
                  </a:solidFill>
                  <a:ln w="9525" cap="flat" cmpd="sng" algn="ctr">
                    <a:noFill/>
                    <a:prstDash val="solid"/>
                  </a:ln>
                  <a:effectLst/>
                </p:spPr>
                <p:txBody>
                  <a:bodyPr vert="horz" wrap="square" lIns="0" tIns="0" rIns="0" bIns="0" rtlCol="0" anchor="ctr" anchorCtr="0">
                    <a:noAutofit/>
                  </a:bodyPr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데이터</a:t>
                    </a:r>
                    <a:r>
                      <a:rPr kumimoji="0" lang="ko-KR" altLang="ko-KR" sz="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·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개인정보</a:t>
                    </a:r>
                    <a:br>
                      <a:rPr kumimoji="0" lang="en-US" altLang="ko-KR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</a:br>
                    <a:r>
                      <a:rPr kumimoji="0" lang="ko-KR" altLang="en-US" sz="800" b="1" i="0" u="none" strike="noStrike" kern="0" cap="none" spc="-5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</a:rPr>
                      <a:t>영역</a:t>
                    </a:r>
                    <a:endParaRPr kumimoji="0" lang="en-US" altLang="ko-KR" sz="800" b="1" i="0" u="none" strike="noStrike" kern="0" cap="none" spc="-5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Noto Sans KR" panose="020B0200000000000000" pitchFamily="50" charset="-127"/>
                      <a:ea typeface="Noto Sans KR" panose="020B0200000000000000" pitchFamily="50" charset="-127"/>
                    </a:endParaRPr>
                  </a:p>
                </p:txBody>
              </p:sp>
            </p:grpSp>
          </p:grpSp>
        </p:grpSp>
        <p:graphicFrame>
          <p:nvGraphicFramePr>
            <p:cNvPr id="105" name="표 33">
              <a:extLst>
                <a:ext uri="{FF2B5EF4-FFF2-40B4-BE49-F238E27FC236}">
                  <a16:creationId xmlns:a16="http://schemas.microsoft.com/office/drawing/2014/main" id="{1A267D62-0BE6-DD20-BEBC-CAAA88C7EC35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4176176"/>
                </p:ext>
              </p:extLst>
            </p:nvPr>
          </p:nvGraphicFramePr>
          <p:xfrm>
            <a:off x="2328260" y="5804914"/>
            <a:ext cx="7143380" cy="346334"/>
          </p:xfrm>
          <a:graphic>
            <a:graphicData uri="http://schemas.openxmlformats.org/drawingml/2006/table">
              <a:tbl>
                <a:tblPr firstRow="1" bandRow="1"/>
                <a:tblGrid>
                  <a:gridCol w="1428676">
                    <a:extLst>
                      <a:ext uri="{9D8B030D-6E8A-4147-A177-3AD203B41FA5}">
                        <a16:colId xmlns:a16="http://schemas.microsoft.com/office/drawing/2014/main" val="1833305026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664483102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1016516203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2761728644"/>
                      </a:ext>
                    </a:extLst>
                  </a:gridCol>
                  <a:gridCol w="1428676">
                    <a:extLst>
                      <a:ext uri="{9D8B030D-6E8A-4147-A177-3AD203B41FA5}">
                        <a16:colId xmlns:a16="http://schemas.microsoft.com/office/drawing/2014/main" val="2768361512"/>
                      </a:ext>
                    </a:extLst>
                  </a:gridCol>
                </a:tblGrid>
                <a:tr h="370840"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latin typeface="맑은 고딕" panose="020B0503020000020004" pitchFamily="50" charset="-127"/>
                            <a:ea typeface="+mn-ea"/>
                          </a:rPr>
                          <a:t> 1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ysClr val="window" lastClr="FFFFFF"/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latin typeface="맑은 고딕" panose="020B0503020000020004" pitchFamily="50" charset="-127"/>
                            <a:ea typeface="+mn-ea"/>
                          </a:rPr>
                          <a:t> 2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95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latin typeface="맑은 고딕" panose="020B0503020000020004" pitchFamily="50" charset="-127"/>
                            <a:ea typeface="+mn-ea"/>
                          </a:rPr>
                          <a:t> 3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75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 4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bg1">
                          <a:lumMod val="50000"/>
                        </a:schemeClr>
                      </a:solidFill>
                    </a:tcPr>
                  </a:tc>
                  <a:tc>
                    <a:txBody>
                      <a:bodyPr/>
                      <a:lstStyle>
                        <a:lvl1pPr marL="0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1pPr>
                        <a:lvl2pPr marL="457209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2pPr>
                        <a:lvl3pPr marL="914418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3pPr>
                        <a:lvl4pPr marL="1371627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4pPr>
                        <a:lvl5pPr marL="182883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5pPr>
                        <a:lvl6pPr marL="2286046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6pPr>
                        <a:lvl7pPr marL="2743255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7pPr>
                        <a:lvl8pPr marL="3200464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8pPr>
                        <a:lvl9pPr marL="3657673" algn="l" defTabSz="914418" rtl="0" eaLnBrk="1" latinLnBrk="0" hangingPunct="1">
                          <a:defRPr sz="1800" kern="1200">
                            <a:solidFill>
                              <a:schemeClr val="tx1"/>
                            </a:solidFill>
                            <a:latin typeface="나눔스퀘어"/>
                            <a:ea typeface="나눔스퀘어"/>
                          </a:defRPr>
                        </a:lvl9pPr>
                      </a:lstStyle>
                      <a:p>
                        <a:pPr algn="ctr" latinLnBrk="1"/>
                        <a:r>
                          <a:rPr lang="ko-KR" sz="1000" b="1" baseline="0" noProof="0" dirty="0" err="1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Level</a:t>
                        </a:r>
                        <a:r>
                          <a:rPr lang="ko-KR" sz="1000" b="1" baseline="0" noProof="0" dirty="0">
                            <a:solidFill>
                              <a:schemeClr val="bg1"/>
                            </a:solidFill>
                            <a:latin typeface="맑은 고딕" panose="020B0503020000020004" pitchFamily="50" charset="-127"/>
                            <a:ea typeface="+mn-ea"/>
                          </a:rPr>
                          <a:t> 5</a:t>
                        </a:r>
                      </a:p>
                    </a:txBody>
                    <a:tcPr anchor="ctr">
                      <a:lnL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rgbClr val="FFFFFF">
                            <a:lumMod val="50000"/>
                          </a:srgb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323487210"/>
                    </a:ext>
                  </a:extLst>
                </a:tr>
              </a:tbl>
            </a:graphicData>
          </a:graphic>
        </p:graphicFrame>
        <p:grpSp>
          <p:nvGrpSpPr>
            <p:cNvPr id="106" name="그룹 3">
              <a:extLst>
                <a:ext uri="{FF2B5EF4-FFF2-40B4-BE49-F238E27FC236}">
                  <a16:creationId xmlns:a16="http://schemas.microsoft.com/office/drawing/2014/main" id="{D9681C16-A7AC-64AC-CC5E-04DF818D474C}"/>
                </a:ext>
              </a:extLst>
            </p:cNvPr>
            <p:cNvGrpSpPr/>
            <p:nvPr/>
          </p:nvGrpSpPr>
          <p:grpSpPr>
            <a:xfrm>
              <a:off x="2328261" y="5629277"/>
              <a:ext cx="7143380" cy="175637"/>
              <a:chOff x="3081129" y="5533618"/>
              <a:chExt cx="8515975" cy="175637"/>
            </a:xfrm>
          </p:grpSpPr>
          <p:sp>
            <p:nvSpPr>
              <p:cNvPr id="108" name="자유형: 도형 74">
                <a:extLst>
                  <a:ext uri="{FF2B5EF4-FFF2-40B4-BE49-F238E27FC236}">
                    <a16:creationId xmlns:a16="http://schemas.microsoft.com/office/drawing/2014/main" id="{BC47AF17-61B6-FB16-BA55-F820FBBD97EA}"/>
                  </a:ext>
                </a:extLst>
              </p:cNvPr>
              <p:cNvSpPr/>
              <p:nvPr/>
            </p:nvSpPr>
            <p:spPr bwMode="auto">
              <a:xfrm>
                <a:off x="3081129" y="5615113"/>
                <a:ext cx="8515975" cy="94142"/>
              </a:xfrm>
              <a:custGeom>
                <a:avLst/>
                <a:gdLst>
                  <a:gd name="connsiteX0" fmla="*/ 708660 w 6918960"/>
                  <a:gd name="connsiteY0" fmla="*/ 0 h 236220"/>
                  <a:gd name="connsiteX1" fmla="*/ 0 w 6918960"/>
                  <a:gd name="connsiteY1" fmla="*/ 236220 h 236220"/>
                  <a:gd name="connsiteX2" fmla="*/ 6918960 w 6918960"/>
                  <a:gd name="connsiteY2" fmla="*/ 228600 h 236220"/>
                  <a:gd name="connsiteX3" fmla="*/ 5966460 w 6918960"/>
                  <a:gd name="connsiteY3" fmla="*/ 0 h 236220"/>
                  <a:gd name="connsiteX4" fmla="*/ 708660 w 6918960"/>
                  <a:gd name="connsiteY4" fmla="*/ 0 h 2362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918960" h="236220">
                    <a:moveTo>
                      <a:pt x="708660" y="0"/>
                    </a:moveTo>
                    <a:lnTo>
                      <a:pt x="0" y="236220"/>
                    </a:lnTo>
                    <a:lnTo>
                      <a:pt x="6918960" y="228600"/>
                    </a:lnTo>
                    <a:lnTo>
                      <a:pt x="5966460" y="0"/>
                    </a:lnTo>
                    <a:lnTo>
                      <a:pt x="708660" y="0"/>
                    </a:lnTo>
                    <a:close/>
                  </a:path>
                </a:pathLst>
              </a:custGeom>
              <a:gradFill>
                <a:gsLst>
                  <a:gs pos="52000">
                    <a:schemeClr val="bg1"/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133350" marR="0" lvl="0" indent="-13335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2800" b="0" i="0" u="none" strike="noStrike" kern="0" cap="none" spc="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D7393BAC-7A62-36C7-2BAA-AF82B6E049C8}"/>
                  </a:ext>
                </a:extLst>
              </p:cNvPr>
              <p:cNvSpPr txBox="1"/>
              <p:nvPr/>
            </p:nvSpPr>
            <p:spPr>
              <a:xfrm>
                <a:off x="10606210" y="5587126"/>
                <a:ext cx="267542" cy="9772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75000"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2E2E38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High</a:t>
                </a:r>
                <a:endPara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9BDFF8A9-1A3D-4E56-E7E3-038D4F24C6C1}"/>
                  </a:ext>
                </a:extLst>
              </p:cNvPr>
              <p:cNvSpPr txBox="1"/>
              <p:nvPr/>
            </p:nvSpPr>
            <p:spPr>
              <a:xfrm>
                <a:off x="3802849" y="5579506"/>
                <a:ext cx="238878" cy="9772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75000"/>
                  <a:buFontTx/>
                  <a:buNone/>
                  <a:tabLst/>
                  <a:defRPr/>
                </a:pPr>
                <a:r>
                  <a:rPr kumimoji="0" lang="en-US" altLang="ko-KR" sz="800" b="0" i="0" u="none" strike="noStrike" kern="0" cap="none" spc="0" normalizeH="0" baseline="0" noProof="0" err="1">
                    <a:ln>
                      <a:noFill/>
                    </a:ln>
                    <a:solidFill>
                      <a:srgbClr val="2E2E38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Low</a:t>
                </a:r>
                <a:endParaRPr kumimoji="0" lang="ko-KR" altLang="en-US" sz="800" b="0" i="0" u="none" strike="noStrike" kern="0" cap="none" spc="0" normalizeH="0" baseline="0" noProof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297AD0C4-342E-8492-FA4B-C8A9F9E228E8}"/>
                  </a:ext>
                </a:extLst>
              </p:cNvPr>
              <p:cNvSpPr txBox="1"/>
              <p:nvPr/>
            </p:nvSpPr>
            <p:spPr>
              <a:xfrm>
                <a:off x="6996059" y="5533618"/>
                <a:ext cx="598149" cy="97729"/>
              </a:xfrm>
              <a:prstGeom prst="rect">
                <a:avLst/>
              </a:prstGeom>
              <a:noFill/>
            </p:spPr>
            <p:txBody>
              <a:bodyPr vert="horz" wrap="none" lIns="0" tIns="0" rIns="0" bIns="0" rtlCol="0">
                <a:spAutoFit/>
              </a:bodyPr>
              <a:lstStyle/>
              <a:p>
                <a:pPr marL="0" marR="0" lvl="0" indent="0" algn="ctr" defTabSz="914400" eaLnBrk="1" fontAlgn="auto" latinLnBrk="1" hangingPunct="1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75000"/>
                  <a:buFontTx/>
                  <a:buNone/>
                  <a:tabLst/>
                  <a:defRPr/>
                </a:pPr>
                <a:r>
                  <a:rPr kumimoji="0" lang="ko-KR" altLang="en-US" sz="800" b="0" i="0" u="none" strike="noStrike" kern="0" cap="none" spc="0" normalizeH="0" baseline="0" noProof="0">
                    <a:ln>
                      <a:noFill/>
                    </a:ln>
                    <a:solidFill>
                      <a:srgbClr val="2E2E38"/>
                    </a:solidFill>
                    <a:effectLst/>
                    <a:uLnTx/>
                    <a:uFillTx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보안 성숙도</a:t>
                </a:r>
              </a:p>
            </p:txBody>
          </p:sp>
          <p:cxnSp>
            <p:nvCxnSpPr>
              <p:cNvPr id="112" name="직선 화살표 연결선 80">
                <a:extLst>
                  <a:ext uri="{FF2B5EF4-FFF2-40B4-BE49-F238E27FC236}">
                    <a16:creationId xmlns:a16="http://schemas.microsoft.com/office/drawing/2014/main" id="{E9041300-5BFF-1C17-A5A0-ED8B3A145E5C}"/>
                  </a:ext>
                </a:extLst>
              </p:cNvPr>
              <p:cNvCxnSpPr>
                <a:cxnSpLocks/>
                <a:stCxn id="110" idx="3"/>
                <a:endCxn id="109" idx="1"/>
              </p:cNvCxnSpPr>
              <p:nvPr/>
            </p:nvCxnSpPr>
            <p:spPr bwMode="auto">
              <a:xfrm>
                <a:off x="4041727" y="5628370"/>
                <a:ext cx="6564483" cy="7620"/>
              </a:xfrm>
              <a:prstGeom prst="straightConnector1">
                <a:avLst/>
              </a:prstGeom>
              <a:noFill/>
              <a:ln w="6350" algn="ctr">
                <a:solidFill>
                  <a:srgbClr val="FFFFFF">
                    <a:lumMod val="50000"/>
                  </a:srgbClr>
                </a:solidFill>
                <a:prstDash val="solid"/>
                <a:round/>
                <a:headEnd/>
                <a:tailEnd type="triangle"/>
              </a:ln>
            </p:spPr>
          </p:cxnSp>
        </p:grpSp>
        <p:sp>
          <p:nvSpPr>
            <p:cNvPr id="107" name="Rectangle 21">
              <a:extLst>
                <a:ext uri="{FF2B5EF4-FFF2-40B4-BE49-F238E27FC236}">
                  <a16:creationId xmlns:a16="http://schemas.microsoft.com/office/drawing/2014/main" id="{28432939-505B-CC42-9EE8-42493DA90889}"/>
                </a:ext>
              </a:extLst>
            </p:cNvPr>
            <p:cNvSpPr/>
            <p:nvPr/>
          </p:nvSpPr>
          <p:spPr>
            <a:xfrm>
              <a:off x="608288" y="4806218"/>
              <a:ext cx="1370179" cy="432000"/>
            </a:xfrm>
            <a:prstGeom prst="roundRect">
              <a:avLst>
                <a:gd name="adj" fmla="val 0"/>
              </a:avLst>
            </a:prstGeom>
            <a:solidFill>
              <a:sysClr val="window" lastClr="FFFFFF"/>
            </a:solidFill>
            <a:ln w="63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</a:ln>
            <a:effectLst/>
          </p:spPr>
          <p:txBody>
            <a:bodyPr lIns="0" r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NIST</a:t>
              </a:r>
              <a:r>
                <a:rPr kumimoji="0" lang="ko-KR" altLang="en-US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CSF</a:t>
              </a:r>
              <a:r>
                <a:rPr kumimoji="0" lang="ko-KR" altLang="en-US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200" b="0" i="0" u="none" strike="noStrike" kern="0" cap="none" spc="-50" normalizeH="0" baseline="0" noProof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v2.0</a:t>
              </a:r>
              <a:endParaRPr kumimoji="0" lang="ko-KR" altLang="en-US" sz="1200" b="0" i="0" u="none" strike="noStrike" kern="0" cap="none" spc="-5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73" name="S417">
            <a:extLst>
              <a:ext uri="{FF2B5EF4-FFF2-40B4-BE49-F238E27FC236}">
                <a16:creationId xmlns:a16="http://schemas.microsoft.com/office/drawing/2014/main" id="{E101483A-81BA-5068-9BBA-BC1941B5A938}"/>
              </a:ext>
            </a:extLst>
          </p:cNvPr>
          <p:cNvSpPr/>
          <p:nvPr/>
        </p:nvSpPr>
        <p:spPr>
          <a:xfrm>
            <a:off x="739775" y="440843"/>
            <a:ext cx="34606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00438E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solidFill>
                  <a:srgbClr val="2E2E3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lang="ko-KR" altLang="en-US" sz="1600" b="1" dirty="0">
              <a:solidFill>
                <a:srgbClr val="2E2E3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슬라이드 번호 개체 틀 11">
            <a:extLst>
              <a:ext uri="{FF2B5EF4-FFF2-40B4-BE49-F238E27FC236}">
                <a16:creationId xmlns:a16="http://schemas.microsoft.com/office/drawing/2014/main" id="{53A412CD-3994-A79C-CA68-D174F0C3F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2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4B58-D132-4208-7301-ED6BC6EA2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D7301FF-8CB3-745E-C719-B86ECD4FF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EY CPA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기반 보안 성숙도 진단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55DE04-60DD-2A2E-762E-0501F66A44A7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EY CPA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진단 결과 기반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세부 보안 영역별 성숙도의 시사점과 개선 방안 제시</a:t>
            </a:r>
          </a:p>
        </p:txBody>
      </p:sp>
      <p:graphicFrame>
        <p:nvGraphicFramePr>
          <p:cNvPr id="23" name="Table 2">
            <a:extLst>
              <a:ext uri="{FF2B5EF4-FFF2-40B4-BE49-F238E27FC236}">
                <a16:creationId xmlns:a16="http://schemas.microsoft.com/office/drawing/2014/main" id="{C48656F2-D099-77D3-FB37-6128B2A2AE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9204008"/>
              </p:ext>
            </p:extLst>
          </p:nvPr>
        </p:nvGraphicFramePr>
        <p:xfrm>
          <a:off x="428625" y="1436850"/>
          <a:ext cx="4898959" cy="4688894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5568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3835712885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2896063490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208593698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4281015152"/>
                    </a:ext>
                  </a:extLst>
                </a:gridCol>
                <a:gridCol w="468422">
                  <a:extLst>
                    <a:ext uri="{9D8B030D-6E8A-4147-A177-3AD203B41FA5}">
                      <a16:colId xmlns:a16="http://schemas.microsoft.com/office/drawing/2014/main" val="282223465"/>
                    </a:ext>
                  </a:extLst>
                </a:gridCol>
              </a:tblGrid>
              <a:tr h="48365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sz="1200" b="1" kern="1200" noProof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EY CPA 진단 영역</a:t>
                      </a:r>
                      <a:endParaRPr lang="ko-KR" sz="1200" b="1" kern="1200" baseline="30000" noProof="0" dirty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108000" marR="36000" marT="18000" marB="18000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Lv.1</a:t>
                      </a:r>
                      <a:endParaRPr lang="ko-KR" sz="11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2</a:t>
                      </a:r>
                      <a:endParaRPr lang="ko-KR" sz="11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3</a:t>
                      </a:r>
                      <a:endParaRPr lang="ko-KR" sz="11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4</a:t>
                      </a:r>
                      <a:endParaRPr lang="ko-KR" sz="1200" b="0" i="0" u="none" strike="noStrike" spc="-50" baseline="0" noProof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0" marR="0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200" b="1" i="0" u="none" strike="noStrike" kern="1200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n-ea"/>
                          <a:cs typeface="Arial" panose="020B0604020202020204" pitchFamily="34" charset="0"/>
                        </a:rPr>
                        <a:t>Lv.</a:t>
                      </a:r>
                      <a:r>
                        <a:rPr lang="ko-KR" sz="1200" b="1" i="0" u="none" strike="noStrike" spc="-50" baseline="0" noProof="0" dirty="0"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5 </a:t>
                      </a:r>
                      <a:endParaRPr lang="ko-KR" sz="1100" b="0" i="0" u="none" strike="noStrike" spc="-40" baseline="0" noProof="0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6245" marR="6245" marT="18000" marB="1800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모니터링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아키텍처 및 엔지니어링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위협 </a:t>
                      </a:r>
                      <a:r>
                        <a:rPr lang="ko-KR" sz="900" b="1" i="0" u="none" strike="noStrike" kern="1200" spc="-50" noProof="0" err="1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인텔리전스</a:t>
                      </a:r>
                      <a:endParaRPr lang="ko-KR" sz="900" b="1" i="0" u="none" strike="noStrike" kern="1200" spc="-5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Arial" panose="020B0604020202020204" pitchFamily="34" charset="0"/>
                      </a:endParaRP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협력사 및 공급망 리스크 보안 관리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546655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사이버보안 리스크/위험 관리대응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840397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사이버보안 전략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692296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사고 대응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43029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거버넌스, 운영모델 및 조직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185703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사이버보안 컴플라이언스 / 규제준수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999795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회복탄력성 및 사고 복원력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데이터 보호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계정 및 접근권한 관리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취약점 식별 및 조치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인프라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공장 보안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30887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baseline="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IT 자산관리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프라이버시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내부 위협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정책 및 규정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374778"/>
                  </a:ext>
                </a:extLst>
              </a:tr>
              <a:tr h="19344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36000" lvl="0" algn="l" fontAlgn="ctr">
                        <a:buNone/>
                      </a:pPr>
                      <a:r>
                        <a:rPr lang="ko-KR" sz="900" b="1" i="0" u="none" strike="noStrike" kern="1200" spc="-50" noProof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보안 교육 및 임직원 인지도 제고</a:t>
                      </a:r>
                    </a:p>
                  </a:txBody>
                  <a:tcPr marL="36000" marR="36000" marT="18000" marB="1800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9378730"/>
                  </a:ext>
                </a:extLst>
              </a:tr>
              <a:tr h="33630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l" defTabSz="914400" rtl="0" eaLnBrk="1" fontAlgn="t" latinLnBrk="0" hangingPunct="1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ko-KR" sz="900" b="1" i="0" u="none" strike="noStrike" kern="1200" noProof="0" dirty="0" err="1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CPA기반</a:t>
                      </a:r>
                      <a:r>
                        <a:rPr lang="ko-KR" sz="9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Arial" panose="020B0604020202020204" pitchFamily="34" charset="0"/>
                        </a:rPr>
                        <a:t> 종합 성숙도</a:t>
                      </a:r>
                    </a:p>
                  </a:txBody>
                  <a:tcPr marL="72000" marR="6245" marT="6245" marB="0" anchor="ctr">
                    <a:lnL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8E8E8"/>
                    </a:solidFill>
                  </a:tcPr>
                </a:tc>
                <a:tc grid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b"/>
                      <a:endParaRPr lang="ko-KR" sz="1000" b="0" i="0" u="none" strike="noStrike" spc="-50" baseline="0" noProof="0" dirty="0"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6350" marR="6350" marT="6350" marB="0" anchor="ctr">
                    <a:lnL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ko-KR" sz="1000" b="0" i="0" u="none" strike="noStrike" spc="-50" baseline="0" noProof="0">
                        <a:solidFill>
                          <a:schemeClr val="tx1"/>
                        </a:solidFill>
                        <a:effectLst/>
                        <a:latin typeface="+mj-lt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7782160"/>
                  </a:ext>
                </a:extLst>
              </a:tr>
            </a:tbl>
          </a:graphicData>
        </a:graphic>
      </p:graphicFrame>
      <p:grpSp>
        <p:nvGrpSpPr>
          <p:cNvPr id="28" name="Group 30">
            <a:extLst>
              <a:ext uri="{FF2B5EF4-FFF2-40B4-BE49-F238E27FC236}">
                <a16:creationId xmlns:a16="http://schemas.microsoft.com/office/drawing/2014/main" id="{1BA30970-B4DD-0A34-A8DE-447F2DBDAE45}"/>
              </a:ext>
            </a:extLst>
          </p:cNvPr>
          <p:cNvGrpSpPr/>
          <p:nvPr/>
        </p:nvGrpSpPr>
        <p:grpSpPr>
          <a:xfrm>
            <a:off x="4313425" y="1931988"/>
            <a:ext cx="45719" cy="3860797"/>
            <a:chOff x="4419600" y="1549667"/>
            <a:chExt cx="0" cy="4184519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50311DDD-9A0A-97D7-FBA2-28A03099A139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1549667"/>
              <a:ext cx="0" cy="4170233"/>
            </a:xfrm>
            <a:prstGeom prst="line">
              <a:avLst/>
            </a:prstGeom>
            <a:noFill/>
            <a:ln w="31750" cap="flat" cmpd="sng" algn="ctr">
              <a:solidFill>
                <a:srgbClr val="404040"/>
              </a:solidFill>
              <a:prstDash val="solid"/>
              <a:miter lim="800000"/>
            </a:ln>
            <a:effectLst/>
          </p:spPr>
        </p:cxnSp>
        <p:cxnSp>
          <p:nvCxnSpPr>
            <p:cNvPr id="30" name="Straight Connector 32">
              <a:extLst>
                <a:ext uri="{FF2B5EF4-FFF2-40B4-BE49-F238E27FC236}">
                  <a16:creationId xmlns:a16="http://schemas.microsoft.com/office/drawing/2014/main" id="{B7706F97-7798-99D8-A1EE-7D7D26B46B76}"/>
                </a:ext>
              </a:extLst>
            </p:cNvPr>
            <p:cNvCxnSpPr>
              <a:cxnSpLocks/>
            </p:cNvCxnSpPr>
            <p:nvPr/>
          </p:nvCxnSpPr>
          <p:spPr>
            <a:xfrm>
              <a:off x="4419600" y="1563953"/>
              <a:ext cx="0" cy="4170233"/>
            </a:xfrm>
            <a:prstGeom prst="line">
              <a:avLst/>
            </a:prstGeom>
            <a:noFill/>
            <a:ln w="12700" cap="flat" cmpd="sng" algn="ctr">
              <a:solidFill>
                <a:srgbClr val="404040"/>
              </a:solidFill>
              <a:prstDash val="dash"/>
              <a:miter lim="800000"/>
            </a:ln>
            <a:effectLst/>
          </p:spPr>
        </p:cxn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F69146FD-5813-7F4D-9E57-F415B79BC58A}"/>
              </a:ext>
            </a:extLst>
          </p:cNvPr>
          <p:cNvSpPr txBox="1"/>
          <p:nvPr/>
        </p:nvSpPr>
        <p:spPr>
          <a:xfrm>
            <a:off x="3855167" y="5816892"/>
            <a:ext cx="1035050" cy="2860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2.81</a:t>
            </a:r>
            <a:endParaRPr lang="ko-KR" altLang="en-US" sz="1400" b="1" dirty="0">
              <a:solidFill>
                <a:schemeClr val="bg2">
                  <a:lumMod val="1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A98031F-A02C-529E-A79B-A9C16E3DF761}"/>
              </a:ext>
            </a:extLst>
          </p:cNvPr>
          <p:cNvSpPr txBox="1"/>
          <p:nvPr/>
        </p:nvSpPr>
        <p:spPr>
          <a:xfrm>
            <a:off x="3229528" y="5816892"/>
            <a:ext cx="1035050" cy="2860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1.72</a:t>
            </a:r>
            <a:endParaRPr lang="ko-KR" altLang="en-US" sz="1400" b="1" dirty="0">
              <a:solidFill>
                <a:srgbClr val="00438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2FAD15-40D9-652D-8806-3C587F8F4EF2}"/>
              </a:ext>
            </a:extLst>
          </p:cNvPr>
          <p:cNvSpPr txBox="1"/>
          <p:nvPr/>
        </p:nvSpPr>
        <p:spPr>
          <a:xfrm>
            <a:off x="4390307" y="2282537"/>
            <a:ext cx="680114" cy="491135"/>
          </a:xfrm>
          <a:prstGeom prst="rect">
            <a:avLst/>
          </a:prstGeom>
          <a:noFill/>
        </p:spPr>
        <p:txBody>
          <a:bodyPr wrap="square" lIns="0" tIns="36000" rIns="0" bIns="0" rtlCol="0" anchor="t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altLang="ko-KR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Global</a:t>
            </a:r>
            <a:r>
              <a:rPr lang="ko-KR" altLang="en-US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Life Science </a:t>
            </a:r>
            <a:br>
              <a:rPr lang="en-US" altLang="ko-KR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ko-KR" altLang="en-US" sz="1000" b="1" spc="-70" dirty="0">
                <a:solidFill>
                  <a:schemeClr val="bg2">
                    <a:lumMod val="1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산업 평균</a:t>
            </a:r>
            <a:endParaRPr lang="en-US" altLang="ko-KR" sz="1000" b="1" spc="-70" dirty="0">
              <a:solidFill>
                <a:schemeClr val="bg2">
                  <a:lumMod val="1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3FBADA-F1FC-9DB3-0FE0-B57B3EB10624}"/>
              </a:ext>
            </a:extLst>
          </p:cNvPr>
          <p:cNvSpPr txBox="1"/>
          <p:nvPr/>
        </p:nvSpPr>
        <p:spPr>
          <a:xfrm>
            <a:off x="2973425" y="2347591"/>
            <a:ext cx="842816" cy="351998"/>
          </a:xfrm>
          <a:prstGeom prst="rect">
            <a:avLst/>
          </a:prstGeom>
          <a:noFill/>
        </p:spPr>
        <p:txBody>
          <a:bodyPr wrap="square" tIns="36000" rtlCol="0" anchor="t">
            <a:noAutofit/>
          </a:bodyPr>
          <a:lstStyle/>
          <a:p>
            <a:pPr algn="ctr"/>
            <a:r>
              <a:rPr lang="en-US" altLang="ko-KR" sz="1000" b="1" i="1" spc="-50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sz="1000" b="1" i="1" spc="-50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중외제약</a:t>
            </a:r>
            <a:br>
              <a:rPr lang="en-US" altLang="ko-KR" sz="1000" b="1" i="1" spc="-50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000" b="1" i="1" spc="-50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’25</a:t>
            </a:r>
            <a:r>
              <a:rPr lang="ko-KR" altLang="en-US" sz="1000" b="1" i="1" spc="-50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점수</a:t>
            </a:r>
          </a:p>
        </p:txBody>
      </p:sp>
      <p:grpSp>
        <p:nvGrpSpPr>
          <p:cNvPr id="35" name="dynamictitle__6378346839444480856">
            <a:extLst>
              <a:ext uri="{FF2B5EF4-FFF2-40B4-BE49-F238E27FC236}">
                <a16:creationId xmlns:a16="http://schemas.microsoft.com/office/drawing/2014/main" id="{6A3BD687-B931-D8A7-37F8-227C42E01FF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5682927" y="1436850"/>
            <a:ext cx="3788714" cy="288147"/>
            <a:chOff x="2832361" y="1835674"/>
            <a:chExt cx="3534683" cy="509636"/>
          </a:xfrm>
          <a:noFill/>
        </p:grpSpPr>
        <p:sp>
          <p:nvSpPr>
            <p:cNvPr id="36" name="Arrow: Left-Right 56">
              <a:extLst>
                <a:ext uri="{FF2B5EF4-FFF2-40B4-BE49-F238E27FC236}">
                  <a16:creationId xmlns:a16="http://schemas.microsoft.com/office/drawing/2014/main" id="{86BFB732-19E9-7F99-947E-BB909F0B3C84}"/>
                </a:ext>
              </a:extLst>
            </p:cNvPr>
            <p:cNvSpPr/>
            <p:nvPr/>
          </p:nvSpPr>
          <p:spPr>
            <a:xfrm>
              <a:off x="2832361" y="1835674"/>
              <a:ext cx="3534683" cy="509636"/>
            </a:xfrm>
            <a:prstGeom prst="leftRightArrow">
              <a:avLst>
                <a:gd name="adj1" fmla="val 100000"/>
                <a:gd name="adj2" fmla="val 0"/>
              </a:avLst>
            </a:prstGeom>
            <a:grpFill/>
            <a:ln w="9525" cap="flat" cmpd="sng" algn="ctr">
              <a:noFill/>
              <a:prstDash val="solid"/>
            </a:ln>
            <a:effectLst/>
          </p:spPr>
          <p:txBody>
            <a:bodyPr lIns="0" tIns="0" rIns="0" bIns="72000" rtlCol="0" anchor="b" anchorCtr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함초롬돋움" panose="020B0604000101010101" pitchFamily="50" charset="-127"/>
                  <a:sym typeface="Arial Narrow" panose="020B0606020202030204" pitchFamily="34" charset="0"/>
                </a:rPr>
                <a:t>CPA</a:t>
              </a: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2E2E3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  <a:cs typeface="함초롬돋움" panose="020B0604000101010101" pitchFamily="50" charset="-127"/>
                  <a:sym typeface="Arial Narrow" panose="020B0606020202030204" pitchFamily="34" charset="0"/>
                </a:rPr>
                <a:t> 성숙도 레벨별 운영 수준 해석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srgbClr val="2E2E38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함초롬돋움" panose="020B0604000101010101" pitchFamily="50" charset="-127"/>
                <a:sym typeface="Arial Narrow" panose="020B0606020202030204" pitchFamily="34" charset="0"/>
              </a:endParaRPr>
            </a:p>
          </p:txBody>
        </p:sp>
        <p:cxnSp>
          <p:nvCxnSpPr>
            <p:cNvPr id="37" name="Straight Connector 57">
              <a:extLst>
                <a:ext uri="{FF2B5EF4-FFF2-40B4-BE49-F238E27FC236}">
                  <a16:creationId xmlns:a16="http://schemas.microsoft.com/office/drawing/2014/main" id="{3F40073D-2EC6-983E-4705-3316C8765FAB}"/>
                </a:ext>
              </a:extLst>
            </p:cNvPr>
            <p:cNvCxnSpPr>
              <a:cxnSpLocks/>
              <a:stCxn id="36" idx="4"/>
              <a:endCxn id="36" idx="6"/>
            </p:cNvCxnSpPr>
            <p:nvPr/>
          </p:nvCxnSpPr>
          <p:spPr>
            <a:xfrm>
              <a:off x="2832361" y="2345310"/>
              <a:ext cx="3534683" cy="0"/>
            </a:xfrm>
            <a:prstGeom prst="line">
              <a:avLst/>
            </a:prstGeom>
            <a:grpFill/>
            <a:ln w="9525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aphicFrame>
        <p:nvGraphicFramePr>
          <p:cNvPr id="38" name="Table 19">
            <a:extLst>
              <a:ext uri="{FF2B5EF4-FFF2-40B4-BE49-F238E27FC236}">
                <a16:creationId xmlns:a16="http://schemas.microsoft.com/office/drawing/2014/main" id="{38F4BC01-2879-1AF7-61AC-D146C9CB03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632039"/>
              </p:ext>
            </p:extLst>
          </p:nvPr>
        </p:nvGraphicFramePr>
        <p:xfrm>
          <a:off x="5701361" y="1846217"/>
          <a:ext cx="3788714" cy="4330428"/>
        </p:xfrm>
        <a:graphic>
          <a:graphicData uri="http://schemas.openxmlformats.org/drawingml/2006/table">
            <a:tbl>
              <a:tblPr firstRow="1" firstCol="1" bandRow="1"/>
              <a:tblGrid>
                <a:gridCol w="315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31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1953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50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성숙도 레벨 설명</a:t>
                      </a:r>
                      <a:endParaRPr lang="en-US" sz="1200" kern="600" spc="-50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38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5</a:t>
                      </a:r>
                      <a:endParaRPr lang="en-US" sz="2000" kern="600" spc="-50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Optimizing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최적화 달성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보안 프로세스가 전사 전략과 연계되고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, 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자동화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·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성과지표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·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지속개선이 내재화된 단계</a:t>
                      </a:r>
                      <a:endParaRPr kumimoji="0" lang="en-US" altLang="ko-KR" sz="1100" b="0" i="0" u="none" strike="noStrike" kern="60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4</a:t>
                      </a:r>
                      <a:endParaRPr lang="en-US" sz="2000" kern="600" spc="-50" baseline="0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F7F7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Quantitatively Managed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정량 관리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보안 활동이 정량 지표로 측정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·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관리되며</a:t>
                      </a:r>
                      <a:r>
                        <a:rPr lang="en-US" altLang="ko-KR" sz="1100" dirty="0">
                          <a:latin typeface="Noto Sans" panose="020B0502040204020203" pitchFamily="34" charset="0"/>
                        </a:rPr>
                        <a:t>, </a:t>
                      </a:r>
                      <a:r>
                        <a:rPr lang="ko-KR" altLang="en-US" sz="1100" dirty="0">
                          <a:latin typeface="Noto Sans" panose="020B0502040204020203" pitchFamily="34" charset="0"/>
                        </a:rPr>
                        <a:t>운영 결과가 개선 활동과 의사결정에 반영되는 단계</a:t>
                      </a:r>
                      <a:endParaRPr kumimoji="0" lang="en-US" altLang="ko-KR" sz="11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</a:t>
                      </a:r>
                      <a:endParaRPr lang="en-US" sz="2000" kern="60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</a:pPr>
                      <a:r>
                        <a:rPr lang="en-US" sz="12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Defined (</a:t>
                      </a:r>
                      <a:r>
                        <a:rPr lang="ko-KR" altLang="en-US" sz="12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보안체계 안정화 단계</a:t>
                      </a:r>
                      <a:r>
                        <a:rPr lang="en-US" altLang="ko-KR" sz="12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sz="1200" b="0" kern="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algn="l" latinLnBrk="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조직에 필요한 핵심 보안 활동이 정의되고 전사적으로 이행되며</a:t>
                      </a:r>
                      <a:r>
                        <a:rPr lang="en-US" altLang="ko-KR" sz="1100" b="0" spc="-50" baseline="0" dirty="0"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보안 체계가 안정적</a:t>
                      </a:r>
                      <a:r>
                        <a:rPr lang="en-US" altLang="ko-KR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&amp;</a:t>
                      </a:r>
                      <a:r>
                        <a:rPr lang="ko-KR" altLang="en-US" sz="1100" b="0" u="none" spc="-50" baseline="0" dirty="0">
                          <a:latin typeface="맑은 고딕" panose="020B0503020000020004" pitchFamily="50" charset="-127"/>
                          <a:ea typeface="+mn-ea"/>
                        </a:rPr>
                        <a:t>일관되게 운영되는 단계</a:t>
                      </a:r>
                      <a:endParaRPr lang="en-US" altLang="ko-KR" sz="1100" kern="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490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</a:t>
                      </a:r>
                      <a:endParaRPr lang="en-US" sz="2000" kern="60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 Narrow" panose="020B0606020202030204" pitchFamily="34" charset="0"/>
                        </a:rPr>
                        <a:t>Managed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 Narrow" panose="020B0606020202030204" pitchFamily="34" charset="0"/>
                        </a:rPr>
                        <a:t>프로세스 정착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 Narrow" panose="020B060602020203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조직 내 정책과 절차를 수립하고</a:t>
                      </a:r>
                      <a:r>
                        <a:rPr kumimoji="0" lang="en-US" altLang="ko-KR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제한적인 범위 내에서 보안 활동이 실행</a:t>
                      </a:r>
                      <a:r>
                        <a:rPr kumimoji="0" lang="en-US" altLang="ko-KR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·</a:t>
                      </a: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운영되는 단계</a:t>
                      </a:r>
                      <a:endParaRPr kumimoji="0" lang="en-US" altLang="ko-KR" sz="11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33393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algn="ctr">
                        <a:lnSpc>
                          <a:spcPts val="14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0" spc="-50" baseline="0" dirty="0"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endParaRPr lang="en-US" sz="2000" kern="600" spc="-50" baseline="0" dirty="0"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45720" marR="4572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Initial (</a:t>
                      </a:r>
                      <a:r>
                        <a:rPr kumimoji="0" lang="ko-KR" altLang="en-US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초기 단계</a:t>
                      </a:r>
                      <a:r>
                        <a:rPr kumimoji="0" lang="en-US" altLang="ko-KR" sz="1200" b="1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en-US" altLang="ko-KR" sz="12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eaLnBrk="1" fontAlgn="auto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조직 내 보안 활동이 단편적으로 이루어지며</a:t>
                      </a:r>
                      <a:r>
                        <a:rPr kumimoji="0" lang="en-US" altLang="ko-KR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1100" b="0" i="0" u="none" strike="noStrike" kern="0" cap="none" spc="-5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정책과 절차가 수립되지 않아 체계적 운영 기반이 부족한 단계</a:t>
                      </a:r>
                      <a:endParaRPr kumimoji="0" lang="en-US" altLang="ko-KR" sz="1100" b="0" i="0" u="none" strike="noStrike" kern="0" cap="none" spc="-5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72000" marR="72000" marT="36000" marB="36000" anchor="ctr">
                    <a:lnL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39" name="직선 연결선 6">
            <a:extLst>
              <a:ext uri="{FF2B5EF4-FFF2-40B4-BE49-F238E27FC236}">
                <a16:creationId xmlns:a16="http://schemas.microsoft.com/office/drawing/2014/main" id="{5EB398DA-A320-D603-DC8B-E5C6EDED0B41}"/>
              </a:ext>
            </a:extLst>
          </p:cNvPr>
          <p:cNvCxnSpPr/>
          <p:nvPr/>
        </p:nvCxnSpPr>
        <p:spPr>
          <a:xfrm>
            <a:off x="3782212" y="1945169"/>
            <a:ext cx="0" cy="3834435"/>
          </a:xfrm>
          <a:prstGeom prst="line">
            <a:avLst/>
          </a:prstGeom>
          <a:noFill/>
          <a:ln w="28575" cap="flat" cmpd="sng" algn="ctr">
            <a:solidFill>
              <a:srgbClr val="D9D9D9"/>
            </a:solidFill>
            <a:prstDash val="solid"/>
            <a:miter lim="800000"/>
          </a:ln>
          <a:effectLst/>
        </p:spPr>
      </p:cxnSp>
      <p:sp>
        <p:nvSpPr>
          <p:cNvPr id="7" name="슬라이드 번호 개체 틀 11">
            <a:extLst>
              <a:ext uri="{FF2B5EF4-FFF2-40B4-BE49-F238E27FC236}">
                <a16:creationId xmlns:a16="http://schemas.microsoft.com/office/drawing/2014/main" id="{5CC021DE-3AA8-E57C-BBDE-9BC3EFCC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3124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52DE6-AA58-A215-FDBE-0AE18A770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29B372F-8041-7C82-10F6-755FD7B7A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인프라 및 시스템  진단</a:t>
            </a:r>
          </a:p>
        </p:txBody>
      </p:sp>
      <p:sp>
        <p:nvSpPr>
          <p:cNvPr id="182" name="Rectangle 13">
            <a:extLst>
              <a:ext uri="{FF2B5EF4-FFF2-40B4-BE49-F238E27FC236}">
                <a16:creationId xmlns:a16="http://schemas.microsoft.com/office/drawing/2014/main" id="{559CBEDD-C1E8-648D-36CA-C824833DFB5C}"/>
              </a:ext>
            </a:extLst>
          </p:cNvPr>
          <p:cNvSpPr>
            <a:spLocks noChangeArrowheads="1"/>
          </p:cNvSpPr>
          <p:nvPr/>
        </p:nvSpPr>
        <p:spPr bwMode="gray">
          <a:xfrm>
            <a:off x="428625" y="1449388"/>
            <a:ext cx="6017895" cy="445429"/>
          </a:xfrm>
          <a:prstGeom prst="rect">
            <a:avLst/>
          </a:prstGeom>
          <a:solidFill>
            <a:schemeClr val="bg1"/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144000" rIns="72000" bIns="10800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80000"/>
              </a:lnSpc>
              <a:spcBef>
                <a:spcPts val="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수행 내용</a:t>
            </a:r>
          </a:p>
        </p:txBody>
      </p:sp>
      <p:sp>
        <p:nvSpPr>
          <p:cNvPr id="183" name="Rectangle 251">
            <a:extLst>
              <a:ext uri="{FF2B5EF4-FFF2-40B4-BE49-F238E27FC236}">
                <a16:creationId xmlns:a16="http://schemas.microsoft.com/office/drawing/2014/main" id="{01E1AEE5-EF67-5AAE-1AA7-33DD5FD4E603}"/>
              </a:ext>
            </a:extLst>
          </p:cNvPr>
          <p:cNvSpPr/>
          <p:nvPr/>
        </p:nvSpPr>
        <p:spPr>
          <a:xfrm>
            <a:off x="443057" y="1997477"/>
            <a:ext cx="6003463" cy="40830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" lastClr="FFFFFF">
                <a:lumMod val="7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4" name="Rectangle: Rounded Corners 144">
            <a:extLst>
              <a:ext uri="{FF2B5EF4-FFF2-40B4-BE49-F238E27FC236}">
                <a16:creationId xmlns:a16="http://schemas.microsoft.com/office/drawing/2014/main" id="{F336E925-DDF7-15E7-E15F-D8C0293665F9}"/>
              </a:ext>
            </a:extLst>
          </p:cNvPr>
          <p:cNvSpPr/>
          <p:nvPr/>
        </p:nvSpPr>
        <p:spPr>
          <a:xfrm>
            <a:off x="997546" y="2792142"/>
            <a:ext cx="1247359" cy="2639559"/>
          </a:xfrm>
          <a:prstGeom prst="roundRect">
            <a:avLst/>
          </a:prstGeom>
          <a:solidFill>
            <a:sysClr val="window" lastClr="FFFFFF">
              <a:lumMod val="95000"/>
              <a:alpha val="20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5" name="Rectangle: Rounded Corners 145">
            <a:extLst>
              <a:ext uri="{FF2B5EF4-FFF2-40B4-BE49-F238E27FC236}">
                <a16:creationId xmlns:a16="http://schemas.microsoft.com/office/drawing/2014/main" id="{EA9AE565-22B4-4C6E-12A3-48D7BFD6E037}"/>
              </a:ext>
            </a:extLst>
          </p:cNvPr>
          <p:cNvSpPr/>
          <p:nvPr/>
        </p:nvSpPr>
        <p:spPr>
          <a:xfrm>
            <a:off x="2332738" y="2792879"/>
            <a:ext cx="1248923" cy="2638849"/>
          </a:xfrm>
          <a:prstGeom prst="roundRect">
            <a:avLst/>
          </a:prstGeom>
          <a:solidFill>
            <a:sysClr val="window" lastClr="FFFFFF">
              <a:lumMod val="95000"/>
              <a:alpha val="20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6" name="Rectangle: Rounded Corners 146">
            <a:extLst>
              <a:ext uri="{FF2B5EF4-FFF2-40B4-BE49-F238E27FC236}">
                <a16:creationId xmlns:a16="http://schemas.microsoft.com/office/drawing/2014/main" id="{CCAF3124-C37F-0E2F-730B-2251D345D96A}"/>
              </a:ext>
            </a:extLst>
          </p:cNvPr>
          <p:cNvSpPr/>
          <p:nvPr/>
        </p:nvSpPr>
        <p:spPr>
          <a:xfrm>
            <a:off x="3667059" y="2792090"/>
            <a:ext cx="1248923" cy="2638851"/>
          </a:xfrm>
          <a:prstGeom prst="roundRect">
            <a:avLst/>
          </a:prstGeom>
          <a:solidFill>
            <a:sysClr val="window" lastClr="FFFFFF">
              <a:lumMod val="95000"/>
              <a:alpha val="20000"/>
            </a:sysClr>
          </a:solidFill>
          <a:ln w="19050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187" name="AutoShape 21">
            <a:extLst>
              <a:ext uri="{FF2B5EF4-FFF2-40B4-BE49-F238E27FC236}">
                <a16:creationId xmlns:a16="http://schemas.microsoft.com/office/drawing/2014/main" id="{C2CB19E1-D371-11E3-F92D-3DD19A0FCC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620978" y="3482128"/>
            <a:ext cx="0" cy="10792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88" name="AutoShape 22">
            <a:extLst>
              <a:ext uri="{FF2B5EF4-FFF2-40B4-BE49-F238E27FC236}">
                <a16:creationId xmlns:a16="http://schemas.microsoft.com/office/drawing/2014/main" id="{211011EF-2C67-59E7-5438-00F89B122EE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7661" y="3343706"/>
            <a:ext cx="951656" cy="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89" name="AutoShape 23">
            <a:extLst>
              <a:ext uri="{FF2B5EF4-FFF2-40B4-BE49-F238E27FC236}">
                <a16:creationId xmlns:a16="http://schemas.microsoft.com/office/drawing/2014/main" id="{AD263CE0-FB1E-3620-F029-AFAFF7994441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77661" y="3724950"/>
            <a:ext cx="951656" cy="351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0" name="AutoShape 24">
            <a:extLst>
              <a:ext uri="{FF2B5EF4-FFF2-40B4-BE49-F238E27FC236}">
                <a16:creationId xmlns:a16="http://schemas.microsoft.com/office/drawing/2014/main" id="{F0A87C0F-75D0-6E0E-F7AC-70415014A46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689181" y="3440711"/>
            <a:ext cx="0" cy="21565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1" name="AutoShape 25">
            <a:extLst>
              <a:ext uri="{FF2B5EF4-FFF2-40B4-BE49-F238E27FC236}">
                <a16:creationId xmlns:a16="http://schemas.microsoft.com/office/drawing/2014/main" id="{4699C7CE-9010-8B7D-CD02-CC036BB17619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777661" y="3343706"/>
            <a:ext cx="951656" cy="38124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2" name="AutoShape 26">
            <a:extLst>
              <a:ext uri="{FF2B5EF4-FFF2-40B4-BE49-F238E27FC236}">
                <a16:creationId xmlns:a16="http://schemas.microsoft.com/office/drawing/2014/main" id="{149F358C-A639-B253-F890-88879BD7F3C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777661" y="3343706"/>
            <a:ext cx="951656" cy="38476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3" name="AutoShape 27">
            <a:extLst>
              <a:ext uri="{FF2B5EF4-FFF2-40B4-BE49-F238E27FC236}">
                <a16:creationId xmlns:a16="http://schemas.microsoft.com/office/drawing/2014/main" id="{65755D69-22B3-9E08-84AC-6442AFD5F30A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4" y="3274495"/>
            <a:ext cx="407249" cy="45045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4" name="AutoShape 28">
            <a:extLst>
              <a:ext uri="{FF2B5EF4-FFF2-40B4-BE49-F238E27FC236}">
                <a16:creationId xmlns:a16="http://schemas.microsoft.com/office/drawing/2014/main" id="{0B024990-A8D3-4405-E08D-9C19A6F6067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4" y="3343706"/>
            <a:ext cx="386959" cy="8563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5" name="AutoShape 29">
            <a:extLst>
              <a:ext uri="{FF2B5EF4-FFF2-40B4-BE49-F238E27FC236}">
                <a16:creationId xmlns:a16="http://schemas.microsoft.com/office/drawing/2014/main" id="{43AA0EE9-552C-AA42-537D-41E704CF28C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4" y="3724950"/>
            <a:ext cx="386959" cy="3284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6" name="AutoShape 30">
            <a:extLst>
              <a:ext uri="{FF2B5EF4-FFF2-40B4-BE49-F238E27FC236}">
                <a16:creationId xmlns:a16="http://schemas.microsoft.com/office/drawing/2014/main" id="{78B91E10-5C55-3C2C-11E9-33EEFA08E2A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3" y="3594742"/>
            <a:ext cx="392757" cy="13020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7" name="AutoShape 31">
            <a:extLst>
              <a:ext uri="{FF2B5EF4-FFF2-40B4-BE49-F238E27FC236}">
                <a16:creationId xmlns:a16="http://schemas.microsoft.com/office/drawing/2014/main" id="{7249B36E-5B01-3646-319C-C28191214AA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3" y="3343706"/>
            <a:ext cx="392757" cy="25103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8" name="AutoShape 32">
            <a:extLst>
              <a:ext uri="{FF2B5EF4-FFF2-40B4-BE49-F238E27FC236}">
                <a16:creationId xmlns:a16="http://schemas.microsoft.com/office/drawing/2014/main" id="{6AED0050-DCFD-3893-2BC1-5AFE9F9690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44924" y="3343706"/>
            <a:ext cx="386959" cy="41408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199" name="AutoShape 33">
            <a:extLst>
              <a:ext uri="{FF2B5EF4-FFF2-40B4-BE49-F238E27FC236}">
                <a16:creationId xmlns:a16="http://schemas.microsoft.com/office/drawing/2014/main" id="{3695FBD3-76E0-F1D4-38F8-DF54A9C53F98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4" y="3429341"/>
            <a:ext cx="386959" cy="29561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0" name="AutoShape 34">
            <a:extLst>
              <a:ext uri="{FF2B5EF4-FFF2-40B4-BE49-F238E27FC236}">
                <a16:creationId xmlns:a16="http://schemas.microsoft.com/office/drawing/2014/main" id="{25385343-D089-4191-35A4-7FCA082F7027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44924" y="3274495"/>
            <a:ext cx="407249" cy="6921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1" name="AutoShape 37">
            <a:extLst>
              <a:ext uri="{FF2B5EF4-FFF2-40B4-BE49-F238E27FC236}">
                <a16:creationId xmlns:a16="http://schemas.microsoft.com/office/drawing/2014/main" id="{F49C0B7B-6628-7FE1-AFDD-96B257997ACA}"/>
              </a:ext>
            </a:extLst>
          </p:cNvPr>
          <p:cNvCxnSpPr>
            <a:cxnSpLocks noChangeShapeType="1"/>
            <a:stCxn id="219" idx="3"/>
          </p:cNvCxnSpPr>
          <p:nvPr/>
        </p:nvCxnSpPr>
        <p:spPr bwMode="auto">
          <a:xfrm flipV="1">
            <a:off x="3513046" y="3259246"/>
            <a:ext cx="788397" cy="1524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2" name="AutoShape 38">
            <a:extLst>
              <a:ext uri="{FF2B5EF4-FFF2-40B4-BE49-F238E27FC236}">
                <a16:creationId xmlns:a16="http://schemas.microsoft.com/office/drawing/2014/main" id="{F55280F1-9A42-41B2-8B42-891506DE17B9}"/>
              </a:ext>
            </a:extLst>
          </p:cNvPr>
          <p:cNvCxnSpPr>
            <a:cxnSpLocks noChangeShapeType="1"/>
            <a:stCxn id="219" idx="3"/>
          </p:cNvCxnSpPr>
          <p:nvPr/>
        </p:nvCxnSpPr>
        <p:spPr bwMode="auto">
          <a:xfrm>
            <a:off x="3513046" y="3274495"/>
            <a:ext cx="788397" cy="47391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3" name="AutoShape 39">
            <a:extLst>
              <a:ext uri="{FF2B5EF4-FFF2-40B4-BE49-F238E27FC236}">
                <a16:creationId xmlns:a16="http://schemas.microsoft.com/office/drawing/2014/main" id="{BEFC7A79-5408-5F93-0EC8-DE1872DF3D6A}"/>
              </a:ext>
            </a:extLst>
          </p:cNvPr>
          <p:cNvCxnSpPr>
            <a:cxnSpLocks noChangeShapeType="1"/>
            <a:stCxn id="219" idx="3"/>
          </p:cNvCxnSpPr>
          <p:nvPr/>
        </p:nvCxnSpPr>
        <p:spPr bwMode="auto">
          <a:xfrm>
            <a:off x="3513046" y="3274495"/>
            <a:ext cx="788397" cy="22522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4" name="AutoShape 40">
            <a:extLst>
              <a:ext uri="{FF2B5EF4-FFF2-40B4-BE49-F238E27FC236}">
                <a16:creationId xmlns:a16="http://schemas.microsoft.com/office/drawing/2014/main" id="{76277C80-D480-E0B1-3F33-5F09266B3436}"/>
              </a:ext>
            </a:extLst>
          </p:cNvPr>
          <p:cNvCxnSpPr>
            <a:cxnSpLocks noChangeShapeType="1"/>
            <a:stCxn id="221" idx="3"/>
          </p:cNvCxnSpPr>
          <p:nvPr/>
        </p:nvCxnSpPr>
        <p:spPr bwMode="auto">
          <a:xfrm flipV="1">
            <a:off x="3513046" y="3259246"/>
            <a:ext cx="788397" cy="16950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5" name="AutoShape 41">
            <a:extLst>
              <a:ext uri="{FF2B5EF4-FFF2-40B4-BE49-F238E27FC236}">
                <a16:creationId xmlns:a16="http://schemas.microsoft.com/office/drawing/2014/main" id="{E71E9426-63A4-BDCB-BC05-B6D1DD1F51D8}"/>
              </a:ext>
            </a:extLst>
          </p:cNvPr>
          <p:cNvCxnSpPr>
            <a:cxnSpLocks noChangeShapeType="1"/>
            <a:stCxn id="221" idx="3"/>
          </p:cNvCxnSpPr>
          <p:nvPr/>
        </p:nvCxnSpPr>
        <p:spPr bwMode="auto">
          <a:xfrm>
            <a:off x="3513046" y="3428752"/>
            <a:ext cx="788397" cy="7097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6" name="AutoShape 42">
            <a:extLst>
              <a:ext uri="{FF2B5EF4-FFF2-40B4-BE49-F238E27FC236}">
                <a16:creationId xmlns:a16="http://schemas.microsoft.com/office/drawing/2014/main" id="{649675FD-AF5F-A146-A97C-A138BDBFB1BD}"/>
              </a:ext>
            </a:extLst>
          </p:cNvPr>
          <p:cNvCxnSpPr>
            <a:cxnSpLocks noChangeShapeType="1"/>
            <a:stCxn id="221" idx="3"/>
          </p:cNvCxnSpPr>
          <p:nvPr/>
        </p:nvCxnSpPr>
        <p:spPr bwMode="auto">
          <a:xfrm>
            <a:off x="3513046" y="3428752"/>
            <a:ext cx="788397" cy="3196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7" name="AutoShape 43">
            <a:extLst>
              <a:ext uri="{FF2B5EF4-FFF2-40B4-BE49-F238E27FC236}">
                <a16:creationId xmlns:a16="http://schemas.microsoft.com/office/drawing/2014/main" id="{03729652-999C-89F6-0E28-C9A07A3B140C}"/>
              </a:ext>
            </a:extLst>
          </p:cNvPr>
          <p:cNvCxnSpPr>
            <a:cxnSpLocks noChangeShapeType="1"/>
            <a:stCxn id="220" idx="3"/>
          </p:cNvCxnSpPr>
          <p:nvPr/>
        </p:nvCxnSpPr>
        <p:spPr bwMode="auto">
          <a:xfrm flipV="1">
            <a:off x="3526089" y="3259246"/>
            <a:ext cx="775353" cy="33549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8" name="AutoShape 44">
            <a:extLst>
              <a:ext uri="{FF2B5EF4-FFF2-40B4-BE49-F238E27FC236}">
                <a16:creationId xmlns:a16="http://schemas.microsoft.com/office/drawing/2014/main" id="{3E777DD9-3E89-0A6D-EFE5-510B435442A5}"/>
              </a:ext>
            </a:extLst>
          </p:cNvPr>
          <p:cNvCxnSpPr>
            <a:cxnSpLocks noChangeShapeType="1"/>
            <a:stCxn id="220" idx="3"/>
          </p:cNvCxnSpPr>
          <p:nvPr/>
        </p:nvCxnSpPr>
        <p:spPr bwMode="auto">
          <a:xfrm flipV="1">
            <a:off x="3526089" y="3499723"/>
            <a:ext cx="775353" cy="9501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09" name="AutoShape 45">
            <a:extLst>
              <a:ext uri="{FF2B5EF4-FFF2-40B4-BE49-F238E27FC236}">
                <a16:creationId xmlns:a16="http://schemas.microsoft.com/office/drawing/2014/main" id="{3E2096C1-7FF6-02F9-CDB9-2BB332AAF130}"/>
              </a:ext>
            </a:extLst>
          </p:cNvPr>
          <p:cNvCxnSpPr>
            <a:cxnSpLocks noChangeShapeType="1"/>
            <a:stCxn id="220" idx="3"/>
          </p:cNvCxnSpPr>
          <p:nvPr/>
        </p:nvCxnSpPr>
        <p:spPr bwMode="auto">
          <a:xfrm>
            <a:off x="3526089" y="3594741"/>
            <a:ext cx="775353" cy="153672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10" name="AutoShape 46">
            <a:extLst>
              <a:ext uri="{FF2B5EF4-FFF2-40B4-BE49-F238E27FC236}">
                <a16:creationId xmlns:a16="http://schemas.microsoft.com/office/drawing/2014/main" id="{91278A58-6718-606D-27C8-30A254B5EAC0}"/>
              </a:ext>
            </a:extLst>
          </p:cNvPr>
          <p:cNvCxnSpPr>
            <a:cxnSpLocks noChangeShapeType="1"/>
            <a:stCxn id="222" idx="3"/>
          </p:cNvCxnSpPr>
          <p:nvPr/>
        </p:nvCxnSpPr>
        <p:spPr bwMode="auto">
          <a:xfrm flipV="1">
            <a:off x="3526814" y="3259246"/>
            <a:ext cx="774631" cy="49796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11" name="AutoShape 47">
            <a:extLst>
              <a:ext uri="{FF2B5EF4-FFF2-40B4-BE49-F238E27FC236}">
                <a16:creationId xmlns:a16="http://schemas.microsoft.com/office/drawing/2014/main" id="{F90288B2-055B-87E9-759D-8BB59480A092}"/>
              </a:ext>
            </a:extLst>
          </p:cNvPr>
          <p:cNvCxnSpPr>
            <a:cxnSpLocks noChangeShapeType="1"/>
            <a:stCxn id="222" idx="3"/>
          </p:cNvCxnSpPr>
          <p:nvPr/>
        </p:nvCxnSpPr>
        <p:spPr bwMode="auto">
          <a:xfrm flipV="1">
            <a:off x="3526814" y="3499723"/>
            <a:ext cx="774631" cy="25748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12" name="AutoShape 48">
            <a:extLst>
              <a:ext uri="{FF2B5EF4-FFF2-40B4-BE49-F238E27FC236}">
                <a16:creationId xmlns:a16="http://schemas.microsoft.com/office/drawing/2014/main" id="{97072969-340D-F44D-BEB8-5B35AA279ADB}"/>
              </a:ext>
            </a:extLst>
          </p:cNvPr>
          <p:cNvCxnSpPr>
            <a:cxnSpLocks noChangeShapeType="1"/>
            <a:stCxn id="222" idx="3"/>
          </p:cNvCxnSpPr>
          <p:nvPr/>
        </p:nvCxnSpPr>
        <p:spPr bwMode="auto">
          <a:xfrm flipV="1">
            <a:off x="3526814" y="3748411"/>
            <a:ext cx="774631" cy="879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sp>
        <p:nvSpPr>
          <p:cNvPr id="213" name="Text Box 54">
            <a:extLst>
              <a:ext uri="{FF2B5EF4-FFF2-40B4-BE49-F238E27FC236}">
                <a16:creationId xmlns:a16="http://schemas.microsoft.com/office/drawing/2014/main" id="{4DD5154A-9ACD-50FF-63F3-2C8D4D7A6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3717" y="2817459"/>
            <a:ext cx="927410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1901" tIns="0" rIns="101901" bIns="0">
            <a:spAutoFit/>
          </a:bodyPr>
          <a:lstStyle/>
          <a:p>
            <a:pPr algn="ctr" defTabSz="1018921">
              <a:spcBef>
                <a:spcPct val="50000"/>
              </a:spcBef>
              <a:defRPr/>
            </a:pPr>
            <a:r>
              <a:rPr lang="ko-KR" altLang="en-US" sz="1050" b="1" ker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네트워크</a:t>
            </a:r>
          </a:p>
        </p:txBody>
      </p:sp>
      <p:sp>
        <p:nvSpPr>
          <p:cNvPr id="214" name="Text Box 55">
            <a:extLst>
              <a:ext uri="{FF2B5EF4-FFF2-40B4-BE49-F238E27FC236}">
                <a16:creationId xmlns:a16="http://schemas.microsoft.com/office/drawing/2014/main" id="{A81F0BBE-9327-C21C-1B08-409318529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1139" y="2817459"/>
            <a:ext cx="1304359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901" tIns="0" rIns="101901" bIns="0">
            <a:spAutoFit/>
          </a:bodyPr>
          <a:lstStyle/>
          <a:p>
            <a:pPr algn="ctr" defTabSz="1018921">
              <a:spcBef>
                <a:spcPct val="50000"/>
              </a:spcBef>
              <a:defRPr/>
            </a:pPr>
            <a:r>
              <a:rPr lang="ko-KR" altLang="en-US" sz="1050" b="1" kern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보안시스템</a:t>
            </a:r>
          </a:p>
        </p:txBody>
      </p:sp>
      <p:graphicFrame>
        <p:nvGraphicFramePr>
          <p:cNvPr id="215" name="Object 2">
            <a:extLst>
              <a:ext uri="{FF2B5EF4-FFF2-40B4-BE49-F238E27FC236}">
                <a16:creationId xmlns:a16="http://schemas.microsoft.com/office/drawing/2014/main" id="{73B425A4-82CA-4307-0145-3AB427CCA1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771775"/>
              </p:ext>
            </p:extLst>
          </p:nvPr>
        </p:nvGraphicFramePr>
        <p:xfrm>
          <a:off x="1425250" y="3206456"/>
          <a:ext cx="407249" cy="2756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5566" imgH="515698" progId="Visio.Drawing.11">
                  <p:embed/>
                </p:oleObj>
              </mc:Choice>
              <mc:Fallback>
                <p:oleObj name="Visio" r:id="rId2" imgW="515566" imgH="515698" progId="Visio.Drawing.11">
                  <p:embed/>
                  <p:pic>
                    <p:nvPicPr>
                      <p:cNvPr id="178" name="Object 2">
                        <a:extLst>
                          <a:ext uri="{FF2B5EF4-FFF2-40B4-BE49-F238E27FC236}">
                            <a16:creationId xmlns:a16="http://schemas.microsoft.com/office/drawing/2014/main" id="{4D6B518D-4017-23B5-8AFC-28BD3C4CE6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250" y="3206456"/>
                        <a:ext cx="407249" cy="2756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6" name="Object 3">
            <a:extLst>
              <a:ext uri="{FF2B5EF4-FFF2-40B4-BE49-F238E27FC236}">
                <a16:creationId xmlns:a16="http://schemas.microsoft.com/office/drawing/2014/main" id="{ABE6EEBB-DA16-6979-7C35-5426F687B1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8311699"/>
              </p:ext>
            </p:extLst>
          </p:nvPr>
        </p:nvGraphicFramePr>
        <p:xfrm>
          <a:off x="2542804" y="3202939"/>
          <a:ext cx="292756" cy="2827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1543" imgH="587675" progId="Visio.Drawing.11">
                  <p:embed/>
                </p:oleObj>
              </mc:Choice>
              <mc:Fallback>
                <p:oleObj name="Visio" r:id="rId4" imgW="371543" imgH="587675" progId="Visio.Drawing.11">
                  <p:embed/>
                  <p:pic>
                    <p:nvPicPr>
                      <p:cNvPr id="179" name="Object 3">
                        <a:extLst>
                          <a:ext uri="{FF2B5EF4-FFF2-40B4-BE49-F238E27FC236}">
                            <a16:creationId xmlns:a16="http://schemas.microsoft.com/office/drawing/2014/main" id="{4F685E25-52E3-2357-A3EA-C2788D8900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804" y="3202939"/>
                        <a:ext cx="292756" cy="28270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7" name="Object 5">
            <a:extLst>
              <a:ext uri="{FF2B5EF4-FFF2-40B4-BE49-F238E27FC236}">
                <a16:creationId xmlns:a16="http://schemas.microsoft.com/office/drawing/2014/main" id="{D4E2A43C-64BC-DC50-0E0C-220C636F77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0407627"/>
              </p:ext>
            </p:extLst>
          </p:nvPr>
        </p:nvGraphicFramePr>
        <p:xfrm>
          <a:off x="1425250" y="3590049"/>
          <a:ext cx="407249" cy="275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515566" imgH="515698" progId="Visio.Drawing.11">
                  <p:embed/>
                </p:oleObj>
              </mc:Choice>
              <mc:Fallback>
                <p:oleObj name="Visio" r:id="rId2" imgW="515566" imgH="515698" progId="Visio.Drawing.11">
                  <p:embed/>
                  <p:pic>
                    <p:nvPicPr>
                      <p:cNvPr id="180" name="Object 5">
                        <a:extLst>
                          <a:ext uri="{FF2B5EF4-FFF2-40B4-BE49-F238E27FC236}">
                            <a16:creationId xmlns:a16="http://schemas.microsoft.com/office/drawing/2014/main" id="{71F2960D-9C5B-7B8D-8A78-2D63BB8436C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5250" y="3590049"/>
                        <a:ext cx="407249" cy="2756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8" name="Object 6">
            <a:extLst>
              <a:ext uri="{FF2B5EF4-FFF2-40B4-BE49-F238E27FC236}">
                <a16:creationId xmlns:a16="http://schemas.microsoft.com/office/drawing/2014/main" id="{FC0D9F33-0864-AAB4-F385-E9AAAF7FC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3327750"/>
              </p:ext>
            </p:extLst>
          </p:nvPr>
        </p:nvGraphicFramePr>
        <p:xfrm>
          <a:off x="2542804" y="3584184"/>
          <a:ext cx="292756" cy="2815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371543" imgH="587675" progId="Visio.Drawing.11">
                  <p:embed/>
                </p:oleObj>
              </mc:Choice>
              <mc:Fallback>
                <p:oleObj name="Visio" r:id="rId4" imgW="371543" imgH="587675" progId="Visio.Drawing.11">
                  <p:embed/>
                  <p:pic>
                    <p:nvPicPr>
                      <p:cNvPr id="181" name="Object 6">
                        <a:extLst>
                          <a:ext uri="{FF2B5EF4-FFF2-40B4-BE49-F238E27FC236}">
                            <a16:creationId xmlns:a16="http://schemas.microsoft.com/office/drawing/2014/main" id="{2CDC3B25-2B9C-EED4-BF86-8CA20138D76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2804" y="3584184"/>
                        <a:ext cx="292756" cy="2815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9" name="Object 7">
            <a:extLst>
              <a:ext uri="{FF2B5EF4-FFF2-40B4-BE49-F238E27FC236}">
                <a16:creationId xmlns:a16="http://schemas.microsoft.com/office/drawing/2014/main" id="{B0C82241-B96B-1289-66FA-CB434D638D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617895"/>
              </p:ext>
            </p:extLst>
          </p:nvPr>
        </p:nvGraphicFramePr>
        <p:xfrm>
          <a:off x="3147825" y="3174785"/>
          <a:ext cx="365220" cy="1994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63685" imgH="441834" progId="Visio.Drawing.11">
                  <p:embed/>
                </p:oleObj>
              </mc:Choice>
              <mc:Fallback>
                <p:oleObj name="Visio" r:id="rId6" imgW="463685" imgH="441834" progId="Visio.Drawing.11">
                  <p:embed/>
                  <p:pic>
                    <p:nvPicPr>
                      <p:cNvPr id="182" name="Object 7">
                        <a:extLst>
                          <a:ext uri="{FF2B5EF4-FFF2-40B4-BE49-F238E27FC236}">
                            <a16:creationId xmlns:a16="http://schemas.microsoft.com/office/drawing/2014/main" id="{86CA1387-C04F-D1FD-54D3-CAA47404AA7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825" y="3174785"/>
                        <a:ext cx="365220" cy="1994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0" name="Object 8">
            <a:extLst>
              <a:ext uri="{FF2B5EF4-FFF2-40B4-BE49-F238E27FC236}">
                <a16:creationId xmlns:a16="http://schemas.microsoft.com/office/drawing/2014/main" id="{18F21228-F571-DDEE-C682-DC61349A8E5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3832744"/>
              </p:ext>
            </p:extLst>
          </p:nvPr>
        </p:nvGraphicFramePr>
        <p:xfrm>
          <a:off x="3134782" y="3499723"/>
          <a:ext cx="391307" cy="1900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497732" imgH="422694" progId="Visio.Drawing.11">
                  <p:embed/>
                </p:oleObj>
              </mc:Choice>
              <mc:Fallback>
                <p:oleObj name="Visio" r:id="rId8" imgW="497732" imgH="422694" progId="Visio.Drawing.11">
                  <p:embed/>
                  <p:pic>
                    <p:nvPicPr>
                      <p:cNvPr id="183" name="Object 8">
                        <a:extLst>
                          <a:ext uri="{FF2B5EF4-FFF2-40B4-BE49-F238E27FC236}">
                            <a16:creationId xmlns:a16="http://schemas.microsoft.com/office/drawing/2014/main" id="{B9B33B83-FFFC-06A1-4468-FB6AA392C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782" y="3499723"/>
                        <a:ext cx="391307" cy="1900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" name="Object 9">
            <a:extLst>
              <a:ext uri="{FF2B5EF4-FFF2-40B4-BE49-F238E27FC236}">
                <a16:creationId xmlns:a16="http://schemas.microsoft.com/office/drawing/2014/main" id="{DB7EA830-3F9C-2B11-843E-22993D26E89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124753"/>
              </p:ext>
            </p:extLst>
          </p:nvPr>
        </p:nvGraphicFramePr>
        <p:xfrm>
          <a:off x="3147825" y="3329630"/>
          <a:ext cx="365220" cy="1982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6" imgW="463685" imgH="441834" progId="Visio.Drawing.11">
                  <p:embed/>
                </p:oleObj>
              </mc:Choice>
              <mc:Fallback>
                <p:oleObj name="Visio" r:id="rId6" imgW="463685" imgH="441834" progId="Visio.Drawing.11">
                  <p:embed/>
                  <p:pic>
                    <p:nvPicPr>
                      <p:cNvPr id="184" name="Object 9">
                        <a:extLst>
                          <a:ext uri="{FF2B5EF4-FFF2-40B4-BE49-F238E27FC236}">
                            <a16:creationId xmlns:a16="http://schemas.microsoft.com/office/drawing/2014/main" id="{EAE0F922-FB7C-B170-1527-617859F7B76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7825" y="3329630"/>
                        <a:ext cx="365220" cy="19824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2" name="Object 10">
            <a:extLst>
              <a:ext uri="{FF2B5EF4-FFF2-40B4-BE49-F238E27FC236}">
                <a16:creationId xmlns:a16="http://schemas.microsoft.com/office/drawing/2014/main" id="{07B025F1-2608-4154-D164-B77C35BD88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3963189"/>
              </p:ext>
            </p:extLst>
          </p:nvPr>
        </p:nvGraphicFramePr>
        <p:xfrm>
          <a:off x="3134057" y="3662778"/>
          <a:ext cx="392758" cy="188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497732" imgH="422694" progId="Visio.Drawing.11">
                  <p:embed/>
                </p:oleObj>
              </mc:Choice>
              <mc:Fallback>
                <p:oleObj name="Visio" r:id="rId8" imgW="497732" imgH="422694" progId="Visio.Drawing.11">
                  <p:embed/>
                  <p:pic>
                    <p:nvPicPr>
                      <p:cNvPr id="185" name="Object 10">
                        <a:extLst>
                          <a:ext uri="{FF2B5EF4-FFF2-40B4-BE49-F238E27FC236}">
                            <a16:creationId xmlns:a16="http://schemas.microsoft.com/office/drawing/2014/main" id="{C2660520-F509-58A0-233E-E1DB0296A7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4057" y="3662778"/>
                        <a:ext cx="392758" cy="188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17961" dir="2700000" algn="ctr" rotWithShape="0">
                                <a:schemeClr val="accent1">
                                  <a:gamma/>
                                  <a:shade val="60000"/>
                                  <a:invGamma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23" name="Picture 30" descr="transparency_blue2">
            <a:extLst>
              <a:ext uri="{FF2B5EF4-FFF2-40B4-BE49-F238E27FC236}">
                <a16:creationId xmlns:a16="http://schemas.microsoft.com/office/drawing/2014/main" id="{8B5E1A9C-83EB-9EBD-0129-C4AC029E9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rgbClr val="1F497D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4169422" y="3097002"/>
            <a:ext cx="272238" cy="3178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4" name="Picture 33" descr="transparency_blue2">
            <a:extLst>
              <a:ext uri="{FF2B5EF4-FFF2-40B4-BE49-F238E27FC236}">
                <a16:creationId xmlns:a16="http://schemas.microsoft.com/office/drawing/2014/main" id="{C0180C39-5302-196C-2F2C-F61FA9E78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duotone>
              <a:prstClr val="black"/>
              <a:srgbClr val="1F497D">
                <a:tint val="45000"/>
                <a:satMod val="400000"/>
              </a:srgbClr>
            </a:duotone>
          </a:blip>
          <a:srcRect/>
          <a:stretch>
            <a:fillRect/>
          </a:stretch>
        </p:blipFill>
        <p:spPr bwMode="auto">
          <a:xfrm>
            <a:off x="4168433" y="3609648"/>
            <a:ext cx="274217" cy="3178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5" name="Picture 40" descr="server_gray_s">
            <a:extLst>
              <a:ext uri="{FF2B5EF4-FFF2-40B4-BE49-F238E27FC236}">
                <a16:creationId xmlns:a16="http://schemas.microsoft.com/office/drawing/2014/main" id="{C53063F3-AA74-40AB-681E-8DDB54FF9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4173382" y="3356424"/>
            <a:ext cx="264318" cy="3214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6" name="Graphic 19" descr="Amazon CloudFront service icon.">
            <a:extLst>
              <a:ext uri="{FF2B5EF4-FFF2-40B4-BE49-F238E27FC236}">
                <a16:creationId xmlns:a16="http://schemas.microsoft.com/office/drawing/2014/main" id="{F10C5663-5B28-CAE9-97A2-1D38E7366C90}"/>
              </a:ext>
            </a:extLst>
          </p:cNvPr>
          <p:cNvPicPr>
            <a:picLocks noChangeAspect="1" noChangeArrowheads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 bwMode="auto">
          <a:xfrm>
            <a:off x="1474959" y="4515632"/>
            <a:ext cx="307832" cy="347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7" name="Text Box 55">
            <a:extLst>
              <a:ext uri="{FF2B5EF4-FFF2-40B4-BE49-F238E27FC236}">
                <a16:creationId xmlns:a16="http://schemas.microsoft.com/office/drawing/2014/main" id="{E7EADBF0-A161-BAF2-F046-D5152BE87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0403" y="2822412"/>
            <a:ext cx="1304359" cy="1615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901" tIns="0" rIns="101901" bIns="0">
            <a:spAutoFit/>
          </a:bodyPr>
          <a:lstStyle/>
          <a:p>
            <a:pPr marL="0" marR="0" lvl="0" indent="0" algn="ctr" defTabSz="1018921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</a:p>
        </p:txBody>
      </p:sp>
      <p:sp>
        <p:nvSpPr>
          <p:cNvPr id="228" name="Rectangle 190">
            <a:extLst>
              <a:ext uri="{FF2B5EF4-FFF2-40B4-BE49-F238E27FC236}">
                <a16:creationId xmlns:a16="http://schemas.microsoft.com/office/drawing/2014/main" id="{11FB1FA4-A48A-A976-8869-B84CB1E04B18}"/>
              </a:ext>
            </a:extLst>
          </p:cNvPr>
          <p:cNvSpPr/>
          <p:nvPr/>
        </p:nvSpPr>
        <p:spPr>
          <a:xfrm>
            <a:off x="702865" y="3008250"/>
            <a:ext cx="4300887" cy="1137454"/>
          </a:xfrm>
          <a:prstGeom prst="rect">
            <a:avLst/>
          </a:prstGeom>
          <a:noFill/>
          <a:ln w="15875" cap="flat" cmpd="sng" algn="ctr">
            <a:solidFill>
              <a:srgbClr val="7D8998"/>
            </a:solidFill>
            <a:prstDash val="solid"/>
            <a:miter lim="800000"/>
          </a:ln>
          <a:effectLst/>
        </p:spPr>
        <p:txBody>
          <a:bodyPr lIns="432000" tIns="36000"/>
          <a:lstStyle/>
          <a:p>
            <a:pPr defTabSz="914400">
              <a:defRPr/>
            </a:pPr>
            <a:r>
              <a:rPr lang="en-US" sz="800" b="1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On-premise</a:t>
            </a:r>
          </a:p>
        </p:txBody>
      </p:sp>
      <p:pic>
        <p:nvPicPr>
          <p:cNvPr id="229" name="Graphic 191" descr="Corporate data center group icon. ">
            <a:extLst>
              <a:ext uri="{FF2B5EF4-FFF2-40B4-BE49-F238E27FC236}">
                <a16:creationId xmlns:a16="http://schemas.microsoft.com/office/drawing/2014/main" id="{46A9B8D6-E3DE-B260-4021-57C3107A0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699101" y="3011195"/>
            <a:ext cx="253411" cy="274731"/>
          </a:xfrm>
          <a:prstGeom prst="rect">
            <a:avLst/>
          </a:prstGeom>
        </p:spPr>
      </p:pic>
      <p:sp>
        <p:nvSpPr>
          <p:cNvPr id="230" name="Rectangle 192">
            <a:extLst>
              <a:ext uri="{FF2B5EF4-FFF2-40B4-BE49-F238E27FC236}">
                <a16:creationId xmlns:a16="http://schemas.microsoft.com/office/drawing/2014/main" id="{9E9973E9-BF15-2A2A-BF7B-18CD406C2133}"/>
              </a:ext>
            </a:extLst>
          </p:cNvPr>
          <p:cNvSpPr/>
          <p:nvPr/>
        </p:nvSpPr>
        <p:spPr>
          <a:xfrm>
            <a:off x="700959" y="4189063"/>
            <a:ext cx="4302638" cy="1137454"/>
          </a:xfrm>
          <a:prstGeom prst="rect">
            <a:avLst/>
          </a:prstGeom>
          <a:noFill/>
          <a:ln w="15875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lIns="432000" tIns="36000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rPr>
              <a:t>AWS Cloud</a:t>
            </a:r>
          </a:p>
        </p:txBody>
      </p:sp>
      <p:pic>
        <p:nvPicPr>
          <p:cNvPr id="231" name="Graphic 193" descr="AWS Cloud group icon with AWS logo.">
            <a:extLst>
              <a:ext uri="{FF2B5EF4-FFF2-40B4-BE49-F238E27FC236}">
                <a16:creationId xmlns:a16="http://schemas.microsoft.com/office/drawing/2014/main" id="{9F675548-CB3D-61E6-8A90-98D633DC7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05236" y="4190638"/>
            <a:ext cx="243642" cy="274731"/>
          </a:xfrm>
          <a:prstGeom prst="rect">
            <a:avLst/>
          </a:prstGeom>
        </p:spPr>
      </p:pic>
      <p:pic>
        <p:nvPicPr>
          <p:cNvPr id="232" name="Graphic 194" descr="Endpoints resource icon for the AWS Network Firewall service.">
            <a:extLst>
              <a:ext uri="{FF2B5EF4-FFF2-40B4-BE49-F238E27FC236}">
                <a16:creationId xmlns:a16="http://schemas.microsoft.com/office/drawing/2014/main" id="{C635DCDA-B2F1-876E-4920-568BAA2794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557919" y="4340764"/>
            <a:ext cx="262526" cy="296025"/>
          </a:xfrm>
          <a:prstGeom prst="rect">
            <a:avLst/>
          </a:prstGeom>
        </p:spPr>
      </p:pic>
      <p:pic>
        <p:nvPicPr>
          <p:cNvPr id="233" name="Graphic 195" descr="Endpoints resource icon for the AWS Network Firewall service.">
            <a:extLst>
              <a:ext uri="{FF2B5EF4-FFF2-40B4-BE49-F238E27FC236}">
                <a16:creationId xmlns:a16="http://schemas.microsoft.com/office/drawing/2014/main" id="{46409253-1877-268C-F418-F47A9A9EED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557919" y="4735792"/>
            <a:ext cx="262526" cy="296025"/>
          </a:xfrm>
          <a:prstGeom prst="rect">
            <a:avLst/>
          </a:prstGeom>
        </p:spPr>
      </p:pic>
      <p:pic>
        <p:nvPicPr>
          <p:cNvPr id="234" name="Graphic 196" descr="Network access control list resource icon for the Amazon VPC service.&#10;">
            <a:extLst>
              <a:ext uri="{FF2B5EF4-FFF2-40B4-BE49-F238E27FC236}">
                <a16:creationId xmlns:a16="http://schemas.microsoft.com/office/drawing/2014/main" id="{CE9F478A-7F59-A1BE-C8E7-5397A222A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99173" y="4218833"/>
            <a:ext cx="262526" cy="296025"/>
          </a:xfrm>
          <a:prstGeom prst="rect">
            <a:avLst/>
          </a:prstGeom>
        </p:spPr>
      </p:pic>
      <p:pic>
        <p:nvPicPr>
          <p:cNvPr id="235" name="Graphic 197" descr="Network access control list resource icon for the Amazon VPC service.&#10;">
            <a:extLst>
              <a:ext uri="{FF2B5EF4-FFF2-40B4-BE49-F238E27FC236}">
                <a16:creationId xmlns:a16="http://schemas.microsoft.com/office/drawing/2014/main" id="{62397514-A8AD-3AB6-0CB5-C2C91155DF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99173" y="4538277"/>
            <a:ext cx="262526" cy="296025"/>
          </a:xfrm>
          <a:prstGeom prst="rect">
            <a:avLst/>
          </a:prstGeom>
        </p:spPr>
      </p:pic>
      <p:pic>
        <p:nvPicPr>
          <p:cNvPr id="236" name="Graphic 198" descr="Network access control list resource icon for the Amazon VPC service.&#10;">
            <a:extLst>
              <a:ext uri="{FF2B5EF4-FFF2-40B4-BE49-F238E27FC236}">
                <a16:creationId xmlns:a16="http://schemas.microsoft.com/office/drawing/2014/main" id="{C8D68378-4756-B6FD-D539-B9800EC262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199173" y="4877121"/>
            <a:ext cx="262526" cy="296025"/>
          </a:xfrm>
          <a:prstGeom prst="rect">
            <a:avLst/>
          </a:prstGeom>
        </p:spPr>
      </p:pic>
      <p:pic>
        <p:nvPicPr>
          <p:cNvPr id="237" name="Graphic 199" descr="Instances instance icon for the Amazon EC2 service.">
            <a:extLst>
              <a:ext uri="{FF2B5EF4-FFF2-40B4-BE49-F238E27FC236}">
                <a16:creationId xmlns:a16="http://schemas.microsoft.com/office/drawing/2014/main" id="{7941B28D-CA59-85E0-E043-11CF19413A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4279" y="4213272"/>
            <a:ext cx="262526" cy="296025"/>
          </a:xfrm>
          <a:prstGeom prst="rect">
            <a:avLst/>
          </a:prstGeom>
        </p:spPr>
      </p:pic>
      <p:pic>
        <p:nvPicPr>
          <p:cNvPr id="238" name="Graphic 200" descr="Instances instance icon for the Amazon EC2 service.">
            <a:extLst>
              <a:ext uri="{FF2B5EF4-FFF2-40B4-BE49-F238E27FC236}">
                <a16:creationId xmlns:a16="http://schemas.microsoft.com/office/drawing/2014/main" id="{9A2561D7-7E32-E16C-4F71-3EA34CBC8C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4279" y="4871560"/>
            <a:ext cx="262526" cy="296025"/>
          </a:xfrm>
          <a:prstGeom prst="rect">
            <a:avLst/>
          </a:prstGeom>
        </p:spPr>
      </p:pic>
      <p:pic>
        <p:nvPicPr>
          <p:cNvPr id="239" name="Graphic 201" descr="Instances instance icon for the Amazon EC2 service.">
            <a:extLst>
              <a:ext uri="{FF2B5EF4-FFF2-40B4-BE49-F238E27FC236}">
                <a16:creationId xmlns:a16="http://schemas.microsoft.com/office/drawing/2014/main" id="{B6909C36-0AA4-E34A-3A9E-65BE5EAFC9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74279" y="4532717"/>
            <a:ext cx="262526" cy="296025"/>
          </a:xfrm>
          <a:prstGeom prst="rect">
            <a:avLst/>
          </a:prstGeom>
        </p:spPr>
      </p:pic>
      <p:cxnSp>
        <p:nvCxnSpPr>
          <p:cNvPr id="240" name="AutoShape 20">
            <a:extLst>
              <a:ext uri="{FF2B5EF4-FFF2-40B4-BE49-F238E27FC236}">
                <a16:creationId xmlns:a16="http://schemas.microsoft.com/office/drawing/2014/main" id="{F4702BF0-E837-AB30-ED29-85A77790976B}"/>
              </a:ext>
            </a:extLst>
          </p:cNvPr>
          <p:cNvCxnSpPr>
            <a:cxnSpLocks noChangeShapeType="1"/>
            <a:endCxn id="232" idx="1"/>
          </p:cNvCxnSpPr>
          <p:nvPr/>
        </p:nvCxnSpPr>
        <p:spPr bwMode="auto">
          <a:xfrm flipV="1">
            <a:off x="1777661" y="4488777"/>
            <a:ext cx="780258" cy="20041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1" name="AutoShape 20">
            <a:extLst>
              <a:ext uri="{FF2B5EF4-FFF2-40B4-BE49-F238E27FC236}">
                <a16:creationId xmlns:a16="http://schemas.microsoft.com/office/drawing/2014/main" id="{4B7FBA15-7412-9871-2FFE-B055467FF901}"/>
              </a:ext>
            </a:extLst>
          </p:cNvPr>
          <p:cNvCxnSpPr>
            <a:cxnSpLocks noChangeShapeType="1"/>
            <a:stCxn id="232" idx="3"/>
            <a:endCxn id="234" idx="1"/>
          </p:cNvCxnSpPr>
          <p:nvPr/>
        </p:nvCxnSpPr>
        <p:spPr bwMode="auto">
          <a:xfrm flipV="1">
            <a:off x="2820445" y="4366845"/>
            <a:ext cx="378728" cy="121931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2" name="AutoShape 20">
            <a:extLst>
              <a:ext uri="{FF2B5EF4-FFF2-40B4-BE49-F238E27FC236}">
                <a16:creationId xmlns:a16="http://schemas.microsoft.com/office/drawing/2014/main" id="{01960E73-BCB7-720D-2AEB-27F5EE3D0770}"/>
              </a:ext>
            </a:extLst>
          </p:cNvPr>
          <p:cNvCxnSpPr>
            <a:cxnSpLocks noChangeShapeType="1"/>
            <a:stCxn id="232" idx="3"/>
            <a:endCxn id="235" idx="1"/>
          </p:cNvCxnSpPr>
          <p:nvPr/>
        </p:nvCxnSpPr>
        <p:spPr bwMode="auto">
          <a:xfrm>
            <a:off x="2820445" y="4488776"/>
            <a:ext cx="378728" cy="19751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3" name="AutoShape 20">
            <a:extLst>
              <a:ext uri="{FF2B5EF4-FFF2-40B4-BE49-F238E27FC236}">
                <a16:creationId xmlns:a16="http://schemas.microsoft.com/office/drawing/2014/main" id="{92F6D55C-BD37-585A-9D76-270272F100F9}"/>
              </a:ext>
            </a:extLst>
          </p:cNvPr>
          <p:cNvCxnSpPr>
            <a:cxnSpLocks noChangeShapeType="1"/>
            <a:stCxn id="232" idx="3"/>
            <a:endCxn id="236" idx="1"/>
          </p:cNvCxnSpPr>
          <p:nvPr/>
        </p:nvCxnSpPr>
        <p:spPr bwMode="auto">
          <a:xfrm>
            <a:off x="2820445" y="4488776"/>
            <a:ext cx="378728" cy="536357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4" name="AutoShape 20">
            <a:extLst>
              <a:ext uri="{FF2B5EF4-FFF2-40B4-BE49-F238E27FC236}">
                <a16:creationId xmlns:a16="http://schemas.microsoft.com/office/drawing/2014/main" id="{4228F0B4-F55D-522E-22FD-0050B0E6C46F}"/>
              </a:ext>
            </a:extLst>
          </p:cNvPr>
          <p:cNvCxnSpPr>
            <a:cxnSpLocks noChangeShapeType="1"/>
            <a:stCxn id="233" idx="3"/>
            <a:endCxn id="234" idx="1"/>
          </p:cNvCxnSpPr>
          <p:nvPr/>
        </p:nvCxnSpPr>
        <p:spPr bwMode="auto">
          <a:xfrm flipV="1">
            <a:off x="2820445" y="4366845"/>
            <a:ext cx="378728" cy="51695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5" name="AutoShape 20">
            <a:extLst>
              <a:ext uri="{FF2B5EF4-FFF2-40B4-BE49-F238E27FC236}">
                <a16:creationId xmlns:a16="http://schemas.microsoft.com/office/drawing/2014/main" id="{FC3A58F0-D570-9B22-30BE-6ED83A7C9DF0}"/>
              </a:ext>
            </a:extLst>
          </p:cNvPr>
          <p:cNvCxnSpPr>
            <a:cxnSpLocks noChangeShapeType="1"/>
            <a:stCxn id="233" idx="3"/>
            <a:endCxn id="235" idx="1"/>
          </p:cNvCxnSpPr>
          <p:nvPr/>
        </p:nvCxnSpPr>
        <p:spPr bwMode="auto">
          <a:xfrm flipV="1">
            <a:off x="2820445" y="4686290"/>
            <a:ext cx="378728" cy="197514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6" name="AutoShape 20">
            <a:extLst>
              <a:ext uri="{FF2B5EF4-FFF2-40B4-BE49-F238E27FC236}">
                <a16:creationId xmlns:a16="http://schemas.microsoft.com/office/drawing/2014/main" id="{23C1B4CD-6BFF-1BC1-748F-47BB6C2E6836}"/>
              </a:ext>
            </a:extLst>
          </p:cNvPr>
          <p:cNvCxnSpPr>
            <a:cxnSpLocks noChangeShapeType="1"/>
            <a:stCxn id="233" idx="3"/>
            <a:endCxn id="236" idx="1"/>
          </p:cNvCxnSpPr>
          <p:nvPr/>
        </p:nvCxnSpPr>
        <p:spPr bwMode="auto">
          <a:xfrm>
            <a:off x="2820445" y="4883805"/>
            <a:ext cx="378728" cy="14132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7" name="AutoShape 20">
            <a:extLst>
              <a:ext uri="{FF2B5EF4-FFF2-40B4-BE49-F238E27FC236}">
                <a16:creationId xmlns:a16="http://schemas.microsoft.com/office/drawing/2014/main" id="{7B4DE4BE-BAC6-9DD1-380F-67405AB3C272}"/>
              </a:ext>
            </a:extLst>
          </p:cNvPr>
          <p:cNvCxnSpPr>
            <a:cxnSpLocks noChangeShapeType="1"/>
            <a:stCxn id="234" idx="3"/>
            <a:endCxn id="237" idx="1"/>
          </p:cNvCxnSpPr>
          <p:nvPr/>
        </p:nvCxnSpPr>
        <p:spPr bwMode="auto">
          <a:xfrm flipV="1">
            <a:off x="3461699" y="4361286"/>
            <a:ext cx="712580" cy="55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48" name="AutoShape 20">
            <a:extLst>
              <a:ext uri="{FF2B5EF4-FFF2-40B4-BE49-F238E27FC236}">
                <a16:creationId xmlns:a16="http://schemas.microsoft.com/office/drawing/2014/main" id="{AAF04CF2-BB96-96B7-803F-53CFDFAB6722}"/>
              </a:ext>
            </a:extLst>
          </p:cNvPr>
          <p:cNvCxnSpPr>
            <a:cxnSpLocks noChangeShapeType="1"/>
            <a:stCxn id="234" idx="3"/>
            <a:endCxn id="239" idx="1"/>
          </p:cNvCxnSpPr>
          <p:nvPr/>
        </p:nvCxnSpPr>
        <p:spPr bwMode="auto">
          <a:xfrm>
            <a:off x="3461699" y="4366845"/>
            <a:ext cx="712580" cy="31388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49" name="AutoShape 20">
            <a:extLst>
              <a:ext uri="{FF2B5EF4-FFF2-40B4-BE49-F238E27FC236}">
                <a16:creationId xmlns:a16="http://schemas.microsoft.com/office/drawing/2014/main" id="{804BB88D-8CF5-C127-F1BE-D4D7D6333555}"/>
              </a:ext>
            </a:extLst>
          </p:cNvPr>
          <p:cNvCxnSpPr>
            <a:cxnSpLocks noChangeShapeType="1"/>
            <a:stCxn id="234" idx="3"/>
            <a:endCxn id="238" idx="1"/>
          </p:cNvCxnSpPr>
          <p:nvPr/>
        </p:nvCxnSpPr>
        <p:spPr bwMode="auto">
          <a:xfrm>
            <a:off x="3461699" y="4366845"/>
            <a:ext cx="712580" cy="652729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50" name="AutoShape 20">
            <a:extLst>
              <a:ext uri="{FF2B5EF4-FFF2-40B4-BE49-F238E27FC236}">
                <a16:creationId xmlns:a16="http://schemas.microsoft.com/office/drawing/2014/main" id="{A663BE4F-9768-A8D0-7FCD-64FF5FC6D202}"/>
              </a:ext>
            </a:extLst>
          </p:cNvPr>
          <p:cNvCxnSpPr>
            <a:cxnSpLocks noChangeShapeType="1"/>
            <a:stCxn id="235" idx="3"/>
            <a:endCxn id="237" idx="1"/>
          </p:cNvCxnSpPr>
          <p:nvPr/>
        </p:nvCxnSpPr>
        <p:spPr bwMode="auto">
          <a:xfrm flipV="1">
            <a:off x="3461699" y="4361286"/>
            <a:ext cx="712580" cy="325005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51" name="AutoShape 20">
            <a:extLst>
              <a:ext uri="{FF2B5EF4-FFF2-40B4-BE49-F238E27FC236}">
                <a16:creationId xmlns:a16="http://schemas.microsoft.com/office/drawing/2014/main" id="{C84DAF8F-7536-9B24-F89A-09A0642C7F6E}"/>
              </a:ext>
            </a:extLst>
          </p:cNvPr>
          <p:cNvCxnSpPr>
            <a:cxnSpLocks noChangeShapeType="1"/>
            <a:stCxn id="235" idx="3"/>
            <a:endCxn id="239" idx="1"/>
          </p:cNvCxnSpPr>
          <p:nvPr/>
        </p:nvCxnSpPr>
        <p:spPr bwMode="auto">
          <a:xfrm flipV="1">
            <a:off x="3461699" y="4680730"/>
            <a:ext cx="712580" cy="55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52" name="AutoShape 20">
            <a:extLst>
              <a:ext uri="{FF2B5EF4-FFF2-40B4-BE49-F238E27FC236}">
                <a16:creationId xmlns:a16="http://schemas.microsoft.com/office/drawing/2014/main" id="{66D168BE-1BC5-AF02-A0AA-2F2940E9A9BB}"/>
              </a:ext>
            </a:extLst>
          </p:cNvPr>
          <p:cNvCxnSpPr>
            <a:cxnSpLocks noChangeShapeType="1"/>
            <a:stCxn id="235" idx="3"/>
            <a:endCxn id="238" idx="1"/>
          </p:cNvCxnSpPr>
          <p:nvPr/>
        </p:nvCxnSpPr>
        <p:spPr bwMode="auto">
          <a:xfrm>
            <a:off x="3461699" y="4686290"/>
            <a:ext cx="712580" cy="33328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53" name="AutoShape 20">
            <a:extLst>
              <a:ext uri="{FF2B5EF4-FFF2-40B4-BE49-F238E27FC236}">
                <a16:creationId xmlns:a16="http://schemas.microsoft.com/office/drawing/2014/main" id="{2162EABA-6C5A-B158-7EF1-9731F5223192}"/>
              </a:ext>
            </a:extLst>
          </p:cNvPr>
          <p:cNvCxnSpPr>
            <a:cxnSpLocks noChangeShapeType="1"/>
            <a:stCxn id="236" idx="3"/>
            <a:endCxn id="237" idx="1"/>
          </p:cNvCxnSpPr>
          <p:nvPr/>
        </p:nvCxnSpPr>
        <p:spPr bwMode="auto">
          <a:xfrm flipV="1">
            <a:off x="3461699" y="4361286"/>
            <a:ext cx="712580" cy="663848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75000"/>
              </a:sysClr>
            </a:solidFill>
            <a:round/>
            <a:headEnd/>
            <a:tailEnd/>
          </a:ln>
        </p:spPr>
      </p:cxnSp>
      <p:cxnSp>
        <p:nvCxnSpPr>
          <p:cNvPr id="254" name="AutoShape 20">
            <a:extLst>
              <a:ext uri="{FF2B5EF4-FFF2-40B4-BE49-F238E27FC236}">
                <a16:creationId xmlns:a16="http://schemas.microsoft.com/office/drawing/2014/main" id="{2A09640D-6202-A3EA-D79F-2B000484BE00}"/>
              </a:ext>
            </a:extLst>
          </p:cNvPr>
          <p:cNvCxnSpPr>
            <a:cxnSpLocks noChangeShapeType="1"/>
            <a:stCxn id="236" idx="3"/>
            <a:endCxn id="239" idx="1"/>
          </p:cNvCxnSpPr>
          <p:nvPr/>
        </p:nvCxnSpPr>
        <p:spPr bwMode="auto">
          <a:xfrm flipV="1">
            <a:off x="3461699" y="4680730"/>
            <a:ext cx="712580" cy="344403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cxnSp>
        <p:nvCxnSpPr>
          <p:cNvPr id="255" name="AutoShape 20">
            <a:extLst>
              <a:ext uri="{FF2B5EF4-FFF2-40B4-BE49-F238E27FC236}">
                <a16:creationId xmlns:a16="http://schemas.microsoft.com/office/drawing/2014/main" id="{1C49C6E2-D1C9-6016-C980-E7498A8E1F21}"/>
              </a:ext>
            </a:extLst>
          </p:cNvPr>
          <p:cNvCxnSpPr>
            <a:cxnSpLocks noChangeShapeType="1"/>
            <a:stCxn id="236" idx="3"/>
            <a:endCxn id="238" idx="1"/>
          </p:cNvCxnSpPr>
          <p:nvPr/>
        </p:nvCxnSpPr>
        <p:spPr bwMode="auto">
          <a:xfrm flipV="1">
            <a:off x="3461699" y="5019574"/>
            <a:ext cx="712580" cy="5560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sp>
        <p:nvSpPr>
          <p:cNvPr id="256" name="TextBox 255">
            <a:extLst>
              <a:ext uri="{FF2B5EF4-FFF2-40B4-BE49-F238E27FC236}">
                <a16:creationId xmlns:a16="http://schemas.microsoft.com/office/drawing/2014/main" id="{9350EB55-A03E-C140-217F-891FA86C08AF}"/>
              </a:ext>
            </a:extLst>
          </p:cNvPr>
          <p:cNvSpPr txBox="1"/>
          <p:nvPr/>
        </p:nvSpPr>
        <p:spPr>
          <a:xfrm>
            <a:off x="1488598" y="3938519"/>
            <a:ext cx="283732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ko-KR" altLang="en-US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라우터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DD62B29E-9FA0-BA74-1A82-47B0FFFE6B30}"/>
              </a:ext>
            </a:extLst>
          </p:cNvPr>
          <p:cNvSpPr txBox="1"/>
          <p:nvPr/>
        </p:nvSpPr>
        <p:spPr>
          <a:xfrm>
            <a:off x="2603700" y="3938519"/>
            <a:ext cx="185948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F/W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4045D5DD-66DD-0817-4BAA-C33FBF170735}"/>
              </a:ext>
            </a:extLst>
          </p:cNvPr>
          <p:cNvSpPr txBox="1"/>
          <p:nvPr/>
        </p:nvSpPr>
        <p:spPr>
          <a:xfrm>
            <a:off x="3246591" y="3935439"/>
            <a:ext cx="15709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IPS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A411D97A-8963-D6B8-435C-0A54ABEB7D1F}"/>
              </a:ext>
            </a:extLst>
          </p:cNvPr>
          <p:cNvSpPr txBox="1"/>
          <p:nvPr/>
        </p:nvSpPr>
        <p:spPr>
          <a:xfrm>
            <a:off x="4058597" y="3938519"/>
            <a:ext cx="501740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spcAft>
                <a:spcPts val="600"/>
              </a:spcAft>
              <a:buSzPct val="100000"/>
            </a:pPr>
            <a:r>
              <a:rPr lang="ko-KR" altLang="en-US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컴퓨터 서버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E02DB8B1-FE94-1102-7AE8-B38B0DEAAC9B}"/>
              </a:ext>
            </a:extLst>
          </p:cNvPr>
          <p:cNvSpPr txBox="1"/>
          <p:nvPr/>
        </p:nvSpPr>
        <p:spPr>
          <a:xfrm>
            <a:off x="1345944" y="5098717"/>
            <a:ext cx="56586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 Front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0CCDA901-E8CC-64CA-6465-BC26878B64FC}"/>
              </a:ext>
            </a:extLst>
          </p:cNvPr>
          <p:cNvSpPr txBox="1"/>
          <p:nvPr/>
        </p:nvSpPr>
        <p:spPr>
          <a:xfrm>
            <a:off x="2380604" y="5102030"/>
            <a:ext cx="617157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Network F/W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DF4CCD54-9F67-D651-6C6D-71C7FB269D4F}"/>
              </a:ext>
            </a:extLst>
          </p:cNvPr>
          <p:cNvSpPr txBox="1"/>
          <p:nvPr/>
        </p:nvSpPr>
        <p:spPr>
          <a:xfrm>
            <a:off x="3201393" y="5165300"/>
            <a:ext cx="258084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NACL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FAD2C8A7-3F29-DD33-B45F-65C6190DEBB5}"/>
              </a:ext>
            </a:extLst>
          </p:cNvPr>
          <p:cNvSpPr txBox="1"/>
          <p:nvPr/>
        </p:nvSpPr>
        <p:spPr>
          <a:xfrm>
            <a:off x="3936850" y="5167729"/>
            <a:ext cx="737381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>
              <a:spcAft>
                <a:spcPts val="600"/>
              </a:spcAft>
              <a:buSzPct val="100000"/>
            </a:pPr>
            <a:r>
              <a:rPr lang="en-US" altLang="ko-KR" sz="8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Instance Server</a:t>
            </a:r>
            <a:endParaRPr lang="ko-KR" altLang="en-US" sz="8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4" name="Flowchart: Manual Operation 179">
            <a:extLst>
              <a:ext uri="{FF2B5EF4-FFF2-40B4-BE49-F238E27FC236}">
                <a16:creationId xmlns:a16="http://schemas.microsoft.com/office/drawing/2014/main" id="{1B4A2D3D-551A-FC84-7CFB-DECFADC6B5A2}"/>
              </a:ext>
            </a:extLst>
          </p:cNvPr>
          <p:cNvSpPr/>
          <p:nvPr/>
        </p:nvSpPr>
        <p:spPr>
          <a:xfrm rot="16200000">
            <a:off x="3460452" y="3957684"/>
            <a:ext cx="2322649" cy="401261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" fmla="*/ 0 w 10000"/>
              <a:gd name="connsiteY0" fmla="*/ 0 h 10029"/>
              <a:gd name="connsiteX1" fmla="*/ 10000 w 10000"/>
              <a:gd name="connsiteY1" fmla="*/ 0 h 10029"/>
              <a:gd name="connsiteX2" fmla="*/ 7167 w 10000"/>
              <a:gd name="connsiteY2" fmla="*/ 10029 h 10029"/>
              <a:gd name="connsiteX3" fmla="*/ 2000 w 10000"/>
              <a:gd name="connsiteY3" fmla="*/ 10000 h 10029"/>
              <a:gd name="connsiteX4" fmla="*/ 0 w 10000"/>
              <a:gd name="connsiteY4" fmla="*/ 0 h 10029"/>
              <a:gd name="connsiteX0" fmla="*/ 0 w 10000"/>
              <a:gd name="connsiteY0" fmla="*/ 0 h 10029"/>
              <a:gd name="connsiteX1" fmla="*/ 10000 w 10000"/>
              <a:gd name="connsiteY1" fmla="*/ 0 h 10029"/>
              <a:gd name="connsiteX2" fmla="*/ 7167 w 10000"/>
              <a:gd name="connsiteY2" fmla="*/ 10029 h 10029"/>
              <a:gd name="connsiteX3" fmla="*/ 3033 w 10000"/>
              <a:gd name="connsiteY3" fmla="*/ 10029 h 10029"/>
              <a:gd name="connsiteX4" fmla="*/ 0 w 10000"/>
              <a:gd name="connsiteY4" fmla="*/ 0 h 100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000" h="10029">
                <a:moveTo>
                  <a:pt x="0" y="0"/>
                </a:moveTo>
                <a:lnTo>
                  <a:pt x="10000" y="0"/>
                </a:lnTo>
                <a:lnTo>
                  <a:pt x="7167" y="10029"/>
                </a:lnTo>
                <a:lnTo>
                  <a:pt x="3033" y="10029"/>
                </a:lnTo>
                <a:lnTo>
                  <a:pt x="0" y="0"/>
                </a:lnTo>
                <a:close/>
              </a:path>
            </a:pathLst>
          </a:custGeom>
          <a:solidFill>
            <a:sysClr val="window" lastClr="FFFFFF">
              <a:lumMod val="50000"/>
              <a:alpha val="20000"/>
            </a:sysClr>
          </a:solidFill>
          <a:ln>
            <a:noFill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65" name="Text Box 55">
            <a:extLst>
              <a:ext uri="{FF2B5EF4-FFF2-40B4-BE49-F238E27FC236}">
                <a16:creationId xmlns:a16="http://schemas.microsoft.com/office/drawing/2014/main" id="{D7AE58CC-0B78-8DE9-19FF-9BF102EDFA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6362" y="4627752"/>
            <a:ext cx="1304359" cy="184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01901" tIns="0" rIns="101901" bIns="0">
            <a:spAutoFit/>
          </a:bodyPr>
          <a:lstStyle/>
          <a:p>
            <a:pPr algn="ctr" defTabSz="1018921">
              <a:spcBef>
                <a:spcPct val="50000"/>
              </a:spcBef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앱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DB</a:t>
            </a:r>
          </a:p>
        </p:txBody>
      </p:sp>
      <p:sp>
        <p:nvSpPr>
          <p:cNvPr id="266" name="Text Box 81">
            <a:extLst>
              <a:ext uri="{FF2B5EF4-FFF2-40B4-BE49-F238E27FC236}">
                <a16:creationId xmlns:a16="http://schemas.microsoft.com/office/drawing/2014/main" id="{7DC39561-B499-9EE6-C833-0602996AD9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4687" y="2151082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101901" tIns="0" rIns="101901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 취약점 분석</a:t>
            </a:r>
          </a:p>
        </p:txBody>
      </p:sp>
      <p:sp>
        <p:nvSpPr>
          <p:cNvPr id="267" name="AutoShape 76">
            <a:extLst>
              <a:ext uri="{FF2B5EF4-FFF2-40B4-BE49-F238E27FC236}">
                <a16:creationId xmlns:a16="http://schemas.microsoft.com/office/drawing/2014/main" id="{9F4B2108-7144-BDD6-FC7A-4A0153A41B8D}"/>
              </a:ext>
            </a:extLst>
          </p:cNvPr>
          <p:cNvSpPr>
            <a:spLocks/>
          </p:cNvSpPr>
          <p:nvPr/>
        </p:nvSpPr>
        <p:spPr bwMode="auto">
          <a:xfrm>
            <a:off x="1121481" y="2345801"/>
            <a:ext cx="1746998" cy="377358"/>
          </a:xfrm>
          <a:prstGeom prst="accentCallout2">
            <a:avLst>
              <a:gd name="adj1" fmla="val 16675"/>
              <a:gd name="adj2" fmla="val 4186"/>
              <a:gd name="adj3" fmla="val 16675"/>
              <a:gd name="adj4" fmla="val -3052"/>
              <a:gd name="adj5" fmla="val 155975"/>
              <a:gd name="adj6" fmla="val -2797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설정 오류 분석</a:t>
            </a:r>
          </a:p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접근제어 설정 점검</a:t>
            </a:r>
          </a:p>
        </p:txBody>
      </p:sp>
      <p:sp>
        <p:nvSpPr>
          <p:cNvPr id="268" name="Text Box 81">
            <a:extLst>
              <a:ext uri="{FF2B5EF4-FFF2-40B4-BE49-F238E27FC236}">
                <a16:creationId xmlns:a16="http://schemas.microsoft.com/office/drawing/2014/main" id="{4D8CA34A-DA62-B95C-854C-13725CC41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832" y="5469344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101901" tIns="0" rIns="101901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보안시스템  취약점 분석</a:t>
            </a:r>
          </a:p>
        </p:txBody>
      </p:sp>
      <p:sp>
        <p:nvSpPr>
          <p:cNvPr id="269" name="Text Box 81">
            <a:extLst>
              <a:ext uri="{FF2B5EF4-FFF2-40B4-BE49-F238E27FC236}">
                <a16:creationId xmlns:a16="http://schemas.microsoft.com/office/drawing/2014/main" id="{5B5DE3F6-42B5-8A0C-71C6-6427F0499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5868" y="2147621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101901" tIns="0" rIns="101901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  취약점 분석</a:t>
            </a:r>
          </a:p>
        </p:txBody>
      </p:sp>
      <p:sp>
        <p:nvSpPr>
          <p:cNvPr id="270" name="Text Box 81">
            <a:extLst>
              <a:ext uri="{FF2B5EF4-FFF2-40B4-BE49-F238E27FC236}">
                <a16:creationId xmlns:a16="http://schemas.microsoft.com/office/drawing/2014/main" id="{911D0354-A90C-9D92-6B0E-E781EA0712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0912" y="5460844"/>
            <a:ext cx="2090142" cy="22721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</p:spPr>
        <p:txBody>
          <a:bodyPr wrap="square" lIns="36000" tIns="0" rIns="36000" bIns="0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웹</a:t>
            </a:r>
            <a:r>
              <a:rPr kumimoji="0" lang="en-US" altLang="ko-KR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kumimoji="0" lang="ko-KR" altLang="en-US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앱</a:t>
            </a:r>
            <a:r>
              <a:rPr kumimoji="0" lang="en-US" altLang="ko-KR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DB </a:t>
            </a:r>
            <a:r>
              <a:rPr kumimoji="0" lang="ko-KR" altLang="en-US" sz="1050" b="1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취약점 분석</a:t>
            </a:r>
            <a:endParaRPr kumimoji="0" lang="ko-KR" altLang="en-US" sz="105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1" name="AutoShape 77">
            <a:extLst>
              <a:ext uri="{FF2B5EF4-FFF2-40B4-BE49-F238E27FC236}">
                <a16:creationId xmlns:a16="http://schemas.microsoft.com/office/drawing/2014/main" id="{AD16C216-D6A2-A506-A450-E59AE5342A35}"/>
              </a:ext>
            </a:extLst>
          </p:cNvPr>
          <p:cNvSpPr>
            <a:spLocks/>
          </p:cNvSpPr>
          <p:nvPr/>
        </p:nvSpPr>
        <p:spPr bwMode="auto">
          <a:xfrm>
            <a:off x="686866" y="5678103"/>
            <a:ext cx="2107774" cy="326946"/>
          </a:xfrm>
          <a:prstGeom prst="accentCallout2">
            <a:avLst>
              <a:gd name="adj1" fmla="val 26230"/>
              <a:gd name="adj2" fmla="val 99221"/>
              <a:gd name="adj3" fmla="val 25987"/>
              <a:gd name="adj4" fmla="val 112626"/>
              <a:gd name="adj5" fmla="val -73243"/>
              <a:gd name="adj6" fmla="val 112538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보안시스템 설정 점검</a:t>
            </a:r>
          </a:p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기능상 문제점 점검</a:t>
            </a:r>
          </a:p>
        </p:txBody>
      </p:sp>
      <p:sp>
        <p:nvSpPr>
          <p:cNvPr id="272" name="AutoShape 78">
            <a:extLst>
              <a:ext uri="{FF2B5EF4-FFF2-40B4-BE49-F238E27FC236}">
                <a16:creationId xmlns:a16="http://schemas.microsoft.com/office/drawing/2014/main" id="{B9A6DC84-CB71-8CE2-753E-D32CF125DCF5}"/>
              </a:ext>
            </a:extLst>
          </p:cNvPr>
          <p:cNvSpPr>
            <a:spLocks/>
          </p:cNvSpPr>
          <p:nvPr/>
        </p:nvSpPr>
        <p:spPr bwMode="auto">
          <a:xfrm>
            <a:off x="3803485" y="5675075"/>
            <a:ext cx="2165839" cy="346314"/>
          </a:xfrm>
          <a:prstGeom prst="accentCallout2">
            <a:avLst>
              <a:gd name="adj1" fmla="val 51688"/>
              <a:gd name="adj2" fmla="val 103507"/>
              <a:gd name="adj3" fmla="val 51668"/>
              <a:gd name="adj4" fmla="val 107254"/>
              <a:gd name="adj5" fmla="val -325493"/>
              <a:gd name="adj6" fmla="val 106793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</a:t>
            </a:r>
            <a:r>
              <a:rPr lang="en-US" altLang="ko-KR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앱 취약점 진단</a:t>
            </a:r>
          </a:p>
          <a:p>
            <a:pPr marL="99070" indent="-99070" defTabSz="1018921">
              <a:buFont typeface="Wingdings" pitchFamily="2" charset="2"/>
              <a:buChar char="§"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관리계정 접근제어</a:t>
            </a:r>
          </a:p>
        </p:txBody>
      </p:sp>
      <p:sp>
        <p:nvSpPr>
          <p:cNvPr id="273" name="AutoShape 78">
            <a:extLst>
              <a:ext uri="{FF2B5EF4-FFF2-40B4-BE49-F238E27FC236}">
                <a16:creationId xmlns:a16="http://schemas.microsoft.com/office/drawing/2014/main" id="{857EC1EE-F9FA-382F-ADDD-B9D71175E38E}"/>
              </a:ext>
            </a:extLst>
          </p:cNvPr>
          <p:cNvSpPr>
            <a:spLocks/>
          </p:cNvSpPr>
          <p:nvPr/>
        </p:nvSpPr>
        <p:spPr bwMode="auto">
          <a:xfrm>
            <a:off x="3810732" y="2340354"/>
            <a:ext cx="1595802" cy="508128"/>
          </a:xfrm>
          <a:prstGeom prst="accentCallout2">
            <a:avLst>
              <a:gd name="adj1" fmla="val 24190"/>
              <a:gd name="adj2" fmla="val 3591"/>
              <a:gd name="adj3" fmla="val 24330"/>
              <a:gd name="adj4" fmla="val -5707"/>
              <a:gd name="adj5" fmla="val 110022"/>
              <a:gd name="adj6" fmla="val -5879"/>
            </a:avLst>
          </a:prstGeom>
          <a:noFill/>
          <a:ln w="9525">
            <a:solidFill>
              <a:sysClr val="windowText" lastClr="000000">
                <a:lumMod val="50000"/>
                <a:lumOff val="50000"/>
              </a:sysClr>
            </a:solidFill>
            <a:miter lim="800000"/>
            <a:headEnd/>
            <a:tailEnd type="oval" w="med" len="med"/>
          </a:ln>
        </p:spPr>
        <p:txBody>
          <a:bodyPr lIns="101901" tIns="50950" rIns="101901" bIns="50950" anchor="t"/>
          <a:lstStyle/>
          <a:p>
            <a:pPr marL="99070" marR="0" lvl="0" indent="-99070" defTabSz="10189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접근제어 점검</a:t>
            </a:r>
          </a:p>
          <a:p>
            <a:pPr marL="99070" marR="0" lvl="0" indent="-99070" defTabSz="101892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ko-KR" altLang="en-US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로그</a:t>
            </a:r>
            <a:r>
              <a:rPr kumimoji="0" lang="en-US" altLang="ko-KR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0" lang="ko-KR" altLang="en-US" sz="1000" b="0" i="0" u="none" strike="noStrike" kern="0" cap="none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 인증체계 점검</a:t>
            </a:r>
          </a:p>
        </p:txBody>
      </p:sp>
      <p:cxnSp>
        <p:nvCxnSpPr>
          <p:cNvPr id="274" name="AutoShape 20">
            <a:extLst>
              <a:ext uri="{FF2B5EF4-FFF2-40B4-BE49-F238E27FC236}">
                <a16:creationId xmlns:a16="http://schemas.microsoft.com/office/drawing/2014/main" id="{2C9E8F97-35CE-67C2-422A-AF8D86568C38}"/>
              </a:ext>
            </a:extLst>
          </p:cNvPr>
          <p:cNvCxnSpPr>
            <a:cxnSpLocks noChangeShapeType="1"/>
            <a:stCxn id="226" idx="3"/>
            <a:endCxn id="233" idx="1"/>
          </p:cNvCxnSpPr>
          <p:nvPr/>
        </p:nvCxnSpPr>
        <p:spPr bwMode="auto">
          <a:xfrm>
            <a:off x="1782791" y="4689188"/>
            <a:ext cx="775127" cy="194616"/>
          </a:xfrm>
          <a:prstGeom prst="straightConnector1">
            <a:avLst/>
          </a:prstGeom>
          <a:noFill/>
          <a:ln w="9525">
            <a:solidFill>
              <a:sysClr val="window" lastClr="FFFFFF">
                <a:lumMod val="85000"/>
              </a:sysClr>
            </a:solidFill>
            <a:round/>
            <a:headEnd/>
            <a:tailEnd/>
          </a:ln>
        </p:spPr>
      </p:cxnSp>
      <p:pic>
        <p:nvPicPr>
          <p:cNvPr id="275" name="Picture 249">
            <a:extLst>
              <a:ext uri="{FF2B5EF4-FFF2-40B4-BE49-F238E27FC236}">
                <a16:creationId xmlns:a16="http://schemas.microsoft.com/office/drawing/2014/main" id="{4404943E-29D6-F8B6-64B1-547AD939A64F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65030" y="3713319"/>
            <a:ext cx="1131371" cy="746811"/>
          </a:xfrm>
          <a:prstGeom prst="rect">
            <a:avLst/>
          </a:prstGeom>
          <a:ln w="38100" cap="sq">
            <a:solidFill>
              <a:srgbClr val="40404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76" name="Rectangle 13">
            <a:extLst>
              <a:ext uri="{FF2B5EF4-FFF2-40B4-BE49-F238E27FC236}">
                <a16:creationId xmlns:a16="http://schemas.microsoft.com/office/drawing/2014/main" id="{F67168E5-01D1-BB75-A538-19BA86D473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69209" y="2008717"/>
            <a:ext cx="2965696" cy="391129"/>
          </a:xfrm>
          <a:prstGeom prst="rect">
            <a:avLst/>
          </a:prstGeom>
          <a:solidFill>
            <a:srgbClr val="FFFFFF"/>
          </a:solidFill>
          <a:ln w="3175" algn="ctr">
            <a:noFill/>
            <a:miter lim="800000"/>
            <a:headEnd/>
            <a:tailEnd/>
          </a:ln>
          <a:effectLst/>
        </p:spPr>
        <p:txBody>
          <a:bodyPr wrap="square" lIns="72000" tIns="108000" rIns="72000" bIns="108000" anchor="ctr">
            <a:noAutofit/>
          </a:bodyPr>
          <a:lstStyle/>
          <a:p>
            <a:pPr marL="34925" marR="0" lvl="0" indent="0" algn="ctr" defTabSz="914400" eaLnBrk="0" fontAlgn="base" latinLnBrk="0" hangingPunct="0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1" u="non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7" name="Rectangle 13">
            <a:extLst>
              <a:ext uri="{FF2B5EF4-FFF2-40B4-BE49-F238E27FC236}">
                <a16:creationId xmlns:a16="http://schemas.microsoft.com/office/drawing/2014/main" id="{8CE81688-A34B-4BB1-6758-D1BDBF4AE97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587761" y="1449387"/>
            <a:ext cx="2928593" cy="445428"/>
          </a:xfrm>
          <a:prstGeom prst="rect">
            <a:avLst/>
          </a:prstGeom>
          <a:solidFill>
            <a:schemeClr val="tx1"/>
          </a:solidFill>
          <a:ln w="3175" algn="ctr">
            <a:solidFill>
              <a:sysClr val="windowText" lastClr="000000">
                <a:lumMod val="75000"/>
                <a:lumOff val="25000"/>
              </a:sysClr>
            </a:solidFill>
            <a:miter lim="800000"/>
            <a:headEnd/>
            <a:tailEnd/>
          </a:ln>
          <a:effectLst/>
        </p:spPr>
        <p:txBody>
          <a:bodyPr wrap="square" lIns="72000" tIns="144000" rIns="72000" bIns="108000" anchor="ctr">
            <a:noAutofit/>
          </a:bodyPr>
          <a:lstStyle/>
          <a:p>
            <a:pPr marL="0" marR="0" lvl="0" indent="0" algn="ctr" defTabSz="914400" eaLnBrk="0" fontAlgn="base" latinLnBrk="0" hangingPunct="0">
              <a:lnSpc>
                <a:spcPct val="80000"/>
              </a:lnSpc>
              <a:spcBef>
                <a:spcPts val="2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1"/>
                </a:gra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8D8AB45-AEFD-A9A1-447C-2AEAD44D9AB1}"/>
              </a:ext>
            </a:extLst>
          </p:cNvPr>
          <p:cNvCxnSpPr>
            <a:cxnSpLocks/>
          </p:cNvCxnSpPr>
          <p:nvPr/>
        </p:nvCxnSpPr>
        <p:spPr>
          <a:xfrm>
            <a:off x="428625" y="1894815"/>
            <a:ext cx="6017895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417">
            <a:extLst>
              <a:ext uri="{FF2B5EF4-FFF2-40B4-BE49-F238E27FC236}">
                <a16:creationId xmlns:a16="http://schemas.microsoft.com/office/drawing/2014/main" id="{A5A9ADDC-55A4-EFE0-C403-5F2154A3896A}"/>
              </a:ext>
            </a:extLst>
          </p:cNvPr>
          <p:cNvSpPr/>
          <p:nvPr/>
        </p:nvSpPr>
        <p:spPr>
          <a:xfrm>
            <a:off x="739775" y="440843"/>
            <a:ext cx="34606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00438E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solidFill>
                  <a:srgbClr val="2E2E3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lang="ko-KR" altLang="en-US" sz="1600" b="1" dirty="0">
              <a:solidFill>
                <a:srgbClr val="2E2E3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2008C6-FCF5-3694-267D-9C201D64AB99}"/>
              </a:ext>
            </a:extLst>
          </p:cNvPr>
          <p:cNvSpPr/>
          <p:nvPr/>
        </p:nvSpPr>
        <p:spPr>
          <a:xfrm>
            <a:off x="6746808" y="1997476"/>
            <a:ext cx="2562225" cy="4143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marL="34925" lvl="0" algn="ctr" defTabSz="914400" eaLnBrk="0" fontAlgn="base" hangingPunct="0">
              <a:lnSpc>
                <a:spcPct val="160000"/>
              </a:lnSpc>
              <a:spcBef>
                <a:spcPts val="600"/>
              </a:spcBef>
              <a:spcAft>
                <a:spcPct val="0"/>
              </a:spcAft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주요정보통신기반시설</a:t>
            </a:r>
            <a:r>
              <a:rPr lang="en-US" altLang="ko-KR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진단 기준  적용</a:t>
            </a:r>
            <a:endParaRPr lang="ko-KR" altLang="en-US" sz="1200" kern="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8AE916DE-244E-B0CA-A69A-62B74556B5B3}"/>
              </a:ext>
            </a:extLst>
          </p:cNvPr>
          <p:cNvGrpSpPr/>
          <p:nvPr/>
        </p:nvGrpSpPr>
        <p:grpSpPr>
          <a:xfrm>
            <a:off x="6587376" y="2683441"/>
            <a:ext cx="2929363" cy="3397058"/>
            <a:chOff x="6587376" y="2683440"/>
            <a:chExt cx="2929363" cy="3517335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81F39A3E-B33B-986A-B336-B851159C635D}"/>
                </a:ext>
              </a:extLst>
            </p:cNvPr>
            <p:cNvSpPr/>
            <p:nvPr/>
          </p:nvSpPr>
          <p:spPr>
            <a:xfrm>
              <a:off x="6587376" y="2683440"/>
              <a:ext cx="2929363" cy="908699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108000" rIns="72000" bIns="108000" anchor="ctr">
              <a:noAutofit/>
            </a:bodyPr>
            <a:lstStyle/>
            <a:p>
              <a:pPr marL="34925" algn="ctr" defTabSz="914400" eaLnBrk="0" fontAlgn="base" hangingPunct="0">
                <a:lnSpc>
                  <a:spcPct val="130000"/>
                </a:lnSpc>
                <a:spcBef>
                  <a:spcPts val="600"/>
                </a:spcBef>
                <a:spcAft>
                  <a:spcPct val="0"/>
                </a:spcAft>
                <a:defRPr/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IT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보안 취약점 체크리스트 및 진단 도구를 활용</a:t>
              </a:r>
              <a:endParaRPr lang="en-US" altLang="ko-KR" sz="120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36E4DEA-8D89-A782-2C46-762F17FD5D87}"/>
                </a:ext>
              </a:extLst>
            </p:cNvPr>
            <p:cNvSpPr/>
            <p:nvPr/>
          </p:nvSpPr>
          <p:spPr>
            <a:xfrm>
              <a:off x="6587376" y="3939350"/>
              <a:ext cx="2929363" cy="908699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108000" rIns="72000" bIns="108000" anchor="ctr">
              <a:noAutofit/>
            </a:bodyPr>
            <a:lstStyle/>
            <a:p>
              <a:pPr marL="34925" algn="ctr" defTabSz="914400" eaLnBrk="0" fontAlgn="base" hangingPunct="0">
                <a:lnSpc>
                  <a:spcPct val="13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On-premise, Cloud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환경에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동일한 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IT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보안 취약점 점검 기준을 적용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05C2A5-58E1-7197-E5F8-2F5A850970D5}"/>
                </a:ext>
              </a:extLst>
            </p:cNvPr>
            <p:cNvSpPr/>
            <p:nvPr/>
          </p:nvSpPr>
          <p:spPr>
            <a:xfrm>
              <a:off x="6587376" y="5292076"/>
              <a:ext cx="2929363" cy="908699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108000" rIns="72000" bIns="108000" anchor="ctr">
              <a:noAutofit/>
            </a:bodyPr>
            <a:lstStyle/>
            <a:p>
              <a:pPr marL="34925" algn="ctr" defTabSz="914400" eaLnBrk="0" fontAlgn="base" hangingPunct="0">
                <a:lnSpc>
                  <a:spcPct val="130000"/>
                </a:lnSpc>
                <a:spcBef>
                  <a:spcPts val="600"/>
                </a:spcBef>
                <a:spcAft>
                  <a:spcPct val="0"/>
                </a:spcAft>
              </a:pP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서버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DB </a:t>
              </a: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등의 취약점을 분석</a:t>
              </a:r>
              <a: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br>
                <a:rPr lang="en-US" altLang="ko-KR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200" b="1" kern="0" dirty="0">
                  <a:solidFill>
                    <a:prstClr val="black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조치 가이드 제공</a:t>
              </a:r>
            </a:p>
          </p:txBody>
        </p:sp>
        <p:sp>
          <p:nvSpPr>
            <p:cNvPr id="14" name="이등변 삼각형 13">
              <a:extLst>
                <a:ext uri="{FF2B5EF4-FFF2-40B4-BE49-F238E27FC236}">
                  <a16:creationId xmlns:a16="http://schemas.microsoft.com/office/drawing/2014/main" id="{7BAC93E0-D2CA-38EB-7AC5-164FA3843267}"/>
                </a:ext>
              </a:extLst>
            </p:cNvPr>
            <p:cNvSpPr/>
            <p:nvPr/>
          </p:nvSpPr>
          <p:spPr>
            <a:xfrm rot="10800000">
              <a:off x="6780470" y="3645674"/>
              <a:ext cx="2543175" cy="241300"/>
            </a:xfrm>
            <a:prstGeom prst="triangl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5" name="이등변 삼각형 14">
              <a:extLst>
                <a:ext uri="{FF2B5EF4-FFF2-40B4-BE49-F238E27FC236}">
                  <a16:creationId xmlns:a16="http://schemas.microsoft.com/office/drawing/2014/main" id="{590A4FD9-60F4-C123-0E5E-EBF74CE6936D}"/>
                </a:ext>
              </a:extLst>
            </p:cNvPr>
            <p:cNvSpPr/>
            <p:nvPr/>
          </p:nvSpPr>
          <p:spPr>
            <a:xfrm rot="10800000">
              <a:off x="6780470" y="4903731"/>
              <a:ext cx="2543175" cy="241300"/>
            </a:xfrm>
            <a:prstGeom prst="triangl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162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3B8F7BD-7526-64D7-1EFE-405B9DA0EDD5}"/>
              </a:ext>
            </a:extLst>
          </p:cNvPr>
          <p:cNvSpPr txBox="1"/>
          <p:nvPr/>
        </p:nvSpPr>
        <p:spPr>
          <a:xfrm>
            <a:off x="338944" y="6096028"/>
            <a:ext cx="53795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용어 </a:t>
            </a:r>
            <a:b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On-premise :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사내에 설치 및 운영되고 있는  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IT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자산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서버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DB </a:t>
            </a:r>
            <a:r>
              <a:rPr lang="ko-KR" altLang="en-US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네트워크 등</a:t>
            </a:r>
            <a:r>
              <a:rPr lang="en-US" altLang="ko-KR" sz="8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  <a:endParaRPr lang="ko-KR" altLang="en-US" sz="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내용 개체 틀 2">
            <a:extLst>
              <a:ext uri="{FF2B5EF4-FFF2-40B4-BE49-F238E27FC236}">
                <a16:creationId xmlns:a16="http://schemas.microsoft.com/office/drawing/2014/main" id="{A467B7AE-4D28-35AE-D0A5-E93E71439469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0" defTabSz="914400" fontAlgn="t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600" b="1" kern="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dirty="0"/>
              <a:t>자산 취약점 식별</a:t>
            </a:r>
            <a:r>
              <a:rPr lang="en-US" altLang="ko-KR" dirty="0"/>
              <a:t>, </a:t>
            </a:r>
            <a:r>
              <a:rPr lang="ko-KR" altLang="en-US" dirty="0"/>
              <a:t>검증</a:t>
            </a:r>
            <a:r>
              <a:rPr lang="en-US" altLang="ko-KR" dirty="0"/>
              <a:t>,</a:t>
            </a:r>
            <a:r>
              <a:rPr lang="ko-KR" altLang="en-US" dirty="0"/>
              <a:t> 고객정보 유출</a:t>
            </a:r>
            <a:r>
              <a:rPr lang="en-US" altLang="ko-KR" dirty="0"/>
              <a:t>, </a:t>
            </a:r>
            <a:r>
              <a:rPr lang="ko-KR" altLang="en-US" dirty="0"/>
              <a:t>생산중단 등 핵심 사업 리스크 확산 가능성 최소화</a:t>
            </a:r>
          </a:p>
        </p:txBody>
      </p:sp>
      <p:sp>
        <p:nvSpPr>
          <p:cNvPr id="3" name="슬라이드 번호 개체 틀 11">
            <a:extLst>
              <a:ext uri="{FF2B5EF4-FFF2-40B4-BE49-F238E27FC236}">
                <a16:creationId xmlns:a16="http://schemas.microsoft.com/office/drawing/2014/main" id="{4E85C052-7B09-AB3B-7958-CFBD05678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6918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2ACCC-8C3A-3300-53C5-80772A319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DD6A139-6D84-EAF1-D993-A940072DA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주요정보통신시설 인프라 취약점 진단 항목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B77EEB-F0F0-1097-3329-E25D315C3758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시스템 구조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운영환경을 종합 분석하여 설정 진단만으로 식별하기 어려운 취약점까지 진단</a:t>
            </a:r>
          </a:p>
        </p:txBody>
      </p:sp>
      <p:graphicFrame>
        <p:nvGraphicFramePr>
          <p:cNvPr id="20" name="표 1">
            <a:extLst>
              <a:ext uri="{FF2B5EF4-FFF2-40B4-BE49-F238E27FC236}">
                <a16:creationId xmlns:a16="http://schemas.microsoft.com/office/drawing/2014/main" id="{05D0B5C0-0F13-7509-4558-ADD731250D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7768743"/>
              </p:ext>
            </p:extLst>
          </p:nvPr>
        </p:nvGraphicFramePr>
        <p:xfrm>
          <a:off x="3503532" y="2361348"/>
          <a:ext cx="2947385" cy="3713023"/>
        </p:xfrm>
        <a:graphic>
          <a:graphicData uri="http://schemas.openxmlformats.org/drawingml/2006/table">
            <a:tbl>
              <a:tblPr/>
              <a:tblGrid>
                <a:gridCol w="766345">
                  <a:extLst>
                    <a:ext uri="{9D8B030D-6E8A-4147-A177-3AD203B41FA5}">
                      <a16:colId xmlns:a16="http://schemas.microsoft.com/office/drawing/2014/main" val="1317124466"/>
                    </a:ext>
                  </a:extLst>
                </a:gridCol>
                <a:gridCol w="1833437">
                  <a:extLst>
                    <a:ext uri="{9D8B030D-6E8A-4147-A177-3AD203B41FA5}">
                      <a16:colId xmlns:a16="http://schemas.microsoft.com/office/drawing/2014/main" val="1305659045"/>
                    </a:ext>
                  </a:extLst>
                </a:gridCol>
                <a:gridCol w="347603">
                  <a:extLst>
                    <a:ext uri="{9D8B030D-6E8A-4147-A177-3AD203B41FA5}">
                      <a16:colId xmlns:a16="http://schemas.microsoft.com/office/drawing/2014/main" val="3665222602"/>
                    </a:ext>
                  </a:extLst>
                </a:gridCol>
              </a:tblGrid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취약한 버전의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SMTP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사용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08099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SMTP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스팸 메일 릴레이 제한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미설정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6042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SMTP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서비스의 메일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queue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처리 권한 설정 미흡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0091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.</a:t>
                      </a:r>
                      <a:r>
                        <a:rPr lang="en-US" altLang="ko-KR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netrc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파일 내 중요 정보 노출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842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Anonymous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계정의 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접속 제한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0874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비밀번호 관리정책 설정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139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불필요하거나 관리되지 않는 계정 존재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7846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algn="ctr" defTabSz="914400" rtl="0" eaLnBrk="1" fontAlgn="ctr" latinLnBrk="1" hangingPunct="1"/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유추 가능한 계정 비밀번호 존재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628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 잠금 </a:t>
                      </a:r>
                      <a:r>
                        <a:rPr lang="ko-KR" alt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임계값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설정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50563"/>
                  </a:ext>
                </a:extLst>
              </a:tr>
              <a:tr h="3831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패치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주기적인 보안패치 및 벤더 권고사항 </a:t>
                      </a:r>
                      <a:r>
                        <a:rPr lang="ko-KR" alt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미적용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61711"/>
                  </a:ext>
                </a:extLst>
              </a:tr>
            </a:tbl>
          </a:graphicData>
        </a:graphic>
      </p:graphicFrame>
      <p:sp>
        <p:nvSpPr>
          <p:cNvPr id="21" name="직사각형 2">
            <a:extLst>
              <a:ext uri="{FF2B5EF4-FFF2-40B4-BE49-F238E27FC236}">
                <a16:creationId xmlns:a16="http://schemas.microsoft.com/office/drawing/2014/main" id="{80629CD9-35B8-82DE-CAFE-8E2939F453DC}"/>
              </a:ext>
            </a:extLst>
          </p:cNvPr>
          <p:cNvSpPr/>
          <p:nvPr/>
        </p:nvSpPr>
        <p:spPr>
          <a:xfrm>
            <a:off x="434848" y="1979549"/>
            <a:ext cx="2947385" cy="3213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Window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 진단 항목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(64)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직사각형 3">
            <a:extLst>
              <a:ext uri="{FF2B5EF4-FFF2-40B4-BE49-F238E27FC236}">
                <a16:creationId xmlns:a16="http://schemas.microsoft.com/office/drawing/2014/main" id="{782F234C-6EB0-09E7-2BE7-170ED1D484A2}"/>
              </a:ext>
            </a:extLst>
          </p:cNvPr>
          <p:cNvSpPr/>
          <p:nvPr/>
        </p:nvSpPr>
        <p:spPr>
          <a:xfrm>
            <a:off x="3503532" y="1979549"/>
            <a:ext cx="2947385" cy="3213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Unix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서버 진단 항목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(67)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직사각형 6">
            <a:extLst>
              <a:ext uri="{FF2B5EF4-FFF2-40B4-BE49-F238E27FC236}">
                <a16:creationId xmlns:a16="http://schemas.microsoft.com/office/drawing/2014/main" id="{8DB234BD-6ED3-DBED-0C96-89F91F15DFB5}"/>
              </a:ext>
            </a:extLst>
          </p:cNvPr>
          <p:cNvSpPr/>
          <p:nvPr/>
        </p:nvSpPr>
        <p:spPr>
          <a:xfrm>
            <a:off x="6572216" y="1979549"/>
            <a:ext cx="2955223" cy="321324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Web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서버 진단 항목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(26)</a:t>
            </a: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4" name="그룹 633">
            <a:extLst>
              <a:ext uri="{FF2B5EF4-FFF2-40B4-BE49-F238E27FC236}">
                <a16:creationId xmlns:a16="http://schemas.microsoft.com/office/drawing/2014/main" id="{B1B0203C-F0D2-4808-C079-0DF02C1D95D1}"/>
              </a:ext>
            </a:extLst>
          </p:cNvPr>
          <p:cNvGrpSpPr/>
          <p:nvPr/>
        </p:nvGrpSpPr>
        <p:grpSpPr>
          <a:xfrm>
            <a:off x="3488528" y="5875577"/>
            <a:ext cx="2947385" cy="208183"/>
            <a:chOff x="436880" y="6681984"/>
            <a:chExt cx="9225280" cy="410999"/>
          </a:xfrm>
          <a:solidFill>
            <a:srgbClr val="FFFFFF"/>
          </a:solidFill>
        </p:grpSpPr>
        <p:sp>
          <p:nvSpPr>
            <p:cNvPr id="25" name="자유형 48">
              <a:extLst>
                <a:ext uri="{FF2B5EF4-FFF2-40B4-BE49-F238E27FC236}">
                  <a16:creationId xmlns:a16="http://schemas.microsoft.com/office/drawing/2014/main" id="{B1A6B900-2C73-1F3D-4C15-073DFC707533}"/>
                </a:ext>
              </a:extLst>
            </p:cNvPr>
            <p:cNvSpPr/>
            <p:nvPr/>
          </p:nvSpPr>
          <p:spPr bwMode="ltGray">
            <a:xfrm>
              <a:off x="436880" y="6681984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  <p:sp>
          <p:nvSpPr>
            <p:cNvPr id="26" name="자유형 49">
              <a:extLst>
                <a:ext uri="{FF2B5EF4-FFF2-40B4-BE49-F238E27FC236}">
                  <a16:creationId xmlns:a16="http://schemas.microsoft.com/office/drawing/2014/main" id="{749B19F2-6410-22EF-95B7-04E232E660AE}"/>
                </a:ext>
              </a:extLst>
            </p:cNvPr>
            <p:cNvSpPr/>
            <p:nvPr/>
          </p:nvSpPr>
          <p:spPr bwMode="ltGray">
            <a:xfrm>
              <a:off x="436880" y="6715653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</p:grpSp>
      <p:graphicFrame>
        <p:nvGraphicFramePr>
          <p:cNvPr id="27" name="표 11">
            <a:extLst>
              <a:ext uri="{FF2B5EF4-FFF2-40B4-BE49-F238E27FC236}">
                <a16:creationId xmlns:a16="http://schemas.microsoft.com/office/drawing/2014/main" id="{CCFA8C3F-9AF5-3080-6A12-61A44D7A9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852795"/>
              </p:ext>
            </p:extLst>
          </p:nvPr>
        </p:nvGraphicFramePr>
        <p:xfrm>
          <a:off x="434848" y="2361349"/>
          <a:ext cx="2947385" cy="3713023"/>
        </p:xfrm>
        <a:graphic>
          <a:graphicData uri="http://schemas.openxmlformats.org/drawingml/2006/table">
            <a:tbl>
              <a:tblPr/>
              <a:tblGrid>
                <a:gridCol w="766345">
                  <a:extLst>
                    <a:ext uri="{9D8B030D-6E8A-4147-A177-3AD203B41FA5}">
                      <a16:colId xmlns:a16="http://schemas.microsoft.com/office/drawing/2014/main" val="1317124466"/>
                    </a:ext>
                  </a:extLst>
                </a:gridCol>
                <a:gridCol w="1833437">
                  <a:extLst>
                    <a:ext uri="{9D8B030D-6E8A-4147-A177-3AD203B41FA5}">
                      <a16:colId xmlns:a16="http://schemas.microsoft.com/office/drawing/2014/main" val="1305659045"/>
                    </a:ext>
                  </a:extLst>
                </a:gridCol>
                <a:gridCol w="347603">
                  <a:extLst>
                    <a:ext uri="{9D8B030D-6E8A-4147-A177-3AD203B41FA5}">
                      <a16:colId xmlns:a16="http://schemas.microsoft.com/office/drawing/2014/main" val="3665222602"/>
                    </a:ext>
                  </a:extLst>
                </a:gridCol>
              </a:tblGrid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Anonymous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접속 제한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08099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불필요한 하드디스크 기본 공유 활성화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6042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공유에 대한 접근 통제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0091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Anonymous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계정의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접속 제한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842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FTP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서비스 접근 제어 설정 미비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08746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기본 관리자 </a:t>
                      </a:r>
                      <a:r>
                        <a:rPr lang="ko-KR" altLang="en-US" sz="1000" b="0" i="0" u="none" strike="noStrike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계정명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(Administrator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존재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)</a:t>
                      </a:r>
                      <a:endParaRPr lang="ko-KR" altLang="en-US" sz="1000" b="0" i="0" u="none" strike="noStrike"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139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불필요한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Guest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계정 활성화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978460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자동 로그온 방지 설정 미흡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0262898"/>
                  </a:ext>
                </a:extLst>
              </a:tr>
              <a:tr h="3699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사용자 인증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로컬 로그온 방지 설정 미흡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1150563"/>
                  </a:ext>
                </a:extLst>
              </a:tr>
              <a:tr h="383194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패치 관리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45720" algn="l" fontAlgn="ctr" latinLnBrk="0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주기적인 </a:t>
                      </a:r>
                      <a:r>
                        <a:rPr lang="ko-KR" altLang="en-US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보안패치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및 벤더 권고사항 미적용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8661711"/>
                  </a:ext>
                </a:extLst>
              </a:tr>
            </a:tbl>
          </a:graphicData>
        </a:graphic>
      </p:graphicFrame>
      <p:grpSp>
        <p:nvGrpSpPr>
          <p:cNvPr id="28" name="그룹 633">
            <a:extLst>
              <a:ext uri="{FF2B5EF4-FFF2-40B4-BE49-F238E27FC236}">
                <a16:creationId xmlns:a16="http://schemas.microsoft.com/office/drawing/2014/main" id="{0F8371A8-899F-A395-B108-022CC6019FD4}"/>
              </a:ext>
            </a:extLst>
          </p:cNvPr>
          <p:cNvGrpSpPr/>
          <p:nvPr/>
        </p:nvGrpSpPr>
        <p:grpSpPr>
          <a:xfrm>
            <a:off x="415925" y="5875577"/>
            <a:ext cx="2947385" cy="208183"/>
            <a:chOff x="436880" y="6681984"/>
            <a:chExt cx="9225280" cy="410999"/>
          </a:xfrm>
          <a:solidFill>
            <a:srgbClr val="FFFFFF"/>
          </a:solidFill>
        </p:grpSpPr>
        <p:sp>
          <p:nvSpPr>
            <p:cNvPr id="29" name="자유형 36">
              <a:extLst>
                <a:ext uri="{FF2B5EF4-FFF2-40B4-BE49-F238E27FC236}">
                  <a16:creationId xmlns:a16="http://schemas.microsoft.com/office/drawing/2014/main" id="{35435DC2-F753-6D98-8ADA-BC7DE79F015B}"/>
                </a:ext>
              </a:extLst>
            </p:cNvPr>
            <p:cNvSpPr/>
            <p:nvPr/>
          </p:nvSpPr>
          <p:spPr bwMode="ltGray">
            <a:xfrm>
              <a:off x="436880" y="6681984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  <p:sp>
          <p:nvSpPr>
            <p:cNvPr id="30" name="자유형 37">
              <a:extLst>
                <a:ext uri="{FF2B5EF4-FFF2-40B4-BE49-F238E27FC236}">
                  <a16:creationId xmlns:a16="http://schemas.microsoft.com/office/drawing/2014/main" id="{5A909474-55F1-D793-96CF-7A691BB503F9}"/>
                </a:ext>
              </a:extLst>
            </p:cNvPr>
            <p:cNvSpPr/>
            <p:nvPr/>
          </p:nvSpPr>
          <p:spPr bwMode="ltGray">
            <a:xfrm>
              <a:off x="436880" y="6715653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</p:grpSp>
      <p:graphicFrame>
        <p:nvGraphicFramePr>
          <p:cNvPr id="31" name="표 23">
            <a:extLst>
              <a:ext uri="{FF2B5EF4-FFF2-40B4-BE49-F238E27FC236}">
                <a16:creationId xmlns:a16="http://schemas.microsoft.com/office/drawing/2014/main" id="{BB5B30C1-E440-F3FF-5DCD-3CD9120FB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78700"/>
              </p:ext>
            </p:extLst>
          </p:nvPr>
        </p:nvGraphicFramePr>
        <p:xfrm>
          <a:off x="6580054" y="2365611"/>
          <a:ext cx="2947385" cy="3696125"/>
        </p:xfrm>
        <a:graphic>
          <a:graphicData uri="http://schemas.openxmlformats.org/drawingml/2006/table">
            <a:tbl>
              <a:tblPr/>
              <a:tblGrid>
                <a:gridCol w="766345">
                  <a:extLst>
                    <a:ext uri="{9D8B030D-6E8A-4147-A177-3AD203B41FA5}">
                      <a16:colId xmlns:a16="http://schemas.microsoft.com/office/drawing/2014/main" val="1317124466"/>
                    </a:ext>
                  </a:extLst>
                </a:gridCol>
                <a:gridCol w="1833437">
                  <a:extLst>
                    <a:ext uri="{9D8B030D-6E8A-4147-A177-3AD203B41FA5}">
                      <a16:colId xmlns:a16="http://schemas.microsoft.com/office/drawing/2014/main" val="1305659045"/>
                    </a:ext>
                  </a:extLst>
                </a:gridCol>
                <a:gridCol w="347603">
                  <a:extLst>
                    <a:ext uri="{9D8B030D-6E8A-4147-A177-3AD203B41FA5}">
                      <a16:colId xmlns:a16="http://schemas.microsoft.com/office/drawing/2014/main" val="3665222602"/>
                    </a:ext>
                  </a:extLst>
                </a:gridCol>
              </a:tblGrid>
              <a:tr h="7392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ko-KR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쿠키변조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쿠키 정보를 통해 이용자 검증 또는 데이터 입력에 사용되는 점을 악용하여</a:t>
                      </a:r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쿠키 정보 조작을 통해 타이용자 권한 획득 또는 기타 중요정보 유출 가능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3208099"/>
                  </a:ext>
                </a:extLst>
              </a:tr>
              <a:tr h="44353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운영체제 명령실행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운영체제 내 임의 명령어 실행이 가능한 인터페이스의 존재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760420"/>
                  </a:ext>
                </a:extLst>
              </a:tr>
              <a:tr h="591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XML 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외부객체 공격 </a:t>
                      </a:r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(XXE)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XML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구문 분석기의 입력값 검증 누락으로 인해 시스템의 자원에 접근 가능한 취약점으로</a:t>
                      </a:r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, XML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구문에 대한 검증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6400918"/>
                  </a:ext>
                </a:extLst>
              </a:tr>
              <a:tr h="73922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ko-KR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리다이렉트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기능을 이용한 피싱 공격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리다이렉트 기능이 존재 시</a:t>
                      </a:r>
                      <a:r>
                        <a:rPr lang="en-US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URL </a:t>
                      </a:r>
                      <a:r>
                        <a:rPr lang="ko-KR" sz="900" kern="10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인자값에 대한 검증 누락으로 인해 임의페이지로 이동 가능성이 존재 하여 해당 기능 및 인자값 검증 여부를 점검</a:t>
                      </a:r>
                      <a:endParaRPr lang="ko-KR" sz="1000" kern="10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8426"/>
                  </a:ext>
                </a:extLst>
              </a:tr>
              <a:tr h="591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LDAP Injection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이용자 입력을 기반으로</a:t>
                      </a:r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LDAP(Lightweight Directory Access </a:t>
                      </a:r>
                      <a:r>
                        <a:rPr lang="en-US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Pr</a:t>
                      </a:r>
                      <a:r>
                        <a:rPr lang="ko-KR" alt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공정</a:t>
                      </a:r>
                      <a:r>
                        <a:rPr lang="en-US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ocol</a:t>
                      </a:r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구문을 구축하여 웹 기반 응용 프로그램 악용 여부를 점검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608746"/>
                  </a:ext>
                </a:extLst>
              </a:tr>
              <a:tr h="5913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SSI Injection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just"/>
                      <a:r>
                        <a:rPr lang="en-US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CGI 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또는 서버 사이드 스크립트를 통해 만들어진 웹사이트에서 </a:t>
                      </a:r>
                      <a:r>
                        <a:rPr lang="ko-KR" sz="900" kern="100" dirty="0" err="1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입력값에</a:t>
                      </a:r>
                      <a:r>
                        <a:rPr lang="ko-KR" sz="900" kern="100" dirty="0"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 panose="02020603050405020304" pitchFamily="18" charset="0"/>
                        </a:rPr>
                        <a:t> 부적절한 명령문을 삽입하여 실행 가능 여부를 점검</a:t>
                      </a:r>
                      <a:endParaRPr lang="ko-KR" sz="1000" kern="100" dirty="0"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613998"/>
                  </a:ext>
                </a:extLst>
              </a:tr>
            </a:tbl>
          </a:graphicData>
        </a:graphic>
      </p:graphicFrame>
      <p:grpSp>
        <p:nvGrpSpPr>
          <p:cNvPr id="32" name="그룹 633">
            <a:extLst>
              <a:ext uri="{FF2B5EF4-FFF2-40B4-BE49-F238E27FC236}">
                <a16:creationId xmlns:a16="http://schemas.microsoft.com/office/drawing/2014/main" id="{56A204E5-C2CD-6CFA-A91F-2E3517354466}"/>
              </a:ext>
            </a:extLst>
          </p:cNvPr>
          <p:cNvGrpSpPr/>
          <p:nvPr/>
        </p:nvGrpSpPr>
        <p:grpSpPr>
          <a:xfrm>
            <a:off x="6561131" y="5875577"/>
            <a:ext cx="2947385" cy="208183"/>
            <a:chOff x="436880" y="6681984"/>
            <a:chExt cx="9225280" cy="410999"/>
          </a:xfrm>
          <a:solidFill>
            <a:srgbClr val="FFFFFF"/>
          </a:solidFill>
        </p:grpSpPr>
        <p:sp>
          <p:nvSpPr>
            <p:cNvPr id="33" name="자유형 48">
              <a:extLst>
                <a:ext uri="{FF2B5EF4-FFF2-40B4-BE49-F238E27FC236}">
                  <a16:creationId xmlns:a16="http://schemas.microsoft.com/office/drawing/2014/main" id="{CE113533-BF00-1055-A1F8-37B96FA3A401}"/>
                </a:ext>
              </a:extLst>
            </p:cNvPr>
            <p:cNvSpPr/>
            <p:nvPr/>
          </p:nvSpPr>
          <p:spPr bwMode="ltGray">
            <a:xfrm>
              <a:off x="436880" y="6681984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  <p:sp>
          <p:nvSpPr>
            <p:cNvPr id="34" name="자유형 49">
              <a:extLst>
                <a:ext uri="{FF2B5EF4-FFF2-40B4-BE49-F238E27FC236}">
                  <a16:creationId xmlns:a16="http://schemas.microsoft.com/office/drawing/2014/main" id="{D9A22BAF-F192-2729-11BA-6162E5EADB15}"/>
                </a:ext>
              </a:extLst>
            </p:cNvPr>
            <p:cNvSpPr/>
            <p:nvPr/>
          </p:nvSpPr>
          <p:spPr bwMode="ltGray">
            <a:xfrm>
              <a:off x="436880" y="6715653"/>
              <a:ext cx="9225280" cy="377330"/>
            </a:xfrm>
            <a:custGeom>
              <a:avLst/>
              <a:gdLst>
                <a:gd name="connsiteX0" fmla="*/ 0 w 9225280"/>
                <a:gd name="connsiteY0" fmla="*/ 376027 h 377330"/>
                <a:gd name="connsiteX1" fmla="*/ 802640 w 9225280"/>
                <a:gd name="connsiteY1" fmla="*/ 162667 h 377330"/>
                <a:gd name="connsiteX2" fmla="*/ 1920240 w 9225280"/>
                <a:gd name="connsiteY2" fmla="*/ 365867 h 377330"/>
                <a:gd name="connsiteX3" fmla="*/ 3667760 w 9225280"/>
                <a:gd name="connsiteY3" fmla="*/ 132187 h 377330"/>
                <a:gd name="connsiteX4" fmla="*/ 4795520 w 9225280"/>
                <a:gd name="connsiteY4" fmla="*/ 376027 h 377330"/>
                <a:gd name="connsiteX5" fmla="*/ 6736080 w 9225280"/>
                <a:gd name="connsiteY5" fmla="*/ 107 h 377330"/>
                <a:gd name="connsiteX6" fmla="*/ 8056880 w 9225280"/>
                <a:gd name="connsiteY6" fmla="*/ 335387 h 377330"/>
                <a:gd name="connsiteX7" fmla="*/ 8717280 w 9225280"/>
                <a:gd name="connsiteY7" fmla="*/ 152507 h 377330"/>
                <a:gd name="connsiteX8" fmla="*/ 9225280 w 9225280"/>
                <a:gd name="connsiteY8" fmla="*/ 355707 h 377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225280" h="377330">
                  <a:moveTo>
                    <a:pt x="0" y="376027"/>
                  </a:moveTo>
                  <a:cubicBezTo>
                    <a:pt x="241300" y="270193"/>
                    <a:pt x="482600" y="164360"/>
                    <a:pt x="802640" y="162667"/>
                  </a:cubicBezTo>
                  <a:cubicBezTo>
                    <a:pt x="1122680" y="160974"/>
                    <a:pt x="1442720" y="370947"/>
                    <a:pt x="1920240" y="365867"/>
                  </a:cubicBezTo>
                  <a:cubicBezTo>
                    <a:pt x="2397760" y="360787"/>
                    <a:pt x="3188547" y="130494"/>
                    <a:pt x="3667760" y="132187"/>
                  </a:cubicBezTo>
                  <a:cubicBezTo>
                    <a:pt x="4146973" y="133880"/>
                    <a:pt x="4284133" y="398040"/>
                    <a:pt x="4795520" y="376027"/>
                  </a:cubicBezTo>
                  <a:cubicBezTo>
                    <a:pt x="5306907" y="354014"/>
                    <a:pt x="6192520" y="6880"/>
                    <a:pt x="6736080" y="107"/>
                  </a:cubicBezTo>
                  <a:cubicBezTo>
                    <a:pt x="7279640" y="-6666"/>
                    <a:pt x="7726680" y="309987"/>
                    <a:pt x="8056880" y="335387"/>
                  </a:cubicBezTo>
                  <a:cubicBezTo>
                    <a:pt x="8387080" y="360787"/>
                    <a:pt x="8522547" y="149120"/>
                    <a:pt x="8717280" y="152507"/>
                  </a:cubicBezTo>
                  <a:cubicBezTo>
                    <a:pt x="8912013" y="155894"/>
                    <a:pt x="9068646" y="255800"/>
                    <a:pt x="9225280" y="355707"/>
                  </a:cubicBezTo>
                </a:path>
              </a:pathLst>
            </a:custGeom>
            <a:grpFill/>
            <a:ln w="3175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  <a:sym typeface="Arial"/>
              </a:endParaRPr>
            </a:p>
          </p:txBody>
        </p:sp>
      </p:grpSp>
      <p:sp>
        <p:nvSpPr>
          <p:cNvPr id="35" name="Text Box 6">
            <a:extLst>
              <a:ext uri="{FF2B5EF4-FFF2-40B4-BE49-F238E27FC236}">
                <a16:creationId xmlns:a16="http://schemas.microsoft.com/office/drawing/2014/main" id="{F773FECF-F54C-F59F-D861-8BC32BDC05C3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448889" y="1500533"/>
            <a:ext cx="9078550" cy="353206"/>
          </a:xfrm>
          <a:prstGeom prst="rect">
            <a:avLst/>
          </a:prstGeom>
          <a:solidFill>
            <a:schemeClr val="tx1"/>
          </a:solidFill>
          <a:ln w="3175" algn="ctr">
            <a:noFill/>
            <a:miter lim="800000"/>
            <a:headEnd/>
            <a:tailEnd/>
          </a:ln>
        </p:spPr>
        <p:txBody>
          <a:bodyPr lIns="34343" tIns="34343" rIns="34343" bIns="34343" anchor="ctr"/>
          <a:lstStyle>
            <a:defPPr>
              <a:defRPr lang="en-US">
                <a:uFillTx/>
              </a:defRPr>
            </a:defPPr>
            <a:lvl1pPr marR="0" lvl="0" indent="0" algn="ctr" defTabSz="957263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400" b="1" i="0" u="none" strike="noStrike" kern="0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LnTx/>
                <a:latin typeface="맑은 고딕"/>
                <a:cs typeface="Arial" charset="0"/>
              </a:defRPr>
            </a:lvl1pPr>
          </a:lstStyle>
          <a:p>
            <a:pPr marL="0" marR="0" lvl="0" indent="0" algn="ctr" defTabSz="91322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336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진단방식 → 설정 값으로 판단이 부족한 항목에 대해서는 인터뷰를 통해 진단</a:t>
            </a:r>
          </a:p>
        </p:txBody>
      </p:sp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273592EA-84A1-FC58-A10D-C1050928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118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3503-9D7C-C5A9-4A34-B4F452709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9CEBA6C5-4566-8AC0-3430-8C54042D3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[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]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진단 내용 상세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0F72BA-A226-C95B-DC4F-310899DAAD38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취약점별 상세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원인과 조치방안을 제공 담당자와 논의하여 실질적인 개선까지 추적 관리 지원</a:t>
            </a:r>
          </a:p>
        </p:txBody>
      </p:sp>
      <p:graphicFrame>
        <p:nvGraphicFramePr>
          <p:cNvPr id="7" name="내용 개체 틀 11">
            <a:extLst>
              <a:ext uri="{FF2B5EF4-FFF2-40B4-BE49-F238E27FC236}">
                <a16:creationId xmlns:a16="http://schemas.microsoft.com/office/drawing/2014/main" id="{46B0D1E2-A5DB-2F59-A532-39E0F4DAF5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471095"/>
              </p:ext>
            </p:extLst>
          </p:nvPr>
        </p:nvGraphicFramePr>
        <p:xfrm>
          <a:off x="414681" y="1524001"/>
          <a:ext cx="9075600" cy="4571999"/>
        </p:xfrm>
        <a:graphic>
          <a:graphicData uri="http://schemas.openxmlformats.org/drawingml/2006/table">
            <a:tbl>
              <a:tblPr/>
              <a:tblGrid>
                <a:gridCol w="162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65426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취약점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35997" marR="35997" marT="35989" marB="359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kern="1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주기적인 보안 패치 및 벤더 권고사항 미적용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144000" marR="72000" marT="72000" marB="72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위험도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상</a:t>
                      </a:r>
                      <a:endParaRPr kumimoji="0" lang="en-US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72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5730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상세</a:t>
                      </a:r>
                      <a:endParaRPr kumimoji="0" lang="en-US" altLang="ko-KR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35997" marR="35997" marT="35989" marB="35989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공개된 취약점에 의한 침해를 방지하고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,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시스템에 대한 안전성 향상을 위해 최신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/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긴급 패치에 대한 검토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,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계획 수립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,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계획에 따른 이행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(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또는 보호방안 수립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)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여부 등을 점검해야 한다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 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이를 수행하지 않을 경우 알려진 취약점을 이용한 공격에 노출될 수 있다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</a:t>
                      </a:r>
                    </a:p>
                  </a:txBody>
                  <a:tcPr marL="144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4156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진단 방법</a:t>
                      </a:r>
                    </a:p>
                  </a:txBody>
                  <a:tcPr marL="35997" marR="35997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Windows</a:t>
                      </a:r>
                      <a:b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</a:b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CMD </a:t>
                      </a:r>
                      <a:r>
                        <a:rPr lang="ko-KR" altLang="en-US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→ 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wmic 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qfe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list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Linux(RHEL)</a:t>
                      </a:r>
                      <a:br>
                        <a:rPr lang="en-US" altLang="ko-KR" sz="1200" b="1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</a:b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# cat</a:t>
                      </a:r>
                      <a:r>
                        <a:rPr lang="ko-KR" altLang="en-US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/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etc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/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redhat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-release</a:t>
                      </a:r>
                      <a:b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</a:b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# </a:t>
                      </a:r>
                      <a:r>
                        <a:rPr lang="en-US" altLang="ko-KR" sz="1200" b="0" kern="100" dirty="0" err="1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uname</a:t>
                      </a:r>
                      <a:r>
                        <a:rPr lang="en-US" altLang="ko-KR" sz="1200" b="0" kern="100" dirty="0">
                          <a:solidFill>
                            <a:schemeClr val="tx1"/>
                          </a:solidFill>
                          <a:effectLst/>
                          <a:uFillTx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 –r</a:t>
                      </a:r>
                      <a:endParaRPr lang="ko-KR" altLang="en-US" sz="1200" b="0" kern="100" dirty="0">
                        <a:solidFill>
                          <a:schemeClr val="tx1"/>
                        </a:solidFill>
                        <a:effectLst/>
                        <a:uFillTx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/>
                      </a:endParaRPr>
                    </a:p>
                  </a:txBody>
                  <a:tcPr marL="144000" marR="72000" marT="0" marB="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6687">
                <a:tc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5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개선 방법</a:t>
                      </a:r>
                    </a:p>
                  </a:txBody>
                  <a:tcPr marL="35997" marR="35997" marT="36000" marB="36000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1pPr>
                      <a:lvl2pPr marL="50946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2pPr>
                      <a:lvl3pPr marL="1018921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3pPr>
                      <a:lvl4pPr marL="1528383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4pPr>
                      <a:lvl5pPr marL="203784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5pPr>
                      <a:lvl6pPr marL="2547304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6pPr>
                      <a:lvl7pPr marL="305676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7pPr>
                      <a:lvl8pPr marL="3566226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8pPr>
                      <a:lvl9pPr marL="4075687" algn="l" defTabSz="1018921" rtl="0" eaLnBrk="1" latinLnBrk="1" hangingPunct="1">
                        <a:defRPr sz="2000" kern="1200">
                          <a:solidFill>
                            <a:schemeClr val="tx1"/>
                          </a:solidFill>
                          <a:uFillTx/>
                          <a:latin typeface="Arial"/>
                          <a:ea typeface="돋움"/>
                          <a:cs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ko-KR" altLang="en-US" sz="1200" b="1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최신 패치 적용</a:t>
                      </a:r>
                      <a:endParaRPr lang="en-US" altLang="ko-KR" sz="1200" b="1" kern="100" dirty="0"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Times New Roman"/>
                      </a:endParaRPr>
                    </a:p>
                    <a:p>
                      <a:pPr marL="176213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제조사에서 최신 패치가 업데이트 되는 경우 이에 대한 시스템 영향도를 파악하여 해당되는 자산에 대한 패치를 적용하여야 하며 이때 작업 전 시스템 백업을 고려하여야 한다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</a:t>
                      </a:r>
                    </a:p>
                    <a:p>
                      <a:pPr marL="176213" marR="0" lvl="0" indent="0" algn="l" defTabSz="914400" rtl="0" eaLnBrk="1" fontAlgn="ctr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패치 적용에 대한 호환성 검증을 고려하여 패치 주기는 분기당 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1</a:t>
                      </a:r>
                      <a:r>
                        <a:rPr lang="ko-KR" altLang="en-US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회로 권고된다</a:t>
                      </a:r>
                      <a:r>
                        <a:rPr lang="en-US" altLang="ko-KR" sz="1200" kern="100" dirty="0"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Times New Roman"/>
                        </a:rPr>
                        <a:t>.</a:t>
                      </a:r>
                    </a:p>
                  </a:txBody>
                  <a:tcPr marL="144000" marR="72000" marT="36000" marB="36000" anchor="ctr" horzOverflow="overflow">
                    <a:lnL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7D7D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7DC07B21-B8E3-AE5C-C0E3-EC0787FA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904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8ADBBD-F635-0411-C3A7-7954C727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직사각형 13">
            <a:extLst>
              <a:ext uri="{FF2B5EF4-FFF2-40B4-BE49-F238E27FC236}">
                <a16:creationId xmlns:a16="http://schemas.microsoft.com/office/drawing/2014/main" id="{5EC12094-305B-888F-C187-F78910FBCE7E}"/>
              </a:ext>
            </a:extLst>
          </p:cNvPr>
          <p:cNvSpPr/>
          <p:nvPr/>
        </p:nvSpPr>
        <p:spPr>
          <a:xfrm>
            <a:off x="4683696" y="2055895"/>
            <a:ext cx="4762500" cy="4022176"/>
          </a:xfrm>
          <a:prstGeom prst="rect">
            <a:avLst/>
          </a:prstGeom>
          <a:solidFill>
            <a:srgbClr val="FFFFFF"/>
          </a:solidFill>
          <a:ln w="3175" cap="sq" cmpd="sng" algn="ctr">
            <a:solidFill>
              <a:srgbClr val="000000">
                <a:lumMod val="50000"/>
                <a:lumOff val="50000"/>
              </a:srgbClr>
            </a:solidFill>
            <a:prstDash val="solid"/>
          </a:ln>
          <a:effectLst/>
        </p:spPr>
        <p:txBody>
          <a:bodyPr lIns="36000" tIns="0" rIns="36000" bIns="108000" rtlCol="0" anchor="ctr" anchorCtr="0">
            <a:scene3d>
              <a:camera prst="orthographicFront"/>
              <a:lightRig rig="threePt" dir="t"/>
            </a:scene3d>
            <a:sp3d>
              <a:bevelT w="1270"/>
              <a:contourClr>
                <a:srgbClr val="1A272E"/>
              </a:contourClr>
            </a:sp3d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3" name="직사각형 17">
            <a:extLst>
              <a:ext uri="{FF2B5EF4-FFF2-40B4-BE49-F238E27FC236}">
                <a16:creationId xmlns:a16="http://schemas.microsoft.com/office/drawing/2014/main" id="{45E17CF9-23F2-D5B7-1000-329C506516DF}"/>
              </a:ext>
            </a:extLst>
          </p:cNvPr>
          <p:cNvSpPr/>
          <p:nvPr/>
        </p:nvSpPr>
        <p:spPr>
          <a:xfrm>
            <a:off x="5811086" y="2524004"/>
            <a:ext cx="3547120" cy="3474559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sq" cmpd="sng" algn="ctr">
            <a:noFill/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74671D-A744-18D1-11A9-1762E62CA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787" y="3759786"/>
            <a:ext cx="312115" cy="312115"/>
          </a:xfrm>
          <a:prstGeom prst="rect">
            <a:avLst/>
          </a:prstGeom>
          <a:solidFill>
            <a:srgbClr val="EEF2F6"/>
          </a:solidFill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3B91777C-2558-652B-18C9-0A9741607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lang="ko-KR" altLang="en-US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모의해킹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기반 검증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6B153D-C3D1-21F7-9832-7DF87B233F17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실제 공격 관점에서 침투 → 권한상승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→ 중요정보 접근 가능성을 검증하여 보안 리스크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식별</a:t>
            </a:r>
          </a:p>
        </p:txBody>
      </p:sp>
      <p:graphicFrame>
        <p:nvGraphicFramePr>
          <p:cNvPr id="178" name="Group 249">
            <a:extLst>
              <a:ext uri="{FF2B5EF4-FFF2-40B4-BE49-F238E27FC236}">
                <a16:creationId xmlns:a16="http://schemas.microsoft.com/office/drawing/2014/main" id="{6525BDE9-8D4C-D0D3-B673-A75DD9CA20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810958"/>
              </p:ext>
            </p:extLst>
          </p:nvPr>
        </p:nvGraphicFramePr>
        <p:xfrm>
          <a:off x="415924" y="2055895"/>
          <a:ext cx="4195763" cy="4039161"/>
        </p:xfrm>
        <a:graphic>
          <a:graphicData uri="http://schemas.openxmlformats.org/drawingml/2006/table">
            <a:tbl>
              <a:tblPr/>
              <a:tblGrid>
                <a:gridCol w="38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70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966"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분류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악의적인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명령어를 통한 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DB 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보안</a:t>
                      </a:r>
                      <a:r>
                        <a:rPr lang="en-US" altLang="ko-KR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1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진단</a:t>
                      </a:r>
                      <a:endParaRPr kumimoji="1" lang="en-US" altLang="ko-KR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222"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시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나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리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오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목표</a:t>
                      </a: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216000" marR="0" lvl="0" indent="-108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인증 로직의 조작을 통해 비인가자의 관리자 권한 획득</a:t>
                      </a:r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1100" b="1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[</a:t>
                      </a:r>
                      <a:r>
                        <a:rPr kumimoji="0" lang="ko-KR" altLang="en-US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내용</a:t>
                      </a:r>
                      <a:r>
                        <a:rPr kumimoji="0" lang="en-US" altLang="ko-KR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]</a:t>
                      </a:r>
                    </a:p>
                    <a:p>
                      <a:pPr marL="216000" marR="0" lvl="0" indent="-108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권한으로 로그인하여</a:t>
                      </a:r>
                      <a:r>
                        <a:rPr kumimoji="0" lang="en-US" altLang="ko-KR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페이지 접근 및 기능 사용 시도</a:t>
                      </a:r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L="68580" marR="68580"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02222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수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행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결</a:t>
                      </a:r>
                      <a:endParaRPr kumimoji="1" lang="en-US" altLang="ko-KR" sz="1100" b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0" marR="0" lvl="0" indent="0" algn="ctr" defTabSz="914400" rtl="0" eaLnBrk="0" fontAlgn="base" latinLnBrk="1" hangingPunct="0">
                        <a:lnSpc>
                          <a:spcPts val="1200"/>
                        </a:lnSpc>
                        <a:spcBef>
                          <a:spcPct val="3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과</a:t>
                      </a:r>
                    </a:p>
                  </a:txBody>
                  <a:tcPr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180000" marR="0" lvl="0" indent="-144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>
                          <a:ln>
                            <a:noFill/>
                          </a:ln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클라이언트 응답 값을 위변조하여 비인가자 로그인 시도</a:t>
                      </a:r>
                      <a:endParaRPr kumimoji="0" lang="en-US" altLang="ko-KR" sz="1100" u="none" strike="noStrike" kern="1200" cap="none" normalizeH="0" baseline="0">
                        <a:ln>
                          <a:noFill/>
                        </a:ln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80000" marR="0" lvl="0" indent="-1440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>
                          <a:ln>
                            <a:noFill/>
                          </a:ln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관리자 권한을 획득하여 로그인 성공 </a:t>
                      </a:r>
                      <a:endParaRPr kumimoji="0" lang="en-US" altLang="ko-KR" sz="1100" u="none" strike="noStrike" kern="1200" cap="none" normalizeH="0" baseline="0">
                        <a:ln>
                          <a:noFill/>
                        </a:ln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68580" marR="68580"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0222545"/>
                  </a:ext>
                </a:extLst>
              </a:tr>
              <a:tr h="992751"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latinLnBrk="1"/>
                      <a:r>
                        <a:rPr kumimoji="1" lang="ko-KR" altLang="en-US" sz="1100" b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개선조치</a:t>
                      </a:r>
                      <a:endParaRPr kumimoji="1" lang="ko-KR" altLang="en-US" sz="11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333493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666985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000478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33397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1667464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000957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2334450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2667942" algn="l" defTabSz="666985" rtl="0" eaLnBrk="1" latinLnBrk="1" hangingPunct="1">
                        <a:defRPr sz="1361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외부 해킹을 통해 데이터베이스의 중요정보 및 개인정보 유출 가능성 확인 및 사전예방</a:t>
                      </a:r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  <a:p>
                      <a:pPr algn="l" latinLnBrk="0"/>
                      <a:endParaRPr kumimoji="0" lang="en-US" altLang="ko-KR" sz="1100" u="none" strike="noStrike" kern="1200" cap="none" normalizeH="0" baseline="0" dirty="0">
                        <a:ln>
                          <a:noFill/>
                        </a:ln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  <a:p>
                      <a:pPr marL="171450" marR="0" lvl="0" indent="-1714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10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관리자 및 타사용자 권한 획득을 통한 침해사고 발생 가능성 확인 및 사전예방</a:t>
                      </a:r>
                    </a:p>
                  </a:txBody>
                  <a:tcPr marL="68580" marR="68580" marT="0" marB="0" anchor="ctr" horzOverflow="overflow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81" name="직사각형 14">
            <a:extLst>
              <a:ext uri="{FF2B5EF4-FFF2-40B4-BE49-F238E27FC236}">
                <a16:creationId xmlns:a16="http://schemas.microsoft.com/office/drawing/2014/main" id="{46C8313B-2DDC-ACD5-F45D-2B3CA35F7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1085" y="2121172"/>
            <a:ext cx="3540144" cy="317228"/>
          </a:xfrm>
          <a:prstGeom prst="rect">
            <a:avLst/>
          </a:prstGeom>
          <a:solidFill>
            <a:schemeClr val="tx1"/>
          </a:solidFill>
          <a:ln w="12700" cap="sq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 prstMaterial="softEdge"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25400" dist="12700" dir="5400000" algn="ctr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Web</a:t>
            </a:r>
            <a:endParaRPr kumimoji="0" lang="ko-KR" altLang="en-US" sz="14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25400" dist="12700" dir="5400000" algn="ctr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2" name="직사각형 15">
            <a:extLst>
              <a:ext uri="{FF2B5EF4-FFF2-40B4-BE49-F238E27FC236}">
                <a16:creationId xmlns:a16="http://schemas.microsoft.com/office/drawing/2014/main" id="{9AEFD29D-7656-825C-7D1C-95C24BADF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56434" y="2121172"/>
            <a:ext cx="985671" cy="317228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</a:ln>
          <a:effectLst/>
          <a:scene3d>
            <a:camera prst="orthographicFront"/>
            <a:lightRig rig="threePt" dir="t"/>
          </a:scene3d>
          <a:sp3d prstMaterial="softEdge"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effectLst>
                  <a:outerShdw blurRad="25400" dist="12700" dir="5400000" algn="ctr" rotWithShape="0">
                    <a:srgbClr val="000000">
                      <a:alpha val="40000"/>
                    </a:srgbClr>
                  </a:outerShdw>
                </a:effectLst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  <a:endParaRPr kumimoji="0" lang="en-US" altLang="ko-KR" sz="1400" b="1" i="0" u="none" strike="noStrike" kern="0" cap="none" spc="0" normalizeH="0" baseline="0" noProof="0" dirty="0">
              <a:ln>
                <a:noFill/>
              </a:ln>
              <a:effectLst>
                <a:outerShdw blurRad="25400" dist="12700" dir="5400000" algn="ctr" rotWithShape="0">
                  <a:srgbClr val="000000">
                    <a:alpha val="40000"/>
                  </a:srgbClr>
                </a:outerShdw>
              </a:effectLst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184" name="Picture 2" descr="C:\Documents and Settings\Administrator\바탕 화면\대전 정부 통합 전산센터\교육 자료 샘플\대전 전산센터 교육 자료\image\XSS\board(1).jpg">
            <a:extLst>
              <a:ext uri="{FF2B5EF4-FFF2-40B4-BE49-F238E27FC236}">
                <a16:creationId xmlns:a16="http://schemas.microsoft.com/office/drawing/2014/main" id="{52CE1CA5-5024-A54B-CCD0-C0A156AEB37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8028" y="2648510"/>
            <a:ext cx="1326853" cy="483305"/>
          </a:xfrm>
          <a:prstGeom prst="rect">
            <a:avLst/>
          </a:prstGeom>
          <a:noFill/>
          <a:ln w="9525">
            <a:solidFill>
              <a:srgbClr val="40404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DB94457E-0E18-4231-95B8-B8D07F1470DF}"/>
              </a:ext>
            </a:extLst>
          </p:cNvPr>
          <p:cNvSpPr txBox="1"/>
          <p:nvPr/>
        </p:nvSpPr>
        <p:spPr>
          <a:xfrm>
            <a:off x="6377003" y="2656402"/>
            <a:ext cx="997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SQL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구문 삽입</a:t>
            </a:r>
          </a:p>
        </p:txBody>
      </p:sp>
      <p:cxnSp>
        <p:nvCxnSpPr>
          <p:cNvPr id="187" name="직선 화살표 연결선 29">
            <a:extLst>
              <a:ext uri="{FF2B5EF4-FFF2-40B4-BE49-F238E27FC236}">
                <a16:creationId xmlns:a16="http://schemas.microsoft.com/office/drawing/2014/main" id="{0C775A66-27F1-156C-EF72-652A1A74DFF3}"/>
              </a:ext>
            </a:extLst>
          </p:cNvPr>
          <p:cNvCxnSpPr/>
          <p:nvPr/>
        </p:nvCxnSpPr>
        <p:spPr>
          <a:xfrm>
            <a:off x="5710279" y="2890162"/>
            <a:ext cx="2138953" cy="0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188" name="폭발 1 23">
            <a:extLst>
              <a:ext uri="{FF2B5EF4-FFF2-40B4-BE49-F238E27FC236}">
                <a16:creationId xmlns:a16="http://schemas.microsoft.com/office/drawing/2014/main" id="{45A3605D-CE02-002E-A31F-B6D8F90CE261}"/>
              </a:ext>
            </a:extLst>
          </p:cNvPr>
          <p:cNvSpPr/>
          <p:nvPr/>
        </p:nvSpPr>
        <p:spPr bwMode="auto">
          <a:xfrm>
            <a:off x="7621337" y="2771020"/>
            <a:ext cx="455790" cy="240602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B2A931A-9354-02EC-C0AE-2595F505CB08}"/>
              </a:ext>
            </a:extLst>
          </p:cNvPr>
          <p:cNvSpPr txBox="1"/>
          <p:nvPr/>
        </p:nvSpPr>
        <p:spPr>
          <a:xfrm>
            <a:off x="6259248" y="5226222"/>
            <a:ext cx="997389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SQL 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구문 입력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B7A06A36-228E-9EBA-27D2-AB9FECD3852D}"/>
              </a:ext>
            </a:extLst>
          </p:cNvPr>
          <p:cNvSpPr txBox="1"/>
          <p:nvPr/>
        </p:nvSpPr>
        <p:spPr>
          <a:xfrm>
            <a:off x="5869632" y="5443064"/>
            <a:ext cx="16822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‘ or 1=1 -- , “ or 1=1-- </a:t>
            </a:r>
            <a:r>
              <a:rPr kumimoji="0" lang="ko-KR" altLang="en-US" sz="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등등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3F969721-13A7-C224-9B39-454A29EE3521}"/>
              </a:ext>
            </a:extLst>
          </p:cNvPr>
          <p:cNvSpPr txBox="1"/>
          <p:nvPr/>
        </p:nvSpPr>
        <p:spPr>
          <a:xfrm>
            <a:off x="6267554" y="4475786"/>
            <a:ext cx="90944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로그인 성공</a:t>
            </a:r>
          </a:p>
        </p:txBody>
      </p:sp>
      <p:cxnSp>
        <p:nvCxnSpPr>
          <p:cNvPr id="192" name="직선 연결선 34">
            <a:extLst>
              <a:ext uri="{FF2B5EF4-FFF2-40B4-BE49-F238E27FC236}">
                <a16:creationId xmlns:a16="http://schemas.microsoft.com/office/drawing/2014/main" id="{658E3962-EA05-53B2-81EA-E52093866C86}"/>
              </a:ext>
            </a:extLst>
          </p:cNvPr>
          <p:cNvCxnSpPr>
            <a:cxnSpLocks/>
          </p:cNvCxnSpPr>
          <p:nvPr/>
        </p:nvCxnSpPr>
        <p:spPr>
          <a:xfrm>
            <a:off x="8512585" y="3314700"/>
            <a:ext cx="0" cy="423256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93" name="TextBox 192">
            <a:extLst>
              <a:ext uri="{FF2B5EF4-FFF2-40B4-BE49-F238E27FC236}">
                <a16:creationId xmlns:a16="http://schemas.microsoft.com/office/drawing/2014/main" id="{E1BD8EB2-191C-C9A7-1067-0758031F01FA}"/>
              </a:ext>
            </a:extLst>
          </p:cNvPr>
          <p:cNvSpPr txBox="1"/>
          <p:nvPr/>
        </p:nvSpPr>
        <p:spPr>
          <a:xfrm>
            <a:off x="7956403" y="4326157"/>
            <a:ext cx="117075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반 자동화 툴 사용</a:t>
            </a:r>
          </a:p>
        </p:txBody>
      </p:sp>
      <p:cxnSp>
        <p:nvCxnSpPr>
          <p:cNvPr id="194" name="직선 연결선 36">
            <a:extLst>
              <a:ext uri="{FF2B5EF4-FFF2-40B4-BE49-F238E27FC236}">
                <a16:creationId xmlns:a16="http://schemas.microsoft.com/office/drawing/2014/main" id="{C21AF935-3EF2-5173-A435-0BF221B4B1E1}"/>
              </a:ext>
            </a:extLst>
          </p:cNvPr>
          <p:cNvCxnSpPr/>
          <p:nvPr/>
        </p:nvCxnSpPr>
        <p:spPr>
          <a:xfrm>
            <a:off x="8821341" y="4921530"/>
            <a:ext cx="0" cy="414166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</a:ln>
          <a:effectLst/>
        </p:spPr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7660D83B-9942-608F-2FD8-398C8D00EEEB}"/>
              </a:ext>
            </a:extLst>
          </p:cNvPr>
          <p:cNvSpPr txBox="1"/>
          <p:nvPr/>
        </p:nvSpPr>
        <p:spPr>
          <a:xfrm>
            <a:off x="8102179" y="5714580"/>
            <a:ext cx="780983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인증우회 시도</a:t>
            </a:r>
          </a:p>
        </p:txBody>
      </p:sp>
      <p:sp>
        <p:nvSpPr>
          <p:cNvPr id="196" name="타원 5">
            <a:extLst>
              <a:ext uri="{FF2B5EF4-FFF2-40B4-BE49-F238E27FC236}">
                <a16:creationId xmlns:a16="http://schemas.microsoft.com/office/drawing/2014/main" id="{997D734C-4560-F72E-E275-D205E04C65BF}"/>
              </a:ext>
            </a:extLst>
          </p:cNvPr>
          <p:cNvSpPr>
            <a:spLocks noChangeArrowheads="1" noTextEdit="1"/>
          </p:cNvSpPr>
          <p:nvPr/>
        </p:nvSpPr>
        <p:spPr>
          <a:xfrm>
            <a:off x="6608902" y="3292844"/>
            <a:ext cx="502447" cy="387575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204020203" pitchFamily="34" charset="0"/>
            </a:endParaRPr>
          </a:p>
        </p:txBody>
      </p:sp>
      <p:grpSp>
        <p:nvGrpSpPr>
          <p:cNvPr id="197" name="Group 16">
            <a:extLst>
              <a:ext uri="{FF2B5EF4-FFF2-40B4-BE49-F238E27FC236}">
                <a16:creationId xmlns:a16="http://schemas.microsoft.com/office/drawing/2014/main" id="{23A0B5D9-3A91-F462-0665-88B4B97ACC11}"/>
              </a:ext>
            </a:extLst>
          </p:cNvPr>
          <p:cNvGrpSpPr/>
          <p:nvPr/>
        </p:nvGrpSpPr>
        <p:grpSpPr>
          <a:xfrm>
            <a:off x="5828400" y="4110195"/>
            <a:ext cx="502447" cy="387575"/>
            <a:chOff x="878" y="1407"/>
            <a:chExt cx="292" cy="291"/>
          </a:xfrm>
        </p:grpSpPr>
        <p:sp>
          <p:nvSpPr>
            <p:cNvPr id="228" name="타원 5">
              <a:extLst>
                <a:ext uri="{FF2B5EF4-FFF2-40B4-BE49-F238E27FC236}">
                  <a16:creationId xmlns:a16="http://schemas.microsoft.com/office/drawing/2014/main" id="{BB352392-3344-DD59-ABAB-8762C715A927}"/>
                </a:ext>
              </a:extLst>
            </p:cNvPr>
            <p:cNvSpPr>
              <a:spLocks noChangeArrowheads="1" noTextEdit="1"/>
            </p:cNvSpPr>
            <p:nvPr/>
          </p:nvSpPr>
          <p:spPr>
            <a:xfrm>
              <a:off x="878" y="1407"/>
              <a:ext cx="292" cy="291"/>
            </a:xfrm>
            <a:prstGeom prst="rect">
              <a:avLst/>
            </a:prstGeom>
            <a:noFill/>
            <a:ln w="9525">
              <a:noFill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" panose="020B0502040204020203" pitchFamily="34" charset="0"/>
              </a:endParaRPr>
            </a:p>
          </p:txBody>
        </p:sp>
        <p:sp>
          <p:nvSpPr>
            <p:cNvPr id="229" name="Text Box 14">
              <a:extLst>
                <a:ext uri="{FF2B5EF4-FFF2-40B4-BE49-F238E27FC236}">
                  <a16:creationId xmlns:a16="http://schemas.microsoft.com/office/drawing/2014/main" id="{D95A5CAB-17A0-E553-4D71-80F03CD54AEC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99" y="1485"/>
              <a:ext cx="0" cy="116"/>
            </a:xfrm>
            <a:prstGeom prst="rect">
              <a:avLst/>
            </a:prstGeom>
            <a:noFill/>
            <a:ln w="38100" algn="ctr">
              <a:noFill/>
              <a:miter/>
            </a:ln>
          </p:spPr>
          <p:txBody>
            <a:bodyPr wrap="none" lIns="0" tIns="0" rIns="0" bIns="0" anchorCtr="1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cxnSp>
        <p:nvCxnSpPr>
          <p:cNvPr id="198" name="직선 화살표 연결선 40">
            <a:extLst>
              <a:ext uri="{FF2B5EF4-FFF2-40B4-BE49-F238E27FC236}">
                <a16:creationId xmlns:a16="http://schemas.microsoft.com/office/drawing/2014/main" id="{B4CE55E3-B36C-B2FE-0009-C312D012A128}"/>
              </a:ext>
            </a:extLst>
          </p:cNvPr>
          <p:cNvCxnSpPr/>
          <p:nvPr/>
        </p:nvCxnSpPr>
        <p:spPr>
          <a:xfrm flipH="1" flipV="1">
            <a:off x="6638173" y="4043974"/>
            <a:ext cx="1213107" cy="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199" name="직선 연결선 41">
            <a:extLst>
              <a:ext uri="{FF2B5EF4-FFF2-40B4-BE49-F238E27FC236}">
                <a16:creationId xmlns:a16="http://schemas.microsoft.com/office/drawing/2014/main" id="{3833F837-44E7-C18E-22C6-C4DF981F8BD5}"/>
              </a:ext>
            </a:extLst>
          </p:cNvPr>
          <p:cNvCxnSpPr>
            <a:cxnSpLocks/>
          </p:cNvCxnSpPr>
          <p:nvPr/>
        </p:nvCxnSpPr>
        <p:spPr>
          <a:xfrm flipH="1">
            <a:off x="6270665" y="4384118"/>
            <a:ext cx="3467" cy="384647"/>
          </a:xfrm>
          <a:prstGeom prst="line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/>
          </a:ln>
          <a:effectLst/>
        </p:spPr>
      </p:cxnSp>
      <p:pic>
        <p:nvPicPr>
          <p:cNvPr id="200" name="Picture 2">
            <a:extLst>
              <a:ext uri="{FF2B5EF4-FFF2-40B4-BE49-F238E27FC236}">
                <a16:creationId xmlns:a16="http://schemas.microsoft.com/office/drawing/2014/main" id="{89FBBCCF-3AFF-803E-16DC-040A82605E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2" t="14721" r="4946" b="6978"/>
          <a:stretch/>
        </p:blipFill>
        <p:spPr bwMode="auto">
          <a:xfrm>
            <a:off x="7858717" y="5250121"/>
            <a:ext cx="1326705" cy="475602"/>
          </a:xfrm>
          <a:prstGeom prst="rect">
            <a:avLst/>
          </a:prstGeom>
          <a:noFill/>
          <a:ln w="9525">
            <a:solidFill>
              <a:srgbClr val="40404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1" name="TextBox 200">
            <a:extLst>
              <a:ext uri="{FF2B5EF4-FFF2-40B4-BE49-F238E27FC236}">
                <a16:creationId xmlns:a16="http://schemas.microsoft.com/office/drawing/2014/main" id="{9679BFE0-FD83-0DC1-84A1-C0CA1E233D79}"/>
              </a:ext>
            </a:extLst>
          </p:cNvPr>
          <p:cNvSpPr txBox="1"/>
          <p:nvPr/>
        </p:nvSpPr>
        <p:spPr>
          <a:xfrm>
            <a:off x="5950967" y="4165857"/>
            <a:ext cx="60785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중요정보</a:t>
            </a:r>
          </a:p>
        </p:txBody>
      </p:sp>
      <p:grpSp>
        <p:nvGrpSpPr>
          <p:cNvPr id="202" name="그룹 44">
            <a:extLst>
              <a:ext uri="{FF2B5EF4-FFF2-40B4-BE49-F238E27FC236}">
                <a16:creationId xmlns:a16="http://schemas.microsoft.com/office/drawing/2014/main" id="{70B50569-B929-83DC-7DF2-86BC3828552E}"/>
              </a:ext>
            </a:extLst>
          </p:cNvPr>
          <p:cNvGrpSpPr/>
          <p:nvPr/>
        </p:nvGrpSpPr>
        <p:grpSpPr>
          <a:xfrm>
            <a:off x="7851278" y="3718892"/>
            <a:ext cx="1325098" cy="636951"/>
            <a:chOff x="5156570" y="1648679"/>
            <a:chExt cx="3413913" cy="1838188"/>
          </a:xfrm>
        </p:grpSpPr>
        <p:pic>
          <p:nvPicPr>
            <p:cNvPr id="226" name="Picture 2" descr="http://192.168.169.59:8080/kosaf/02.%20%EB%AA%A8%EC%9D%98%ED%95%B4%ED%82%B9/01.%20%EC%83%81%EC%8B%9C%20%EB%B3%B4%EC%95%88%EC%B7%A8%EC%95%BD%EC%A0%90%20%EC%A0%90%EA%B2%80/01.%201%EC%B0%A8%20%EC%9B%B9%20%EC%B7%A8%EC%95%BD%EC%A0%90%20%EC%A0%90%EA%B2%80/99.%20LOWDATA/3%EC%9B%94/01.%20%EA%B3%BD%EB%B3%91%EC%97%BD/webmail.kosaf.go.kr_bak/injection/6.jpg">
              <a:extLst>
                <a:ext uri="{FF2B5EF4-FFF2-40B4-BE49-F238E27FC236}">
                  <a16:creationId xmlns:a16="http://schemas.microsoft.com/office/drawing/2014/main" id="{E1BE2DB1-99C5-76A0-BD69-3271E4DF40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3441"/>
            <a:stretch/>
          </p:blipFill>
          <p:spPr bwMode="auto">
            <a:xfrm>
              <a:off x="5156570" y="1648679"/>
              <a:ext cx="3413913" cy="1838188"/>
            </a:xfrm>
            <a:prstGeom prst="rect">
              <a:avLst/>
            </a:prstGeom>
            <a:solidFill>
              <a:srgbClr val="000000"/>
            </a:solidFill>
            <a:ln>
              <a:solidFill>
                <a:srgbClr val="404040"/>
              </a:solidFill>
            </a:ln>
          </p:spPr>
        </p:pic>
        <p:sp>
          <p:nvSpPr>
            <p:cNvPr id="227" name="직사각형 773">
              <a:extLst>
                <a:ext uri="{FF2B5EF4-FFF2-40B4-BE49-F238E27FC236}">
                  <a16:creationId xmlns:a16="http://schemas.microsoft.com/office/drawing/2014/main" id="{0D2CA567-7E21-E52C-F75C-3B5B72521955}"/>
                </a:ext>
              </a:extLst>
            </p:cNvPr>
            <p:cNvSpPr/>
            <p:nvPr/>
          </p:nvSpPr>
          <p:spPr>
            <a:xfrm>
              <a:off x="8298053" y="2265416"/>
              <a:ext cx="127671" cy="589903"/>
            </a:xfrm>
            <a:prstGeom prst="rect">
              <a:avLst/>
            </a:prstGeom>
            <a:solidFill>
              <a:srgbClr val="000000"/>
            </a:solidFill>
            <a:ln w="12700" cap="sq" cmpd="sng" algn="ctr">
              <a:solidFill>
                <a:srgbClr val="40404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03" name="폭발 1 41">
            <a:extLst>
              <a:ext uri="{FF2B5EF4-FFF2-40B4-BE49-F238E27FC236}">
                <a16:creationId xmlns:a16="http://schemas.microsoft.com/office/drawing/2014/main" id="{DD4CD871-8A11-C357-5141-0553E7A9C6D6}"/>
              </a:ext>
            </a:extLst>
          </p:cNvPr>
          <p:cNvSpPr/>
          <p:nvPr/>
        </p:nvSpPr>
        <p:spPr bwMode="auto">
          <a:xfrm>
            <a:off x="8303559" y="3563209"/>
            <a:ext cx="455790" cy="240602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182906F7-F671-4865-4A97-2AA21D6D827F}"/>
              </a:ext>
            </a:extLst>
          </p:cNvPr>
          <p:cNvSpPr txBox="1"/>
          <p:nvPr/>
        </p:nvSpPr>
        <p:spPr>
          <a:xfrm>
            <a:off x="7879597" y="3944468"/>
            <a:ext cx="148461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DB table, column, data</a:t>
            </a:r>
            <a:endParaRPr kumimoji="0" lang="ko-KR" altLang="en-US" sz="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377A2E02-3CDE-3C34-BD47-C47B2B1BC3CE}"/>
              </a:ext>
            </a:extLst>
          </p:cNvPr>
          <p:cNvSpPr txBox="1"/>
          <p:nvPr/>
        </p:nvSpPr>
        <p:spPr>
          <a:xfrm>
            <a:off x="6914618" y="3794037"/>
            <a:ext cx="102522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DB</a:t>
            </a: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정보 획득</a:t>
            </a: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D02AB3F8-C9F7-4947-82F8-9435473F05B0}"/>
              </a:ext>
            </a:extLst>
          </p:cNvPr>
          <p:cNvSpPr txBox="1"/>
          <p:nvPr/>
        </p:nvSpPr>
        <p:spPr>
          <a:xfrm>
            <a:off x="7652976" y="4678282"/>
            <a:ext cx="1085554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관리자 권한 획득</a:t>
            </a:r>
          </a:p>
        </p:txBody>
      </p:sp>
      <p:pic>
        <p:nvPicPr>
          <p:cNvPr id="207" name="Picture 3">
            <a:extLst>
              <a:ext uri="{FF2B5EF4-FFF2-40B4-BE49-F238E27FC236}">
                <a16:creationId xmlns:a16="http://schemas.microsoft.com/office/drawing/2014/main" id="{F4CB92E6-D255-14FD-73EF-3EE721C59F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7"/>
          <a:stretch/>
        </p:blipFill>
        <p:spPr bwMode="auto">
          <a:xfrm>
            <a:off x="5830224" y="4651865"/>
            <a:ext cx="1217361" cy="455298"/>
          </a:xfrm>
          <a:prstGeom prst="rect">
            <a:avLst/>
          </a:prstGeom>
          <a:noFill/>
          <a:ln w="9525">
            <a:solidFill>
              <a:srgbClr val="40404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08" name="TextBox 207">
            <a:extLst>
              <a:ext uri="{FF2B5EF4-FFF2-40B4-BE49-F238E27FC236}">
                <a16:creationId xmlns:a16="http://schemas.microsoft.com/office/drawing/2014/main" id="{F58A2723-12CC-80B5-A1A9-A3FCFC745AA1}"/>
              </a:ext>
            </a:extLst>
          </p:cNvPr>
          <p:cNvSpPr txBox="1"/>
          <p:nvPr/>
        </p:nvSpPr>
        <p:spPr>
          <a:xfrm>
            <a:off x="5885860" y="2880496"/>
            <a:ext cx="17714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http://xxx.xxx.xxx.xxx/board/content.asp?key=65% and 1=(select @@VERSION)--</a:t>
            </a:r>
            <a:endParaRPr kumimoji="0" lang="ko-KR" altLang="en-US" sz="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12" name="직선 화살표 연결선 54">
            <a:extLst>
              <a:ext uri="{FF2B5EF4-FFF2-40B4-BE49-F238E27FC236}">
                <a16:creationId xmlns:a16="http://schemas.microsoft.com/office/drawing/2014/main" id="{9EBA75EB-3F6E-EAF6-8E04-6BA57B949B43}"/>
              </a:ext>
            </a:extLst>
          </p:cNvPr>
          <p:cNvCxnSpPr/>
          <p:nvPr/>
        </p:nvCxnSpPr>
        <p:spPr>
          <a:xfrm flipH="1">
            <a:off x="7014784" y="4921530"/>
            <a:ext cx="1792980" cy="1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tailEnd type="none"/>
          </a:ln>
          <a:effectLst/>
        </p:spPr>
      </p:cxnSp>
      <p:cxnSp>
        <p:nvCxnSpPr>
          <p:cNvPr id="213" name="직선 화살표 연결선 55">
            <a:extLst>
              <a:ext uri="{FF2B5EF4-FFF2-40B4-BE49-F238E27FC236}">
                <a16:creationId xmlns:a16="http://schemas.microsoft.com/office/drawing/2014/main" id="{9FB78C25-821B-9A42-35A5-582AAF76DF87}"/>
              </a:ext>
            </a:extLst>
          </p:cNvPr>
          <p:cNvCxnSpPr/>
          <p:nvPr/>
        </p:nvCxnSpPr>
        <p:spPr>
          <a:xfrm>
            <a:off x="5710279" y="5470951"/>
            <a:ext cx="2138953" cy="0"/>
          </a:xfrm>
          <a:prstGeom prst="straightConnector1">
            <a:avLst/>
          </a:prstGeom>
          <a:noFill/>
          <a:ln w="12700" cap="sq" cmpd="sng" algn="ctr">
            <a:solidFill>
              <a:schemeClr val="tx1"/>
            </a:solidFill>
            <a:prstDash val="solid"/>
            <a:headEnd type="none" w="med" len="med"/>
            <a:tailEnd type="triangle" w="med" len="med"/>
          </a:ln>
          <a:effectLst/>
        </p:spPr>
      </p:cxnSp>
      <p:sp>
        <p:nvSpPr>
          <p:cNvPr id="214" name="폭발 1 53">
            <a:extLst>
              <a:ext uri="{FF2B5EF4-FFF2-40B4-BE49-F238E27FC236}">
                <a16:creationId xmlns:a16="http://schemas.microsoft.com/office/drawing/2014/main" id="{2B14EEAE-D29F-EA27-3BE6-453C2DE9F1C8}"/>
              </a:ext>
            </a:extLst>
          </p:cNvPr>
          <p:cNvSpPr/>
          <p:nvPr/>
        </p:nvSpPr>
        <p:spPr bwMode="auto">
          <a:xfrm>
            <a:off x="7539510" y="5323630"/>
            <a:ext cx="415737" cy="271438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5" name="직사각형 57">
            <a:extLst>
              <a:ext uri="{FF2B5EF4-FFF2-40B4-BE49-F238E27FC236}">
                <a16:creationId xmlns:a16="http://schemas.microsoft.com/office/drawing/2014/main" id="{74C77316-C0F5-A477-7E1F-A6BC1F24A320}"/>
              </a:ext>
            </a:extLst>
          </p:cNvPr>
          <p:cNvSpPr/>
          <p:nvPr/>
        </p:nvSpPr>
        <p:spPr>
          <a:xfrm>
            <a:off x="4874117" y="3225808"/>
            <a:ext cx="707235" cy="233789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216" name="직사각형 58">
            <a:extLst>
              <a:ext uri="{FF2B5EF4-FFF2-40B4-BE49-F238E27FC236}">
                <a16:creationId xmlns:a16="http://schemas.microsoft.com/office/drawing/2014/main" id="{425F5B36-4AC6-5338-B622-48A395EEF644}"/>
              </a:ext>
            </a:extLst>
          </p:cNvPr>
          <p:cNvSpPr/>
          <p:nvPr/>
        </p:nvSpPr>
        <p:spPr>
          <a:xfrm>
            <a:off x="4874117" y="5749264"/>
            <a:ext cx="707235" cy="233789"/>
          </a:xfrm>
          <a:prstGeom prst="rect">
            <a:avLst/>
          </a:prstGeom>
          <a:solidFill>
            <a:schemeClr val="bg1"/>
          </a:solidFill>
          <a:ln w="12700" cap="sq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공격자</a:t>
            </a:r>
          </a:p>
        </p:txBody>
      </p:sp>
      <p:sp>
        <p:nvSpPr>
          <p:cNvPr id="225" name="폭발 1 46">
            <a:extLst>
              <a:ext uri="{FF2B5EF4-FFF2-40B4-BE49-F238E27FC236}">
                <a16:creationId xmlns:a16="http://schemas.microsoft.com/office/drawing/2014/main" id="{3D907680-9F6A-F92E-7EAB-1CF78F504691}"/>
              </a:ext>
            </a:extLst>
          </p:cNvPr>
          <p:cNvSpPr/>
          <p:nvPr/>
        </p:nvSpPr>
        <p:spPr bwMode="auto">
          <a:xfrm>
            <a:off x="6925808" y="4795739"/>
            <a:ext cx="523548" cy="232899"/>
          </a:xfrm>
          <a:prstGeom prst="irregularSeal1">
            <a:avLst/>
          </a:prstGeom>
          <a:solidFill>
            <a:srgbClr val="C00000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marL="92075" marR="0" lvl="0" indent="-92075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9AE0E9DB-45A5-3A35-3130-2C1D7C72F64C}"/>
              </a:ext>
            </a:extLst>
          </p:cNvPr>
          <p:cNvSpPr txBox="1"/>
          <p:nvPr/>
        </p:nvSpPr>
        <p:spPr>
          <a:xfrm>
            <a:off x="8024129" y="3105008"/>
            <a:ext cx="108405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 대상 게시판</a:t>
            </a:r>
          </a:p>
        </p:txBody>
      </p:sp>
      <p:grpSp>
        <p:nvGrpSpPr>
          <p:cNvPr id="230" name="Group 99">
            <a:extLst>
              <a:ext uri="{FF2B5EF4-FFF2-40B4-BE49-F238E27FC236}">
                <a16:creationId xmlns:a16="http://schemas.microsoft.com/office/drawing/2014/main" id="{62DAF569-9BE1-9753-3AB7-BDD621B17857}"/>
              </a:ext>
            </a:extLst>
          </p:cNvPr>
          <p:cNvGrpSpPr/>
          <p:nvPr/>
        </p:nvGrpSpPr>
        <p:grpSpPr>
          <a:xfrm>
            <a:off x="2042983" y="1599009"/>
            <a:ext cx="5831862" cy="357482"/>
            <a:chOff x="344488" y="1855985"/>
            <a:chExt cx="2865855" cy="357482"/>
          </a:xfrm>
        </p:grpSpPr>
        <p:cxnSp>
          <p:nvCxnSpPr>
            <p:cNvPr id="231" name="Straight Connector 76">
              <a:extLst>
                <a:ext uri="{FF2B5EF4-FFF2-40B4-BE49-F238E27FC236}">
                  <a16:creationId xmlns:a16="http://schemas.microsoft.com/office/drawing/2014/main" id="{CD395374-5AEE-7F0E-1784-0B6B230215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44488" y="2213467"/>
              <a:ext cx="2865156" cy="0"/>
            </a:xfrm>
            <a:prstGeom prst="line">
              <a:avLst/>
            </a:prstGeom>
            <a:noFill/>
            <a:ln w="9525" algn="ctr">
              <a:solidFill>
                <a:srgbClr val="3333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32" name="Rectangle 10">
              <a:extLst>
                <a:ext uri="{FF2B5EF4-FFF2-40B4-BE49-F238E27FC236}">
                  <a16:creationId xmlns:a16="http://schemas.microsoft.com/office/drawing/2014/main" id="{B3D742E6-351E-BEDE-5FBC-442B97574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948" y="1855985"/>
              <a:ext cx="2863395" cy="34522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marL="158750" indent="-158750" algn="ctr" defTabSz="914400" eaLnBrk="0" hangingPunct="0">
                <a:lnSpc>
                  <a:spcPct val="130000"/>
                </a:lnSpc>
                <a:spcBef>
                  <a:spcPct val="30000"/>
                </a:spcBef>
                <a:buClr>
                  <a:srgbClr val="FFD200"/>
                </a:buClr>
                <a:defRPr/>
              </a:pPr>
              <a:r>
                <a:rPr lang="ko-KR" altLang="en-US" sz="1400" b="1" kern="0" dirty="0">
                  <a:latin typeface="Noto Sans KR" panose="020B0200000000000000" pitchFamily="50" charset="-127"/>
                  <a:ea typeface="Noto Sans KR" panose="020B0200000000000000" pitchFamily="50" charset="-127"/>
                  <a:cs typeface="Arial" pitchFamily="34" charset="0"/>
                </a:rPr>
                <a:t>비인가자 인증 우회 보안 취약점 진단 발견 예시</a:t>
              </a:r>
              <a:endParaRPr lang="en-US" altLang="ko-KR" sz="1400" b="1" kern="0" dirty="0">
                <a:latin typeface="Noto Sans KR" panose="020B0200000000000000" pitchFamily="50" charset="-127"/>
                <a:ea typeface="Noto Sans KR" panose="020B0200000000000000" pitchFamily="50" charset="-127"/>
                <a:cs typeface="Arial" pitchFamily="34" charset="0"/>
              </a:endParaRPr>
            </a:p>
          </p:txBody>
        </p:sp>
      </p:grpSp>
      <p:pic>
        <p:nvPicPr>
          <p:cNvPr id="233" name="그림 232" descr="Hacker ">
            <a:extLst>
              <a:ext uri="{FF2B5EF4-FFF2-40B4-BE49-F238E27FC236}">
                <a16:creationId xmlns:a16="http://schemas.microsoft.com/office/drawing/2014/main" id="{1A64F109-7C9D-6C6E-2746-B949124A7B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933" y="5202457"/>
            <a:ext cx="475602" cy="475602"/>
          </a:xfrm>
          <a:prstGeom prst="rect">
            <a:avLst/>
          </a:prstGeom>
        </p:spPr>
      </p:pic>
      <p:pic>
        <p:nvPicPr>
          <p:cNvPr id="235" name="그림 234" descr="Hacker ">
            <a:extLst>
              <a:ext uri="{FF2B5EF4-FFF2-40B4-BE49-F238E27FC236}">
                <a16:creationId xmlns:a16="http://schemas.microsoft.com/office/drawing/2014/main" id="{2E9C2942-6E74-4DBE-8E59-410F60B0A9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9933" y="2674256"/>
            <a:ext cx="475602" cy="475602"/>
          </a:xfrm>
          <a:prstGeom prst="rect">
            <a:avLst/>
          </a:prstGeom>
        </p:spPr>
      </p:pic>
      <p:sp>
        <p:nvSpPr>
          <p:cNvPr id="237" name="Oval 107">
            <a:extLst>
              <a:ext uri="{FF2B5EF4-FFF2-40B4-BE49-F238E27FC236}">
                <a16:creationId xmlns:a16="http://schemas.microsoft.com/office/drawing/2014/main" id="{A4FD27F0-8F96-A278-30EB-476A66195B3A}"/>
              </a:ext>
            </a:extLst>
          </p:cNvPr>
          <p:cNvSpPr/>
          <p:nvPr/>
        </p:nvSpPr>
        <p:spPr>
          <a:xfrm>
            <a:off x="6240847" y="2685581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9" name="Oval 109">
            <a:extLst>
              <a:ext uri="{FF2B5EF4-FFF2-40B4-BE49-F238E27FC236}">
                <a16:creationId xmlns:a16="http://schemas.microsoft.com/office/drawing/2014/main" id="{A42D6112-E8F2-19C6-8799-8AFA78C1F694}"/>
              </a:ext>
            </a:extLst>
          </p:cNvPr>
          <p:cNvSpPr/>
          <p:nvPr/>
        </p:nvSpPr>
        <p:spPr>
          <a:xfrm>
            <a:off x="6794950" y="3834514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2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41" name="Oval 111">
            <a:extLst>
              <a:ext uri="{FF2B5EF4-FFF2-40B4-BE49-F238E27FC236}">
                <a16:creationId xmlns:a16="http://schemas.microsoft.com/office/drawing/2014/main" id="{59E32869-141F-3E85-66C7-71E2DE6B9E5D}"/>
              </a:ext>
            </a:extLst>
          </p:cNvPr>
          <p:cNvSpPr/>
          <p:nvPr/>
        </p:nvSpPr>
        <p:spPr>
          <a:xfrm>
            <a:off x="6116136" y="5257457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88" name="Oval 111">
            <a:extLst>
              <a:ext uri="{FF2B5EF4-FFF2-40B4-BE49-F238E27FC236}">
                <a16:creationId xmlns:a16="http://schemas.microsoft.com/office/drawing/2014/main" id="{F0A65596-7212-193A-BC95-FA395EED94AD}"/>
              </a:ext>
            </a:extLst>
          </p:cNvPr>
          <p:cNvSpPr/>
          <p:nvPr/>
        </p:nvSpPr>
        <p:spPr>
          <a:xfrm>
            <a:off x="7521365" y="4706663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S417">
            <a:extLst>
              <a:ext uri="{FF2B5EF4-FFF2-40B4-BE49-F238E27FC236}">
                <a16:creationId xmlns:a16="http://schemas.microsoft.com/office/drawing/2014/main" id="{05275306-A561-DC97-51BF-95E58812490A}"/>
              </a:ext>
            </a:extLst>
          </p:cNvPr>
          <p:cNvSpPr/>
          <p:nvPr/>
        </p:nvSpPr>
        <p:spPr>
          <a:xfrm>
            <a:off x="739775" y="440843"/>
            <a:ext cx="34606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rgbClr val="00438E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r>
              <a:rPr lang="en-US" altLang="ko-KR" sz="1600" b="1" dirty="0">
                <a:solidFill>
                  <a:srgbClr val="2E2E38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3</a:t>
            </a:r>
            <a:endParaRPr lang="ko-KR" altLang="en-US" sz="1600" b="1" dirty="0">
              <a:solidFill>
                <a:srgbClr val="2E2E38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1C62516B-1A08-E067-6139-9EA31693650C}"/>
              </a:ext>
            </a:extLst>
          </p:cNvPr>
          <p:cNvCxnSpPr/>
          <p:nvPr/>
        </p:nvCxnSpPr>
        <p:spPr>
          <a:xfrm>
            <a:off x="4756434" y="2438400"/>
            <a:ext cx="985671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EF801B4F-6F3C-2BEC-C917-E76AB28A18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8143" y="3773498"/>
            <a:ext cx="312115" cy="31211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F45417-85E9-62C7-9952-104373A2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2465" y="3863344"/>
            <a:ext cx="312115" cy="312115"/>
          </a:xfrm>
          <a:prstGeom prst="rect">
            <a:avLst/>
          </a:prstGeom>
          <a:solidFill>
            <a:srgbClr val="EEF2F6"/>
          </a:solidFill>
        </p:spPr>
      </p:pic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E7750382-621B-04B6-EDA8-51A27C53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32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59D69B-D364-B399-21FB-A50F7026F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4AD6873-AB47-7452-BD6A-DC3C892709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365879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III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기대 효과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2269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FF805-E1D1-C0A8-7666-C776968EF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0EC2D38E-0D91-613B-8C05-95E8CC5A2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ko-KR" dirty="0"/>
              <a:t>프로젝트가 가져올</a:t>
            </a:r>
            <a:r>
              <a:rPr lang="en-US" altLang="ko-KR" dirty="0"/>
              <a:t> JW </a:t>
            </a:r>
            <a:r>
              <a:rPr lang="ko-KR" altLang="en-US" dirty="0"/>
              <a:t>보안의</a:t>
            </a:r>
            <a:r>
              <a:rPr lang="ko-KR" altLang="ko-KR" dirty="0"/>
              <a:t> 변화</a:t>
            </a:r>
            <a:endParaRPr lang="ko-KR" altLang="en-US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060DCF-8137-B678-4BB0-B2B4DF33F3A8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영역별 핵심 산출물 기반 보안 관리체계를 정교화하고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실행 가능한 개선을 통해 경영 리스크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최소화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슬라이드 번호 개체 틀 11">
            <a:extLst>
              <a:ext uri="{FF2B5EF4-FFF2-40B4-BE49-F238E27FC236}">
                <a16:creationId xmlns:a16="http://schemas.microsoft.com/office/drawing/2014/main" id="{ED83E78E-5E94-3CA1-DEB0-9EA5D110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직사각형 17">
            <a:extLst>
              <a:ext uri="{FF2B5EF4-FFF2-40B4-BE49-F238E27FC236}">
                <a16:creationId xmlns:a16="http://schemas.microsoft.com/office/drawing/2014/main" id="{15E86A3B-1625-45D5-1BE9-09AC62C27930}"/>
              </a:ext>
            </a:extLst>
          </p:cNvPr>
          <p:cNvSpPr/>
          <p:nvPr/>
        </p:nvSpPr>
        <p:spPr>
          <a:xfrm>
            <a:off x="650411" y="2030930"/>
            <a:ext cx="3266836" cy="3953260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Rectangle 99">
            <a:extLst>
              <a:ext uri="{FF2B5EF4-FFF2-40B4-BE49-F238E27FC236}">
                <a16:creationId xmlns:a16="http://schemas.microsoft.com/office/drawing/2014/main" id="{65D1E7CD-4356-B950-F653-F17A2335343C}"/>
              </a:ext>
            </a:extLst>
          </p:cNvPr>
          <p:cNvSpPr/>
          <p:nvPr/>
        </p:nvSpPr>
        <p:spPr>
          <a:xfrm>
            <a:off x="4369321" y="1494533"/>
            <a:ext cx="4927096" cy="37001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기대 효과</a:t>
            </a:r>
          </a:p>
        </p:txBody>
      </p:sp>
      <p:sp>
        <p:nvSpPr>
          <p:cNvPr id="20" name="Rectangle 132">
            <a:extLst>
              <a:ext uri="{FF2B5EF4-FFF2-40B4-BE49-F238E27FC236}">
                <a16:creationId xmlns:a16="http://schemas.microsoft.com/office/drawing/2014/main" id="{8AC9902F-EDF6-E632-D2BB-392D1AC54838}"/>
              </a:ext>
            </a:extLst>
          </p:cNvPr>
          <p:cNvSpPr/>
          <p:nvPr/>
        </p:nvSpPr>
        <p:spPr>
          <a:xfrm>
            <a:off x="4433365" y="1882408"/>
            <a:ext cx="4863052" cy="48356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“</a:t>
            </a:r>
            <a:r>
              <a:rPr kumimoji="0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관리체계의 실행력과 미래 대응 역량 동시 확보</a:t>
            </a: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”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D8CDAF-AFB6-1F58-7DBB-6271D20D6DEF}"/>
              </a:ext>
            </a:extLst>
          </p:cNvPr>
          <p:cNvSpPr txBox="1"/>
          <p:nvPr/>
        </p:nvSpPr>
        <p:spPr>
          <a:xfrm>
            <a:off x="4405730" y="2413866"/>
            <a:ext cx="1379398" cy="10488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72000" rIns="36000" anchor="ctr">
            <a:no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defRPr sz="1200" b="1">
                <a:latin typeface="+mn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보호</a:t>
            </a:r>
          </a:p>
        </p:txBody>
      </p:sp>
      <p:sp>
        <p:nvSpPr>
          <p:cNvPr id="22" name="Rectangle 145">
            <a:extLst>
              <a:ext uri="{FF2B5EF4-FFF2-40B4-BE49-F238E27FC236}">
                <a16:creationId xmlns:a16="http://schemas.microsoft.com/office/drawing/2014/main" id="{D2B6ECB0-65D3-A3F1-38A7-3D9BC5569FC1}"/>
              </a:ext>
            </a:extLst>
          </p:cNvPr>
          <p:cNvSpPr/>
          <p:nvPr/>
        </p:nvSpPr>
        <p:spPr>
          <a:xfrm>
            <a:off x="5869173" y="2416679"/>
            <a:ext cx="3442756" cy="1042056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유출 가능성 최소화 및 법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&amp;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규제 대응력 강화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고객 신뢰와 기업 평판 보호를 통한 사업 신뢰도 확보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B47876-C8F4-22C5-4B71-C08AFA567C57}"/>
              </a:ext>
            </a:extLst>
          </p:cNvPr>
          <p:cNvSpPr txBox="1"/>
          <p:nvPr/>
        </p:nvSpPr>
        <p:spPr>
          <a:xfrm>
            <a:off x="4405730" y="3669347"/>
            <a:ext cx="1379398" cy="10488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72000" rIns="36000" anchor="ctr">
            <a:no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defRPr sz="1200" b="1">
                <a:latin typeface="+mn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생산 연속성 확보</a:t>
            </a:r>
          </a:p>
        </p:txBody>
      </p:sp>
      <p:sp>
        <p:nvSpPr>
          <p:cNvPr id="24" name="Rectangle 147">
            <a:extLst>
              <a:ext uri="{FF2B5EF4-FFF2-40B4-BE49-F238E27FC236}">
                <a16:creationId xmlns:a16="http://schemas.microsoft.com/office/drawing/2014/main" id="{C63091F5-8229-BD46-EBCA-22C89E193157}"/>
              </a:ext>
            </a:extLst>
          </p:cNvPr>
          <p:cNvSpPr/>
          <p:nvPr/>
        </p:nvSpPr>
        <p:spPr>
          <a:xfrm>
            <a:off x="5869173" y="3671040"/>
            <a:ext cx="3442756" cy="1057669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Cyber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공격에 따른 생산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품질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물류 중단 리스크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최소화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신속 탐지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대응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복구를 통한 안정적인 공급 기반 확보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99602A-CCA1-7E49-30BB-482DE46AC9B0}"/>
              </a:ext>
            </a:extLst>
          </p:cNvPr>
          <p:cNvSpPr txBox="1"/>
          <p:nvPr/>
        </p:nvSpPr>
        <p:spPr>
          <a:xfrm>
            <a:off x="4405730" y="4937062"/>
            <a:ext cx="1379398" cy="1048822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txBody>
          <a:bodyPr wrap="square" lIns="72000" rIns="36000" anchor="ctr">
            <a:noAutofit/>
          </a:bodyPr>
          <a:lstStyle>
            <a:defPPr>
              <a:defRPr lang="en-US"/>
            </a:defPPr>
            <a:lvl1pPr algn="ctr">
              <a:lnSpc>
                <a:spcPct val="130000"/>
              </a:lnSpc>
              <a:defRPr sz="1200" b="1">
                <a:latin typeface="+mn-ea"/>
              </a:defRPr>
            </a:lvl1pPr>
          </a:lstStyle>
          <a:p>
            <a:pPr marL="0" marR="0" lvl="0" indent="0" algn="ctr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연구</a:t>
            </a:r>
            <a:r>
              <a:rPr kumimoji="0" lang="en-US" altLang="ko-KR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데이터 보호</a:t>
            </a:r>
          </a:p>
        </p:txBody>
      </p:sp>
      <p:sp>
        <p:nvSpPr>
          <p:cNvPr id="26" name="Rectangle 149">
            <a:extLst>
              <a:ext uri="{FF2B5EF4-FFF2-40B4-BE49-F238E27FC236}">
                <a16:creationId xmlns:a16="http://schemas.microsoft.com/office/drawing/2014/main" id="{2103D530-F503-9230-2CD4-8E30E009FF41}"/>
              </a:ext>
            </a:extLst>
          </p:cNvPr>
          <p:cNvSpPr/>
          <p:nvPr/>
        </p:nvSpPr>
        <p:spPr>
          <a:xfrm>
            <a:off x="5869173" y="4914287"/>
            <a:ext cx="3442756" cy="1069903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171450" marR="0" lvl="0" indent="-171450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연구데이터 유출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훼손 방지</a:t>
            </a:r>
            <a:r>
              <a:rPr kumimoji="0" lang="en-US" altLang="ko-KR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신약개발 경쟁력 보호</a:t>
            </a:r>
            <a:endParaRPr kumimoji="0" lang="en-US" altLang="ko-KR" sz="11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lvl="0" indent="-171450" defTabSz="9144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100" kern="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AI·Cloud</a:t>
            </a:r>
            <a:r>
              <a:rPr lang="en-US" altLang="ko-KR" sz="1100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kumimoji="0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의 안전한 활용을 통한 미래 사업가치 및 성장동력 확보</a:t>
            </a:r>
          </a:p>
        </p:txBody>
      </p:sp>
      <p:cxnSp>
        <p:nvCxnSpPr>
          <p:cNvPr id="27" name="Straight Connector 150">
            <a:extLst>
              <a:ext uri="{FF2B5EF4-FFF2-40B4-BE49-F238E27FC236}">
                <a16:creationId xmlns:a16="http://schemas.microsoft.com/office/drawing/2014/main" id="{1C96DA38-5464-3322-E433-2E62E2ED2164}"/>
              </a:ext>
            </a:extLst>
          </p:cNvPr>
          <p:cNvCxnSpPr>
            <a:cxnSpLocks/>
          </p:cNvCxnSpPr>
          <p:nvPr/>
        </p:nvCxnSpPr>
        <p:spPr>
          <a:xfrm>
            <a:off x="4401343" y="3566018"/>
            <a:ext cx="4894075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</p:cxnSp>
      <p:cxnSp>
        <p:nvCxnSpPr>
          <p:cNvPr id="28" name="Straight Connector 151">
            <a:extLst>
              <a:ext uri="{FF2B5EF4-FFF2-40B4-BE49-F238E27FC236}">
                <a16:creationId xmlns:a16="http://schemas.microsoft.com/office/drawing/2014/main" id="{6791EB0B-38B2-76EC-EA7C-FD0437DBB268}"/>
              </a:ext>
            </a:extLst>
          </p:cNvPr>
          <p:cNvCxnSpPr>
            <a:cxnSpLocks/>
          </p:cNvCxnSpPr>
          <p:nvPr/>
        </p:nvCxnSpPr>
        <p:spPr>
          <a:xfrm>
            <a:off x="4401343" y="4821499"/>
            <a:ext cx="4894075" cy="0"/>
          </a:xfrm>
          <a:prstGeom prst="line">
            <a:avLst/>
          </a:prstGeom>
          <a:noFill/>
          <a:ln w="9525" cap="flat" cmpd="sng" algn="ctr">
            <a:solidFill>
              <a:sysClr val="window" lastClr="FFFFFF">
                <a:lumMod val="75000"/>
              </a:sysClr>
            </a:solidFill>
            <a:prstDash val="dash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FAB3C0-FB25-CD26-1EF1-E8E816222A79}"/>
              </a:ext>
            </a:extLst>
          </p:cNvPr>
          <p:cNvSpPr txBox="1"/>
          <p:nvPr/>
        </p:nvSpPr>
        <p:spPr>
          <a:xfrm>
            <a:off x="650411" y="1494533"/>
            <a:ext cx="3266837" cy="370019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 lIns="46800" rIns="46800" rtlCol="0" anchor="ctr">
            <a:noAutofit/>
          </a:bodyPr>
          <a:lstStyle/>
          <a:p>
            <a:pPr algn="ctr"/>
            <a:r>
              <a:rPr lang="en-US" altLang="ko-KR" sz="16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Next Step</a:t>
            </a:r>
            <a:endParaRPr lang="ko-KR" altLang="en-US" sz="1600" b="1" dirty="0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20D0EA3-6171-9700-6628-3134700E7BF9}"/>
              </a:ext>
            </a:extLst>
          </p:cNvPr>
          <p:cNvSpPr txBox="1"/>
          <p:nvPr/>
        </p:nvSpPr>
        <p:spPr>
          <a:xfrm>
            <a:off x="654832" y="2188615"/>
            <a:ext cx="3211433" cy="34347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ko-KR" altLang="ko-KR" sz="12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핵심 보안과제 우선 투자</a:t>
            </a:r>
            <a:endParaRPr lang="ko-KR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경영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리스크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가 높은 핵심 개선과제 중심 투자</a:t>
            </a:r>
          </a:p>
          <a:p>
            <a:pPr marL="324000" indent="-171450" fontAlgn="t">
              <a:lnSpc>
                <a:spcPct val="160000"/>
              </a:lnSpc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AI·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미래 보안환경 고려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0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선제적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투자 추진</a:t>
            </a:r>
            <a:b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ko-KR" sz="11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ko-KR" altLang="ko-KR" sz="12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전사 차원의 실행체계 구축</a:t>
            </a:r>
            <a:endParaRPr lang="ko-KR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사가 참여하는 그룹 차원 보안 추진체계 정립</a:t>
            </a:r>
          </a:p>
          <a:p>
            <a:pPr marL="324000" indent="-171450" fontAlgn="t">
              <a:lnSpc>
                <a:spcPct val="160000"/>
              </a:lnSpc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과제별 명확한 </a:t>
            </a:r>
            <a:r>
              <a:rPr lang="ko-KR" altLang="ko-KR" sz="10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R&amp;R과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이행계획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추진</a:t>
            </a:r>
            <a:b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ko-KR" altLang="ko-KR" sz="1200" b="1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지속적인 이행관리 및 고도화</a:t>
            </a:r>
            <a:endParaRPr lang="ko-KR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마스터플랜 기반 단계별 성과 점검</a:t>
            </a:r>
            <a:r>
              <a:rPr lang="en-US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및 관리</a:t>
            </a:r>
            <a:endParaRPr lang="ko-KR" altLang="ko-KR" sz="10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324000" indent="-171450" fontAlgn="t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변화하는 위협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 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사업환경 반영</a:t>
            </a:r>
            <a:r>
              <a:rPr lang="ko-KR" altLang="en-US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한</a:t>
            </a:r>
            <a:r>
              <a:rPr lang="ko-KR" altLang="ko-KR" sz="10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보안체계 고도화</a:t>
            </a:r>
          </a:p>
        </p:txBody>
      </p: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06C92C51-F6EE-E017-513F-ACECAE27AAF7}"/>
              </a:ext>
            </a:extLst>
          </p:cNvPr>
          <p:cNvCxnSpPr>
            <a:cxnSpLocks/>
          </p:cNvCxnSpPr>
          <p:nvPr/>
        </p:nvCxnSpPr>
        <p:spPr>
          <a:xfrm>
            <a:off x="4158689" y="2030930"/>
            <a:ext cx="0" cy="395326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198F6D0-342F-D6C1-9BBF-9FA4AD9F665F}"/>
              </a:ext>
            </a:extLst>
          </p:cNvPr>
          <p:cNvGrpSpPr/>
          <p:nvPr/>
        </p:nvGrpSpPr>
        <p:grpSpPr>
          <a:xfrm>
            <a:off x="4032592" y="3883735"/>
            <a:ext cx="252194" cy="247650"/>
            <a:chOff x="4180514" y="3743561"/>
            <a:chExt cx="252194" cy="24765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36" name="순서도: 연결자 35">
              <a:extLst>
                <a:ext uri="{FF2B5EF4-FFF2-40B4-BE49-F238E27FC236}">
                  <a16:creationId xmlns:a16="http://schemas.microsoft.com/office/drawing/2014/main" id="{F612A0B2-2DCD-9256-B8BF-39B62F6E5FEE}"/>
                </a:ext>
              </a:extLst>
            </p:cNvPr>
            <p:cNvSpPr/>
            <p:nvPr/>
          </p:nvSpPr>
          <p:spPr>
            <a:xfrm>
              <a:off x="4180514" y="3743561"/>
              <a:ext cx="252194" cy="247650"/>
            </a:xfrm>
            <a:prstGeom prst="flowChartConnector">
              <a:avLst/>
            </a:prstGeom>
            <a:grpFill/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화살표: 갈매기형 수장 36">
              <a:extLst>
                <a:ext uri="{FF2B5EF4-FFF2-40B4-BE49-F238E27FC236}">
                  <a16:creationId xmlns:a16="http://schemas.microsoft.com/office/drawing/2014/main" id="{774245B8-C5F3-ABBB-BE51-E18F17E0E4B1}"/>
                </a:ext>
              </a:extLst>
            </p:cNvPr>
            <p:cNvSpPr/>
            <p:nvPr/>
          </p:nvSpPr>
          <p:spPr>
            <a:xfrm>
              <a:off x="4290171" y="3806533"/>
              <a:ext cx="71481" cy="121705"/>
            </a:xfrm>
            <a:prstGeom prst="chevron">
              <a:avLst>
                <a:gd name="adj" fmla="val 100000"/>
              </a:avLst>
            </a:prstGeom>
            <a:grp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74525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E82E7-E648-6F08-55B5-E2AAE46A2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6AA088F-5857-9889-ED83-7B8295D1B8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3704091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IV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일정 및 조직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1046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907B3-25E8-8206-6299-369267AA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14BD7286-1EC1-8E05-E042-2833163CB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수행일정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0200D-1A1F-DFF2-3D44-6E424FC596DB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본 사업은 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개월 여정의 종합 컨설팅 사업으로 진단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 개선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및</a:t>
            </a:r>
            <a: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마스터플랜 수립을 병행 수행</a:t>
            </a:r>
          </a:p>
        </p:txBody>
      </p:sp>
      <p:graphicFrame>
        <p:nvGraphicFramePr>
          <p:cNvPr id="27" name="표 3">
            <a:extLst>
              <a:ext uri="{FF2B5EF4-FFF2-40B4-BE49-F238E27FC236}">
                <a16:creationId xmlns:a16="http://schemas.microsoft.com/office/drawing/2014/main" id="{5A5D6433-DEF1-8201-FFA1-E4E00E0F90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479349"/>
              </p:ext>
            </p:extLst>
          </p:nvPr>
        </p:nvGraphicFramePr>
        <p:xfrm>
          <a:off x="428625" y="1538560"/>
          <a:ext cx="8972836" cy="4766745"/>
        </p:xfrm>
        <a:graphic>
          <a:graphicData uri="http://schemas.openxmlformats.org/drawingml/2006/table">
            <a:tbl>
              <a:tblPr/>
              <a:tblGrid>
                <a:gridCol w="1120352">
                  <a:extLst>
                    <a:ext uri="{9D8B030D-6E8A-4147-A177-3AD203B41FA5}">
                      <a16:colId xmlns:a16="http://schemas.microsoft.com/office/drawing/2014/main" val="620465970"/>
                    </a:ext>
                  </a:extLst>
                </a:gridCol>
                <a:gridCol w="2516996">
                  <a:extLst>
                    <a:ext uri="{9D8B030D-6E8A-4147-A177-3AD203B41FA5}">
                      <a16:colId xmlns:a16="http://schemas.microsoft.com/office/drawing/2014/main" val="1966432908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56327880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251331029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03729520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11555925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27917062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072638697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955560791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877247673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673829450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903045640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885919873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667825209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3005059103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89112693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2824291195"/>
                    </a:ext>
                  </a:extLst>
                </a:gridCol>
                <a:gridCol w="333468">
                  <a:extLst>
                    <a:ext uri="{9D8B030D-6E8A-4147-A177-3AD203B41FA5}">
                      <a16:colId xmlns:a16="http://schemas.microsoft.com/office/drawing/2014/main" val="17064623"/>
                    </a:ext>
                  </a:extLst>
                </a:gridCol>
              </a:tblGrid>
              <a:tr h="31808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40" b="1" dirty="0" err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구분</a:t>
                      </a:r>
                      <a:endParaRPr sz="940" b="1" dirty="0">
                        <a:solidFill>
                          <a:srgbClr val="FFFFF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40" b="1" dirty="0" err="1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수행업무</a:t>
                      </a:r>
                      <a:endParaRPr sz="940" b="1" dirty="0">
                        <a:solidFill>
                          <a:srgbClr val="FFFFFF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M1</a:t>
                      </a: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M2</a:t>
                      </a:r>
                    </a:p>
                  </a:txBody>
                  <a:tcPr marL="47625" marR="38100" marT="19050" marB="19050" anchor="ctr">
                    <a:lnL w="762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M3</a:t>
                      </a:r>
                    </a:p>
                  </a:txBody>
                  <a:tcPr marL="47625" marR="38100" marT="19050" marB="19050" anchor="ctr">
                    <a:lnL w="762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938" b="1" dirty="0">
                          <a:solidFill>
                            <a:srgbClr val="FFFFFF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M4</a:t>
                      </a:r>
                    </a:p>
                  </a:txBody>
                  <a:tcPr marL="47625" marR="38100" marT="19050" marB="19050" anchor="ctr">
                    <a:lnL w="7620" cap="flat" cmpd="sng" algn="ctr">
                      <a:solidFill>
                        <a:srgbClr val="B7B7B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7B7B7"/>
                      </a:solidFill>
                      <a:prstDash val="solid"/>
                    </a:lnR>
                    <a:lnT w="7620">
                      <a:solidFill>
                        <a:srgbClr val="B7B7B7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8B9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2573235"/>
                  </a:ext>
                </a:extLst>
              </a:tr>
              <a:tr h="23234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59595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59595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W2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W3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W4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W5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W6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W7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W8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W9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W10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W11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W12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W13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W14</a:t>
                      </a:r>
                    </a:p>
                  </a:txBody>
                  <a:tcPr marL="4763" marR="4763" marT="9525" marB="9525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W15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690" b="1" dirty="0">
                          <a:solidFill>
                            <a:srgbClr val="595959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Arial"/>
                        </a:rPr>
                        <a:t>W16</a:t>
                      </a:r>
                    </a:p>
                  </a:txBody>
                  <a:tcPr marL="4763" marR="4763" marT="9525" marB="9525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18890"/>
                  </a:ext>
                </a:extLst>
              </a:tr>
              <a:tr h="3279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추진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준비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착수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계획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0122401"/>
                  </a:ext>
                </a:extLst>
              </a:tr>
              <a:tr h="32796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환경·준거성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분석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내·외부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보안환경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위협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동향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분석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591205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현황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분석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법적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준거성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검토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333760"/>
                  </a:ext>
                </a:extLst>
              </a:tr>
              <a:tr h="306736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진단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관리·물리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성숙도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진단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5355627"/>
                  </a:ext>
                </a:extLst>
              </a:tr>
              <a:tr h="30673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기술 취약점 진단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(Infra)</a:t>
                      </a:r>
                      <a:endParaRPr lang="ko-KR" altLang="en-US"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9390775"/>
                  </a:ext>
                </a:extLst>
              </a:tr>
              <a:tr h="3067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모의해킹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</a:t>
                      </a:r>
                      <a:r>
                        <a:rPr lang="en-US" altLang="ko-KR"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Web·App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)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849565"/>
                  </a:ext>
                </a:extLst>
              </a:tr>
              <a:tr h="32796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위험평가·개선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보안위험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평가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우선순위화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720660"/>
                  </a:ext>
                </a:extLst>
              </a:tr>
              <a:tr h="306736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취약점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보호대책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478734"/>
                  </a:ext>
                </a:extLst>
              </a:tr>
              <a:tr h="327967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정책·로드맵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정책·지침·매뉴얼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제·개정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093586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ISMS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인증심사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대비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개선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로드맵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1670796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정보보안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중장기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마스터플랜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및 </a:t>
                      </a:r>
                      <a:br>
                        <a:rPr 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</a:b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실행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로드맵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수립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1833131"/>
                  </a:ext>
                </a:extLst>
              </a:tr>
              <a:tr h="32796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ctr"/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안정화·인증</a:t>
                      </a:r>
                      <a:r>
                        <a:rPr sz="1000" b="1" dirty="0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333333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지원</a:t>
                      </a:r>
                      <a:endParaRPr sz="1000" b="1" dirty="0">
                        <a:solidFill>
                          <a:srgbClr val="333333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이행조치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점검</a:t>
                      </a:r>
                      <a:r>
                        <a:rPr 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기술 진단 및 </a:t>
                      </a:r>
                      <a:r>
                        <a:rPr lang="ko-KR" altLang="en-US"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모의해킹</a:t>
                      </a:r>
                      <a:r>
                        <a:rPr lang="en-US" altLang="ko-KR"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)</a:t>
                      </a:r>
                      <a:endParaRPr sz="1000" dirty="0">
                        <a:solidFill>
                          <a:srgbClr val="222222"/>
                        </a:solidFill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맑은 고딕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E2841">
                        <a:lumMod val="10000"/>
                        <a:lumOff val="9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706395"/>
                  </a:ext>
                </a:extLst>
              </a:tr>
              <a:tr h="327967">
                <a:tc vMerge="1"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7625" marR="38100" marT="19050" marB="190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pPr algn="l" latinLnBrk="0"/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ISMS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인증심사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대비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 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지원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(</a:t>
                      </a:r>
                      <a:r>
                        <a:rPr sz="1000" dirty="0" err="1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비상주</a:t>
                      </a:r>
                      <a:r>
                        <a:rPr sz="1000" dirty="0">
                          <a:solidFill>
                            <a:srgbClr val="222222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맑은 고딕"/>
                        </a:rPr>
                        <a:t>)</a:t>
                      </a: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12700" cmpd="sng">
                      <a:solidFill>
                        <a:prstClr val="black"/>
                      </a:solidFill>
                      <a:prstDash val="solid"/>
                    </a:lnR>
                    <a:lnT w="12700" cmpd="sng">
                      <a:solidFill>
                        <a:prstClr val="black"/>
                      </a:solidFill>
                      <a:prstDash val="solid"/>
                    </a:lnT>
                    <a:lnB w="12700" cmpd="sng">
                      <a:solidFill>
                        <a:prstClr val="black"/>
                      </a:solidFill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12700" cmpd="sng">
                      <a:solidFill>
                        <a:prstClr val="black"/>
                      </a:solidFill>
                      <a:prstDash val="soli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Aptos" panose="02110004020202020204"/>
                        </a:defRPr>
                      </a:lvl9pPr>
                    </a:lstStyle>
                    <a:p>
                      <a:endParaRPr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marL="47625" marR="38100" marT="19050" marB="19050" anchor="ctr">
                    <a:lnL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475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237A2AE4-A184-CF48-5E7E-EA9DF9C9EDD6}"/>
              </a:ext>
            </a:extLst>
          </p:cNvPr>
          <p:cNvSpPr txBox="1"/>
          <p:nvPr/>
        </p:nvSpPr>
        <p:spPr>
          <a:xfrm>
            <a:off x="5368723" y="6034820"/>
            <a:ext cx="2874505" cy="24622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종료 후 인증 자문 및 필요 문서 보완 지원</a:t>
            </a:r>
          </a:p>
        </p:txBody>
      </p:sp>
      <p:sp>
        <p:nvSpPr>
          <p:cNvPr id="29" name="Text Box 149">
            <a:extLst>
              <a:ext uri="{FF2B5EF4-FFF2-40B4-BE49-F238E27FC236}">
                <a16:creationId xmlns:a16="http://schemas.microsoft.com/office/drawing/2014/main" id="{233E58AC-FAF3-F42B-B0D1-67EABFDCEA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7761" y="1317080"/>
            <a:ext cx="815015" cy="1370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/>
          <a:lstStyle>
            <a:defPPr>
              <a:defRPr lang="en-US"/>
            </a:defPPr>
            <a:lvl1pPr algn="ctr" defTabSz="806684" latinLnBrk="1">
              <a:defRPr kumimoji="1" sz="1200" b="1" i="0">
                <a:solidFill>
                  <a:prstClr val="black"/>
                </a:solidFill>
                <a:latin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algn="ctr" defTabSz="806684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최종보고</a:t>
            </a:r>
            <a:endParaRPr kumimoji="1" lang="en-US" altLang="ko-KR" sz="12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Isosceles Triangle 44">
            <a:extLst>
              <a:ext uri="{FF2B5EF4-FFF2-40B4-BE49-F238E27FC236}">
                <a16:creationId xmlns:a16="http://schemas.microsoft.com/office/drawing/2014/main" id="{9E52D140-4F3F-0B7B-52F9-1E9A46B5BA3F}"/>
              </a:ext>
            </a:extLst>
          </p:cNvPr>
          <p:cNvSpPr/>
          <p:nvPr/>
        </p:nvSpPr>
        <p:spPr bwMode="auto">
          <a:xfrm flipV="1">
            <a:off x="9301406" y="1488684"/>
            <a:ext cx="167726" cy="13701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75" tIns="31758" rIns="63516" bIns="3175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806684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764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" name="Speech Bubble: Rectangle with Corners Rounded 43">
            <a:extLst>
              <a:ext uri="{FF2B5EF4-FFF2-40B4-BE49-F238E27FC236}">
                <a16:creationId xmlns:a16="http://schemas.microsoft.com/office/drawing/2014/main" id="{6BC74481-0FF1-7F48-2A9E-A196077387CD}"/>
              </a:ext>
            </a:extLst>
          </p:cNvPr>
          <p:cNvSpPr/>
          <p:nvPr/>
        </p:nvSpPr>
        <p:spPr>
          <a:xfrm>
            <a:off x="4851918" y="5626359"/>
            <a:ext cx="3039228" cy="376857"/>
          </a:xfrm>
          <a:prstGeom prst="wedgeRoundRectCallout">
            <a:avLst>
              <a:gd name="adj1" fmla="val 55121"/>
              <a:gd name="adj2" fmla="val 20341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 가능한 보안 로드맵 수립</a:t>
            </a:r>
          </a:p>
        </p:txBody>
      </p:sp>
      <p:sp>
        <p:nvSpPr>
          <p:cNvPr id="39" name="Speech Bubble: Rectangle with Corners Rounded 38">
            <a:extLst>
              <a:ext uri="{FF2B5EF4-FFF2-40B4-BE49-F238E27FC236}">
                <a16:creationId xmlns:a16="http://schemas.microsoft.com/office/drawing/2014/main" id="{1AF4B013-C465-12AC-4E94-721AA65C635B}"/>
              </a:ext>
            </a:extLst>
          </p:cNvPr>
          <p:cNvSpPr/>
          <p:nvPr/>
        </p:nvSpPr>
        <p:spPr>
          <a:xfrm>
            <a:off x="6196584" y="2180388"/>
            <a:ext cx="1572521" cy="675000"/>
          </a:xfrm>
          <a:prstGeom prst="wedgeRoundRectCallout">
            <a:avLst>
              <a:gd name="adj1" fmla="val -54219"/>
              <a:gd name="adj2" fmla="val 19297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심층 정보보호 수준 진단</a:t>
            </a:r>
          </a:p>
        </p:txBody>
      </p:sp>
      <p:sp>
        <p:nvSpPr>
          <p:cNvPr id="41" name="Speech Bubble: Rectangle with Corners Rounded 5">
            <a:extLst>
              <a:ext uri="{FF2B5EF4-FFF2-40B4-BE49-F238E27FC236}">
                <a16:creationId xmlns:a16="http://schemas.microsoft.com/office/drawing/2014/main" id="{FBFF63C8-ECC7-DD8E-A04F-2214E8C33C4C}"/>
              </a:ext>
            </a:extLst>
          </p:cNvPr>
          <p:cNvSpPr/>
          <p:nvPr/>
        </p:nvSpPr>
        <p:spPr>
          <a:xfrm>
            <a:off x="7572933" y="3348489"/>
            <a:ext cx="1318035" cy="573443"/>
          </a:xfrm>
          <a:prstGeom prst="wedgeRoundRectCallout">
            <a:avLst>
              <a:gd name="adj1" fmla="val -56053"/>
              <a:gd name="adj2" fmla="val 23639"/>
              <a:gd name="adj3" fmla="val 16667"/>
            </a:avLst>
          </a:prstGeom>
          <a:solidFill>
            <a:sysClr val="window" lastClr="FFFFFF"/>
          </a:solidFill>
          <a:ln w="9525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400"/>
            <a:r>
              <a:rPr lang="ko-KR" altLang="en-US" sz="1200" b="1" kern="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실제 공격 경로 취약점 검증</a:t>
            </a:r>
          </a:p>
        </p:txBody>
      </p:sp>
      <p:sp>
        <p:nvSpPr>
          <p:cNvPr id="2" name="Text Box 149">
            <a:extLst>
              <a:ext uri="{FF2B5EF4-FFF2-40B4-BE49-F238E27FC236}">
                <a16:creationId xmlns:a16="http://schemas.microsoft.com/office/drawing/2014/main" id="{ECAB0A5C-13B7-72EB-E9A1-58E5E525A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5201" y="1317080"/>
            <a:ext cx="815015" cy="1370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/>
          <a:lstStyle>
            <a:defPPr>
              <a:defRPr lang="en-US"/>
            </a:defPPr>
            <a:lvl1pPr algn="ctr" defTabSz="806684" latinLnBrk="1">
              <a:defRPr kumimoji="1" sz="1200" b="1" i="0">
                <a:solidFill>
                  <a:prstClr val="black"/>
                </a:solidFill>
                <a:latin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algn="ctr" defTabSz="806684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착수보고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Isosceles Triangle 44">
            <a:extLst>
              <a:ext uri="{FF2B5EF4-FFF2-40B4-BE49-F238E27FC236}">
                <a16:creationId xmlns:a16="http://schemas.microsoft.com/office/drawing/2014/main" id="{E9D2A76D-1F4E-2AB9-7C31-B4C48D39A1CA}"/>
              </a:ext>
            </a:extLst>
          </p:cNvPr>
          <p:cNvSpPr/>
          <p:nvPr/>
        </p:nvSpPr>
        <p:spPr bwMode="auto">
          <a:xfrm flipV="1">
            <a:off x="5328845" y="1503968"/>
            <a:ext cx="167726" cy="13701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75" tIns="31758" rIns="63516" bIns="3175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806684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764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Isosceles Triangle 44">
            <a:extLst>
              <a:ext uri="{FF2B5EF4-FFF2-40B4-BE49-F238E27FC236}">
                <a16:creationId xmlns:a16="http://schemas.microsoft.com/office/drawing/2014/main" id="{19A568B4-E38C-ED65-B2EB-A5E2FE65839D}"/>
              </a:ext>
            </a:extLst>
          </p:cNvPr>
          <p:cNvSpPr/>
          <p:nvPr/>
        </p:nvSpPr>
        <p:spPr bwMode="auto">
          <a:xfrm flipV="1">
            <a:off x="7645325" y="1520950"/>
            <a:ext cx="167726" cy="137012"/>
          </a:xfrm>
          <a:prstGeom prst="triangle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275" tIns="31758" rIns="63516" bIns="31758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806684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Pct val="85000"/>
              <a:buFontTx/>
              <a:buNone/>
              <a:tabLst/>
              <a:defRPr/>
            </a:pPr>
            <a:endParaRPr kumimoji="0" lang="en-US" sz="1764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 Box 149">
            <a:extLst>
              <a:ext uri="{FF2B5EF4-FFF2-40B4-BE49-F238E27FC236}">
                <a16:creationId xmlns:a16="http://schemas.microsoft.com/office/drawing/2014/main" id="{6BA3ED02-9259-AE73-3FD8-64E63A4DFB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1680" y="1317080"/>
            <a:ext cx="815015" cy="13701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 anchor="ctr"/>
          <a:lstStyle>
            <a:defPPr>
              <a:defRPr lang="en-US"/>
            </a:defPPr>
            <a:lvl1pPr algn="ctr" defTabSz="806684" latinLnBrk="1">
              <a:defRPr kumimoji="1" sz="1200" b="1" i="0">
                <a:solidFill>
                  <a:prstClr val="black"/>
                </a:solidFill>
                <a:latin typeface="+mn-ea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</a:lvl9pPr>
          </a:lstStyle>
          <a:p>
            <a:pPr marL="0" marR="0" lvl="0" indent="0" algn="ctr" defTabSz="806684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중간보고</a:t>
            </a:r>
            <a:endParaRPr kumimoji="1" lang="en-US" altLang="ko-KR" sz="12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8" name="슬라이드 번호 개체 틀 11">
            <a:extLst>
              <a:ext uri="{FF2B5EF4-FFF2-40B4-BE49-F238E27FC236}">
                <a16:creationId xmlns:a16="http://schemas.microsoft.com/office/drawing/2014/main" id="{C62BD8FC-C8F0-18C1-A64F-0762C2641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933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FC6AA-3C8F-D9B6-1CE5-60681ECC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8">
            <a:extLst>
              <a:ext uri="{FF2B5EF4-FFF2-40B4-BE49-F238E27FC236}">
                <a16:creationId xmlns:a16="http://schemas.microsoft.com/office/drawing/2014/main" id="{733A7D28-091F-55E1-2DE6-962D7F0E1835}"/>
              </a:ext>
            </a:extLst>
          </p:cNvPr>
          <p:cNvSpPr/>
          <p:nvPr/>
        </p:nvSpPr>
        <p:spPr>
          <a:xfrm>
            <a:off x="4051672" y="1714579"/>
            <a:ext cx="5454968" cy="433347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>
              <a:lnSpc>
                <a:spcPct val="140000"/>
              </a:lnSpc>
              <a:spcAft>
                <a:spcPts val="600"/>
              </a:spcAft>
            </a:pPr>
            <a:endParaRPr sz="1100" b="1" dirty="0">
              <a:solidFill>
                <a:srgbClr val="0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ACBAAFB0-647E-54D8-15E7-4BEBEDD3F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추진체계 및 수행조직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ED54F5-9821-1C03-EE38-A1654707B681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indent="0" defTabSz="914400" fontAlgn="t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sz="1600" b="1" kern="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Noto Sans KR" panose="020B0200000000000000" pitchFamily="50" charset="-127"/>
                <a:ea typeface="Noto Sans KR" panose="020B0200000000000000" pitchFamily="50" charset="-127"/>
                <a:cs typeface="Arial" panose="020B0604020202020204" pitchFamily="34" charset="0"/>
              </a:defRPr>
            </a:lvl1pPr>
            <a:lvl2pPr marL="685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2pPr>
            <a:lvl3pPr marL="1143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3pPr>
            <a:lvl4pPr marL="1600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4pPr>
            <a:lvl5pPr marL="20574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623" spc="-41" baseline="0"/>
            </a:lvl5pPr>
            <a:lvl6pPr marL="25146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 latinLnBrk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ko-KR" altLang="en-US" dirty="0"/>
              <a:t>금번 프로젝트와 관련 경험을 다수 보유한 </a:t>
            </a:r>
            <a:r>
              <a:rPr lang="en-US" altLang="ko-KR" dirty="0"/>
              <a:t>PM, </a:t>
            </a:r>
            <a:r>
              <a:rPr lang="ko-KR" altLang="en-US" dirty="0"/>
              <a:t>컨설턴트 인력으로 최적의 조직 구성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45BDDDA-F389-0488-B626-2E3F54351956}"/>
              </a:ext>
            </a:extLst>
          </p:cNvPr>
          <p:cNvSpPr/>
          <p:nvPr/>
        </p:nvSpPr>
        <p:spPr>
          <a:xfrm>
            <a:off x="428625" y="1699339"/>
            <a:ext cx="3406415" cy="1255146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 marR="0" lvl="0" indent="0" algn="l" defTabSz="977172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의사결정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Steering Committee</a:t>
            </a: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전반적인 방향 감독 및 지시 역할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진행 관리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월 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정기 회의 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(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이슈 발생 시 수시 개최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 Advisory</a:t>
            </a:r>
            <a:r>
              <a:rPr lang="ko-KR" altLang="en-US" sz="1000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를 통한 주요 보안 이슈 자문 및 전략적 의사 결정 지원</a:t>
            </a:r>
            <a:endParaRPr lang="en-US" altLang="ko-KR" sz="1000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E66EA1C-24D7-426E-C89B-94BB3C980036}"/>
              </a:ext>
            </a:extLst>
          </p:cNvPr>
          <p:cNvSpPr/>
          <p:nvPr/>
        </p:nvSpPr>
        <p:spPr>
          <a:xfrm>
            <a:off x="428625" y="1699339"/>
            <a:ext cx="38100" cy="1255146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1" name="Rectangle 21">
            <a:extLst>
              <a:ext uri="{FF2B5EF4-FFF2-40B4-BE49-F238E27FC236}">
                <a16:creationId xmlns:a16="http://schemas.microsoft.com/office/drawing/2014/main" id="{9F0642F2-3C87-9946-2B71-8CE2ADA366D2}"/>
              </a:ext>
            </a:extLst>
          </p:cNvPr>
          <p:cNvSpPr/>
          <p:nvPr/>
        </p:nvSpPr>
        <p:spPr>
          <a:xfrm>
            <a:off x="581025" y="1864199"/>
            <a:ext cx="552450" cy="178118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Layer 1</a:t>
            </a:r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02C0E8D3-9AE7-15AA-6660-8D948A961B8C}"/>
              </a:ext>
            </a:extLst>
          </p:cNvPr>
          <p:cNvSpPr/>
          <p:nvPr/>
        </p:nvSpPr>
        <p:spPr>
          <a:xfrm>
            <a:off x="428625" y="3078496"/>
            <a:ext cx="3406415" cy="1507684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>
              <a:lnSpc>
                <a:spcPct val="140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조율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PM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전반의 실무 담당 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단계별 산출물 검토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진단 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Framework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수립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수행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방향성 수립</a:t>
            </a:r>
          </a:p>
          <a:p>
            <a:pPr marL="127000" marR="0" lvl="0" indent="-1270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Char char="•"/>
              <a:tabLst/>
              <a:defRPr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착수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중간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최종 보고서 작성 및 보고</a:t>
            </a:r>
          </a:p>
        </p:txBody>
      </p:sp>
      <p:sp>
        <p:nvSpPr>
          <p:cNvPr id="8" name="Rectangle 15">
            <a:extLst>
              <a:ext uri="{FF2B5EF4-FFF2-40B4-BE49-F238E27FC236}">
                <a16:creationId xmlns:a16="http://schemas.microsoft.com/office/drawing/2014/main" id="{BF678211-3C07-74C8-43D6-83F7485898F5}"/>
              </a:ext>
            </a:extLst>
          </p:cNvPr>
          <p:cNvSpPr/>
          <p:nvPr/>
        </p:nvSpPr>
        <p:spPr>
          <a:xfrm>
            <a:off x="428625" y="3078496"/>
            <a:ext cx="38100" cy="1507684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E4B4C9D2-1393-2B9B-D6D2-DE052D2F699A}"/>
              </a:ext>
            </a:extLst>
          </p:cNvPr>
          <p:cNvSpPr/>
          <p:nvPr/>
        </p:nvSpPr>
        <p:spPr>
          <a:xfrm>
            <a:off x="588666" y="3239187"/>
            <a:ext cx="552450" cy="178118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Layer 2</a:t>
            </a:r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DFED5E88-CEDC-FCE5-D83E-F780D9DF4F94}"/>
              </a:ext>
            </a:extLst>
          </p:cNvPr>
          <p:cNvSpPr/>
          <p:nvPr/>
        </p:nvSpPr>
        <p:spPr>
          <a:xfrm>
            <a:off x="428625" y="4710191"/>
            <a:ext cx="3406415" cy="1328738"/>
          </a:xfrm>
          <a:prstGeom prst="rect">
            <a:avLst/>
          </a:prstGeom>
          <a:noFill/>
          <a:ln w="9525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wrap="square" lIns="152400" tIns="123825" rIns="114300" bIns="38100" rtlCol="0" anchor="t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8650">
              <a:lnSpc>
                <a:spcPct val="140000"/>
              </a:lnSpc>
              <a:spcAft>
                <a:spcPts val="600"/>
              </a:spcAft>
            </a:pP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sz="1100" b="1" dirty="0" err="1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운영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(</a:t>
            </a:r>
            <a:r>
              <a:rPr lang="en-US"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Working Group</a:t>
            </a:r>
            <a:r>
              <a:rPr sz="11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)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관리적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기술적</a:t>
            </a:r>
            <a:r>
              <a:rPr lang="en-US" altLang="ko-KR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물리적 보안 진단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 관리 체계 진단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정보보호 마스터 플랜 및 상세 계획 수립</a:t>
            </a:r>
          </a:p>
          <a:p>
            <a:pPr marL="127000" indent="-127000">
              <a:lnSpc>
                <a:spcPct val="120000"/>
              </a:lnSpc>
              <a:spcAft>
                <a:spcPts val="300"/>
              </a:spcAft>
              <a:buFontTx/>
              <a:buChar char="•"/>
            </a:pPr>
            <a:r>
              <a:rPr lang="ko-KR" altLang="en-US" sz="1000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보안 취약점 진단 및 조치 가이드 제공</a:t>
            </a:r>
          </a:p>
        </p:txBody>
      </p:sp>
      <p:sp>
        <p:nvSpPr>
          <p:cNvPr id="10" name="Rectangle 17">
            <a:extLst>
              <a:ext uri="{FF2B5EF4-FFF2-40B4-BE49-F238E27FC236}">
                <a16:creationId xmlns:a16="http://schemas.microsoft.com/office/drawing/2014/main" id="{144C90EC-B62D-49CD-8ECF-42721C238EAD}"/>
              </a:ext>
            </a:extLst>
          </p:cNvPr>
          <p:cNvSpPr/>
          <p:nvPr/>
        </p:nvSpPr>
        <p:spPr>
          <a:xfrm>
            <a:off x="428625" y="4710191"/>
            <a:ext cx="38100" cy="13287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</a:ln>
          <a:effectLst/>
        </p:spPr>
        <p:txBody>
          <a:bodyPr rtlCol="0" anchor="ctr"/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Rectangle 23">
            <a:extLst>
              <a:ext uri="{FF2B5EF4-FFF2-40B4-BE49-F238E27FC236}">
                <a16:creationId xmlns:a16="http://schemas.microsoft.com/office/drawing/2014/main" id="{76735802-290D-555C-BE97-5300A213978A}"/>
              </a:ext>
            </a:extLst>
          </p:cNvPr>
          <p:cNvSpPr/>
          <p:nvPr/>
        </p:nvSpPr>
        <p:spPr>
          <a:xfrm>
            <a:off x="581025" y="4849506"/>
            <a:ext cx="552450" cy="178118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</a:ln>
          <a:effectLst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Layer 3</a:t>
            </a:r>
          </a:p>
        </p:txBody>
      </p:sp>
      <p:cxnSp>
        <p:nvCxnSpPr>
          <p:cNvPr id="21" name="직선 연결선 173">
            <a:extLst>
              <a:ext uri="{FF2B5EF4-FFF2-40B4-BE49-F238E27FC236}">
                <a16:creationId xmlns:a16="http://schemas.microsoft.com/office/drawing/2014/main" id="{81C60F2A-E4A3-0AF5-5CDE-29B8D524D2DB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6783878" y="2653551"/>
            <a:ext cx="1" cy="431045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2" name="직선 연결선 174">
            <a:extLst>
              <a:ext uri="{FF2B5EF4-FFF2-40B4-BE49-F238E27FC236}">
                <a16:creationId xmlns:a16="http://schemas.microsoft.com/office/drawing/2014/main" id="{959A7238-6684-EE09-36FD-4D5AE758C116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6783879" y="3858912"/>
            <a:ext cx="0" cy="539998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3" name="연결선: 꺾임 175">
            <a:extLst>
              <a:ext uri="{FF2B5EF4-FFF2-40B4-BE49-F238E27FC236}">
                <a16:creationId xmlns:a16="http://schemas.microsoft.com/office/drawing/2014/main" id="{E1BD3647-2EF0-494A-0D36-447F903BB444}"/>
              </a:ext>
            </a:extLst>
          </p:cNvPr>
          <p:cNvCxnSpPr>
            <a:cxnSpLocks/>
            <a:stCxn id="18" idx="0"/>
            <a:endCxn id="17" idx="2"/>
          </p:cNvCxnSpPr>
          <p:nvPr/>
        </p:nvCxnSpPr>
        <p:spPr>
          <a:xfrm rot="5400000" flipH="1" flipV="1">
            <a:off x="5645404" y="3260435"/>
            <a:ext cx="539998" cy="1736952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4" name="연결선: 꺾임 176">
            <a:extLst>
              <a:ext uri="{FF2B5EF4-FFF2-40B4-BE49-F238E27FC236}">
                <a16:creationId xmlns:a16="http://schemas.microsoft.com/office/drawing/2014/main" id="{A9F90A81-A266-01CB-E5F9-EC04DD69C47F}"/>
              </a:ext>
            </a:extLst>
          </p:cNvPr>
          <p:cNvCxnSpPr>
            <a:cxnSpLocks/>
            <a:stCxn id="20" idx="0"/>
            <a:endCxn id="17" idx="2"/>
          </p:cNvCxnSpPr>
          <p:nvPr/>
        </p:nvCxnSpPr>
        <p:spPr>
          <a:xfrm rot="16200000" flipV="1">
            <a:off x="7383297" y="3259494"/>
            <a:ext cx="539998" cy="1738834"/>
          </a:xfrm>
          <a:prstGeom prst="bentConnector3">
            <a:avLst>
              <a:gd name="adj1" fmla="val 50000"/>
            </a:avLst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sp>
        <p:nvSpPr>
          <p:cNvPr id="25" name="Rectangle 10">
            <a:extLst>
              <a:ext uri="{FF2B5EF4-FFF2-40B4-BE49-F238E27FC236}">
                <a16:creationId xmlns:a16="http://schemas.microsoft.com/office/drawing/2014/main" id="{1EE0B82D-05BB-15B9-D790-E41F6D51EBA6}"/>
              </a:ext>
            </a:extLst>
          </p:cNvPr>
          <p:cNvSpPr/>
          <p:nvPr/>
        </p:nvSpPr>
        <p:spPr>
          <a:xfrm>
            <a:off x="4241169" y="3084596"/>
            <a:ext cx="1219060" cy="774316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>
            <a:outerShdw blurRad="25400" dist="12700" dir="5400000" algn="tl" rotWithShape="0">
              <a:srgbClr val="000000">
                <a:alpha val="5000"/>
              </a:srgbClr>
            </a:outerShdw>
          </a:effectLst>
        </p:spPr>
        <p:txBody>
          <a:bodyPr wrap="none" lIns="36000" tIns="36000" rIns="360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정보보호조직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26" name="직선 연결선 178">
            <a:extLst>
              <a:ext uri="{FF2B5EF4-FFF2-40B4-BE49-F238E27FC236}">
                <a16:creationId xmlns:a16="http://schemas.microsoft.com/office/drawing/2014/main" id="{768C268D-88F7-8CFD-FE26-7E41834C9655}"/>
              </a:ext>
            </a:extLst>
          </p:cNvPr>
          <p:cNvCxnSpPr>
            <a:cxnSpLocks/>
            <a:stCxn id="25" idx="3"/>
            <a:endCxn id="17" idx="1"/>
          </p:cNvCxnSpPr>
          <p:nvPr/>
        </p:nvCxnSpPr>
        <p:spPr>
          <a:xfrm>
            <a:off x="5460229" y="3471754"/>
            <a:ext cx="146152" cy="0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cxnSp>
        <p:nvCxnSpPr>
          <p:cNvPr id="27" name="직선 연결선 179">
            <a:extLst>
              <a:ext uri="{FF2B5EF4-FFF2-40B4-BE49-F238E27FC236}">
                <a16:creationId xmlns:a16="http://schemas.microsoft.com/office/drawing/2014/main" id="{DE47E3B1-74CF-82D5-48FB-F443984EBDB4}"/>
              </a:ext>
            </a:extLst>
          </p:cNvPr>
          <p:cNvCxnSpPr/>
          <p:nvPr/>
        </p:nvCxnSpPr>
        <p:spPr>
          <a:xfrm>
            <a:off x="4221405" y="2828577"/>
            <a:ext cx="5115506" cy="0"/>
          </a:xfrm>
          <a:prstGeom prst="line">
            <a:avLst/>
          </a:prstGeom>
          <a:noFill/>
          <a:ln w="25400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cxnSp>
        <p:nvCxnSpPr>
          <p:cNvPr id="28" name="직선 연결선 180">
            <a:extLst>
              <a:ext uri="{FF2B5EF4-FFF2-40B4-BE49-F238E27FC236}">
                <a16:creationId xmlns:a16="http://schemas.microsoft.com/office/drawing/2014/main" id="{C3FFE073-0F15-4A68-D1C5-6DDD6AF46BD9}"/>
              </a:ext>
            </a:extLst>
          </p:cNvPr>
          <p:cNvCxnSpPr/>
          <p:nvPr/>
        </p:nvCxnSpPr>
        <p:spPr>
          <a:xfrm>
            <a:off x="4241170" y="4019943"/>
            <a:ext cx="5115506" cy="0"/>
          </a:xfrm>
          <a:prstGeom prst="line">
            <a:avLst/>
          </a:prstGeom>
          <a:noFill/>
          <a:ln w="25400" cap="flat" cmpd="sng" algn="ctr">
            <a:solidFill>
              <a:srgbClr val="FFFFFF">
                <a:lumMod val="65000"/>
              </a:srgbClr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DDA9E1DF-1AF5-727C-EB94-46FD9AFE1D7B}"/>
              </a:ext>
            </a:extLst>
          </p:cNvPr>
          <p:cNvSpPr txBox="1"/>
          <p:nvPr/>
        </p:nvSpPr>
        <p:spPr>
          <a:xfrm>
            <a:off x="8735590" y="1866739"/>
            <a:ext cx="69442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의사 결정</a:t>
            </a:r>
            <a:endParaRPr lang="en-US" sz="1000" b="1" i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9E36DAF-AB7C-73D6-982A-E06E70C60BC7}"/>
              </a:ext>
            </a:extLst>
          </p:cNvPr>
          <p:cNvSpPr txBox="1"/>
          <p:nvPr/>
        </p:nvSpPr>
        <p:spPr>
          <a:xfrm>
            <a:off x="8721163" y="2821937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</a:t>
            </a:r>
            <a:r>
              <a:rPr lang="en-US" altLang="ko-KR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/</a:t>
            </a:r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조율</a:t>
            </a:r>
            <a:endParaRPr lang="en-US" sz="1000" b="1" i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FEE42A-F829-9167-9523-E01236AC884F}"/>
              </a:ext>
            </a:extLst>
          </p:cNvPr>
          <p:cNvSpPr txBox="1"/>
          <p:nvPr/>
        </p:nvSpPr>
        <p:spPr>
          <a:xfrm>
            <a:off x="9003343" y="4023856"/>
            <a:ext cx="426668" cy="227881"/>
          </a:xfrm>
          <a:prstGeom prst="rect">
            <a:avLst/>
          </a:prstGeom>
          <a:noFill/>
        </p:spPr>
        <p:txBody>
          <a:bodyPr wrap="none" rtlCol="0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0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실행</a:t>
            </a:r>
            <a:endParaRPr lang="en-US" sz="1000" b="1" i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A3901430-6A8D-156A-D634-E4FC467B28C3}"/>
              </a:ext>
            </a:extLst>
          </p:cNvPr>
          <p:cNvGrpSpPr/>
          <p:nvPr/>
        </p:nvGrpSpPr>
        <p:grpSpPr>
          <a:xfrm>
            <a:off x="4260219" y="4398910"/>
            <a:ext cx="1573414" cy="1446580"/>
            <a:chOff x="4241169" y="4398910"/>
            <a:chExt cx="1573414" cy="1446580"/>
          </a:xfrm>
        </p:grpSpPr>
        <p:sp>
          <p:nvSpPr>
            <p:cNvPr id="18" name="Rectangle 11">
              <a:extLst>
                <a:ext uri="{FF2B5EF4-FFF2-40B4-BE49-F238E27FC236}">
                  <a16:creationId xmlns:a16="http://schemas.microsoft.com/office/drawing/2014/main" id="{73D4D273-F2C8-9881-D713-ADD52126842B}"/>
                </a:ext>
              </a:extLst>
            </p:cNvPr>
            <p:cNvSpPr/>
            <p:nvPr/>
          </p:nvSpPr>
          <p:spPr>
            <a:xfrm>
              <a:off x="4241170" y="4398910"/>
              <a:ext cx="1573413" cy="3112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관리체계 진단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(2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명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2" name="직사각형 192">
              <a:extLst>
                <a:ext uri="{FF2B5EF4-FFF2-40B4-BE49-F238E27FC236}">
                  <a16:creationId xmlns:a16="http://schemas.microsoft.com/office/drawing/2014/main" id="{0CC6C2C1-FD79-6BBF-28C3-3B44A2CA35D4}"/>
                </a:ext>
              </a:extLst>
            </p:cNvPr>
            <p:cNvSpPr/>
            <p:nvPr/>
          </p:nvSpPr>
          <p:spPr bwMode="ltGray">
            <a:xfrm>
              <a:off x="4241169" y="4710192"/>
              <a:ext cx="1573413" cy="11352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관리체계</a:t>
              </a:r>
              <a:r>
                <a:rPr kumimoji="0" lang="en-US" altLang="ko-KR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kumimoji="0" lang="ko-KR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마스터</a:t>
              </a:r>
            </a:p>
            <a:p>
              <a:pPr marL="0" marR="0" lvl="0" indent="0" algn="ctr" defTabSz="977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플랜 수립 전문가</a:t>
              </a:r>
            </a:p>
            <a:p>
              <a:pPr marL="0" marR="0" lvl="0" indent="0" algn="ctr" defTabSz="977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CDC8470D-A157-F14F-71E7-F4B9268687DD}"/>
              </a:ext>
            </a:extLst>
          </p:cNvPr>
          <p:cNvGrpSpPr/>
          <p:nvPr/>
        </p:nvGrpSpPr>
        <p:grpSpPr>
          <a:xfrm>
            <a:off x="5606381" y="1877918"/>
            <a:ext cx="2354995" cy="3967572"/>
            <a:chOff x="5633435" y="1877918"/>
            <a:chExt cx="2354995" cy="3967572"/>
          </a:xfrm>
        </p:grpSpPr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52D2DFDB-B786-3A95-5771-3BF8BC3E68A6}"/>
                </a:ext>
              </a:extLst>
            </p:cNvPr>
            <p:cNvSpPr/>
            <p:nvPr/>
          </p:nvSpPr>
          <p:spPr>
            <a:xfrm>
              <a:off x="6006685" y="1877918"/>
              <a:ext cx="1608494" cy="775633"/>
            </a:xfrm>
            <a:prstGeom prst="rect">
              <a:avLst/>
            </a:prstGeom>
            <a:noFill/>
            <a:ln w="12700" cap="flat" cmpd="sng" algn="ctr">
              <a:solidFill>
                <a:schemeClr val="tx1"/>
              </a:solidFill>
              <a:prstDash val="solid"/>
            </a:ln>
            <a:effectLst>
              <a:outerShdw blurRad="25400" dist="12700" dir="5400000" algn="tl" rotWithShape="0">
                <a:srgbClr val="000000">
                  <a:alpha val="5000"/>
                </a:srgbClr>
              </a:outerShdw>
            </a:effectLst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b="1" dirty="0">
                  <a:solidFill>
                    <a:srgbClr val="40404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Management Leader</a:t>
              </a:r>
              <a:b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D5108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0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김태형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en-US" altLang="ko-KR" sz="1000" b="1" dirty="0">
                  <a:solidFill>
                    <a:srgbClr val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Partner</a:t>
              </a:r>
              <a:endPara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7" name="Rectangle 10">
              <a:extLst>
                <a:ext uri="{FF2B5EF4-FFF2-40B4-BE49-F238E27FC236}">
                  <a16:creationId xmlns:a16="http://schemas.microsoft.com/office/drawing/2014/main" id="{A421B999-2CD4-DE19-6789-2B73919714A4}"/>
                </a:ext>
              </a:extLst>
            </p:cNvPr>
            <p:cNvSpPr/>
            <p:nvPr/>
          </p:nvSpPr>
          <p:spPr>
            <a:xfrm>
              <a:off x="5633435" y="3084596"/>
              <a:ext cx="2354995" cy="77431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 cap="flat" cmpd="sng" algn="ctr">
              <a:solidFill>
                <a:schemeClr val="tx1"/>
              </a:solidFill>
              <a:prstDash val="solid"/>
            </a:ln>
            <a:effectLst>
              <a:outerShdw blurRad="25400" dist="12700" dir="5400000" algn="tl" rotWithShape="0">
                <a:srgbClr val="000000">
                  <a:alpha val="5000"/>
                </a:srgbClr>
              </a:outerShdw>
            </a:effectLst>
          </p:spPr>
          <p:txBody>
            <a:bodyPr wrap="square" lIns="76200" tIns="76200" rIns="76200" bIns="381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Project Manager</a:t>
              </a:r>
              <a:b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100" b="1" dirty="0" err="1">
                  <a:solidFill>
                    <a:srgbClr val="FFFFFF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윤일한</a:t>
              </a: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이사</a:t>
              </a:r>
            </a:p>
          </p:txBody>
        </p:sp>
        <p:sp>
          <p:nvSpPr>
            <p:cNvPr id="19" name="Rectangle 12">
              <a:extLst>
                <a:ext uri="{FF2B5EF4-FFF2-40B4-BE49-F238E27FC236}">
                  <a16:creationId xmlns:a16="http://schemas.microsoft.com/office/drawing/2014/main" id="{2BB710C7-DB84-6681-6970-5017C187FB49}"/>
                </a:ext>
              </a:extLst>
            </p:cNvPr>
            <p:cNvSpPr/>
            <p:nvPr/>
          </p:nvSpPr>
          <p:spPr>
            <a:xfrm>
              <a:off x="6024226" y="4398910"/>
              <a:ext cx="1573413" cy="3112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100" b="1" dirty="0" err="1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모의해킹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(3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명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3" name="직사각형 193">
              <a:extLst>
                <a:ext uri="{FF2B5EF4-FFF2-40B4-BE49-F238E27FC236}">
                  <a16:creationId xmlns:a16="http://schemas.microsoft.com/office/drawing/2014/main" id="{D879E8D4-9814-64ED-1602-3398A35C2915}"/>
                </a:ext>
              </a:extLst>
            </p:cNvPr>
            <p:cNvSpPr/>
            <p:nvPr/>
          </p:nvSpPr>
          <p:spPr bwMode="ltGray">
            <a:xfrm>
              <a:off x="6024226" y="4710192"/>
              <a:ext cx="1573413" cy="11352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웹</a:t>
              </a:r>
              <a:r>
                <a:rPr lang="en-US" altLang="ko-KR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</a:t>
              </a:r>
              <a:r>
                <a:rPr lang="ko-KR" altLang="en-US" sz="1100" b="1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모의해킹</a:t>
              </a:r>
              <a:br>
                <a:rPr lang="en-US" altLang="ko-KR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</a:br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전문가</a:t>
              </a:r>
              <a:endPara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1B32230-995D-2A8C-33BA-CED7388F8BDB}"/>
              </a:ext>
            </a:extLst>
          </p:cNvPr>
          <p:cNvGrpSpPr/>
          <p:nvPr/>
        </p:nvGrpSpPr>
        <p:grpSpPr>
          <a:xfrm>
            <a:off x="7734124" y="4398910"/>
            <a:ext cx="1575295" cy="1446580"/>
            <a:chOff x="7734124" y="4398910"/>
            <a:chExt cx="1575295" cy="1446580"/>
          </a:xfrm>
        </p:grpSpPr>
        <p:sp>
          <p:nvSpPr>
            <p:cNvPr id="20" name="Rectangle 13">
              <a:extLst>
                <a:ext uri="{FF2B5EF4-FFF2-40B4-BE49-F238E27FC236}">
                  <a16:creationId xmlns:a16="http://schemas.microsoft.com/office/drawing/2014/main" id="{A3B4B33C-F5B9-9C17-00FB-5B37E90C6546}"/>
                </a:ext>
              </a:extLst>
            </p:cNvPr>
            <p:cNvSpPr/>
            <p:nvPr/>
          </p:nvSpPr>
          <p:spPr>
            <a:xfrm>
              <a:off x="7736006" y="4398910"/>
              <a:ext cx="1573413" cy="311282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wrap="square" lIns="76200" tIns="36000" rIns="76200" bIns="36000" rtlCol="0" anchor="ctr">
              <a:noAutofit/>
            </a:bodyPr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977172" rtl="0" eaLnBrk="1" fontAlgn="auto" latinLnBrk="0" hangingPunct="1">
                <a:lnSpc>
                  <a:spcPct val="140000"/>
                </a:lnSpc>
                <a:spcBef>
                  <a:spcPts val="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진단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(2</a:t>
              </a:r>
              <a:r>
                <a:rPr lang="ko-KR" altLang="en-US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명</a:t>
              </a:r>
              <a:r>
                <a:rPr lang="en-US" altLang="ko-KR" sz="1100" b="1" dirty="0">
                  <a:solidFill>
                    <a:schemeClr val="bg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)</a:t>
              </a:r>
              <a:endPara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34" name="직사각형 194">
              <a:extLst>
                <a:ext uri="{FF2B5EF4-FFF2-40B4-BE49-F238E27FC236}">
                  <a16:creationId xmlns:a16="http://schemas.microsoft.com/office/drawing/2014/main" id="{5D81D973-9433-C17E-C491-009EEE79B8B3}"/>
                </a:ext>
              </a:extLst>
            </p:cNvPr>
            <p:cNvSpPr/>
            <p:nvPr/>
          </p:nvSpPr>
          <p:spPr bwMode="ltGray">
            <a:xfrm>
              <a:off x="7734124" y="4710192"/>
              <a:ext cx="1573413" cy="1135298"/>
            </a:xfrm>
            <a:prstGeom prst="rect">
              <a:avLst/>
            </a:prstGeom>
            <a:noFill/>
            <a:ln w="9525" cap="flat" cmpd="sng" algn="ctr">
              <a:solidFill>
                <a:srgbClr val="FFFFFF">
                  <a:lumMod val="65000"/>
                </a:srgbClr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88586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7717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465758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954344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442930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31517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0102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908689" algn="l" defTabSz="977172" rtl="0" eaLnBrk="1" latinLnBrk="0" hangingPunct="1">
                <a:defRPr sz="1924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서버</a:t>
              </a:r>
              <a:r>
                <a:rPr lang="en-US" altLang="ko-KR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/DB </a:t>
              </a:r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등</a:t>
              </a:r>
              <a:endParaRPr lang="en-US" altLang="ko-KR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  <a:p>
              <a:pPr algn="ctr"/>
              <a:r>
                <a:rPr lang="ko-KR" altLang="en-US" sz="1100" b="1" dirty="0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인프라 진단 전문가</a:t>
              </a:r>
            </a:p>
          </p:txBody>
        </p:sp>
      </p:grpSp>
      <p:sp>
        <p:nvSpPr>
          <p:cNvPr id="39" name="Rectangle 9">
            <a:extLst>
              <a:ext uri="{FF2B5EF4-FFF2-40B4-BE49-F238E27FC236}">
                <a16:creationId xmlns:a16="http://schemas.microsoft.com/office/drawing/2014/main" id="{EC4CDC50-9723-1CC5-8C10-F32D15941759}"/>
              </a:ext>
            </a:extLst>
          </p:cNvPr>
          <p:cNvSpPr/>
          <p:nvPr/>
        </p:nvSpPr>
        <p:spPr>
          <a:xfrm>
            <a:off x="8123535" y="3084754"/>
            <a:ext cx="1147909" cy="774000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>
            <a:outerShdw blurRad="25400" dist="12700" dir="5400000" algn="tl" rotWithShape="0">
              <a:srgbClr val="000000">
                <a:alpha val="5000"/>
              </a:srgbClr>
            </a:outerShdw>
          </a:effectLst>
        </p:spPr>
        <p:txBody>
          <a:bodyPr wrap="square" lIns="76200" tIns="36000" rIns="762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SME</a:t>
            </a:r>
            <a:b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438E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EY 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내부 전문가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40" name="Straight Connector 90">
            <a:extLst>
              <a:ext uri="{FF2B5EF4-FFF2-40B4-BE49-F238E27FC236}">
                <a16:creationId xmlns:a16="http://schemas.microsoft.com/office/drawing/2014/main" id="{DF3FC2E3-84BE-F5E2-A988-2B042C2E6718}"/>
              </a:ext>
            </a:extLst>
          </p:cNvPr>
          <p:cNvCxnSpPr>
            <a:cxnSpLocks/>
            <a:stCxn id="17" idx="3"/>
            <a:endCxn id="39" idx="1"/>
          </p:cNvCxnSpPr>
          <p:nvPr/>
        </p:nvCxnSpPr>
        <p:spPr>
          <a:xfrm>
            <a:off x="7961376" y="3471754"/>
            <a:ext cx="162159" cy="0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sp>
        <p:nvSpPr>
          <p:cNvPr id="36" name="Rectangle 10">
            <a:extLst>
              <a:ext uri="{FF2B5EF4-FFF2-40B4-BE49-F238E27FC236}">
                <a16:creationId xmlns:a16="http://schemas.microsoft.com/office/drawing/2014/main" id="{F74D2F2E-F301-93D9-43A6-F306DEC9982F}"/>
              </a:ext>
            </a:extLst>
          </p:cNvPr>
          <p:cNvSpPr/>
          <p:nvPr/>
        </p:nvSpPr>
        <p:spPr>
          <a:xfrm>
            <a:off x="4241169" y="1886705"/>
            <a:ext cx="1219060" cy="265332"/>
          </a:xfrm>
          <a:prstGeom prst="rect">
            <a:avLst/>
          </a:prstGeom>
          <a:solidFill>
            <a:srgbClr val="404040"/>
          </a:solidFill>
          <a:ln w="12700" cap="flat" cmpd="sng" algn="ctr">
            <a:solidFill>
              <a:srgbClr val="404040"/>
            </a:solidFill>
            <a:prstDash val="solid"/>
          </a:ln>
          <a:effectLst/>
        </p:spPr>
        <p:txBody>
          <a:bodyPr wrap="none" lIns="36000" tIns="36000" rIns="360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77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1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lang="ko-KR" altLang="en-US" sz="11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100" b="1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Advisory</a:t>
            </a:r>
            <a:endParaRPr kumimoji="0" lang="en-US" altLang="ko-KR" sz="11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cxnSp>
        <p:nvCxnSpPr>
          <p:cNvPr id="35" name="직선 연결선 173">
            <a:extLst>
              <a:ext uri="{FF2B5EF4-FFF2-40B4-BE49-F238E27FC236}">
                <a16:creationId xmlns:a16="http://schemas.microsoft.com/office/drawing/2014/main" id="{105272F5-8EEF-4C42-23FF-5772B64E31B7}"/>
              </a:ext>
            </a:extLst>
          </p:cNvPr>
          <p:cNvCxnSpPr>
            <a:cxnSpLocks/>
            <a:stCxn id="16" idx="1"/>
          </p:cNvCxnSpPr>
          <p:nvPr/>
        </p:nvCxnSpPr>
        <p:spPr>
          <a:xfrm flipH="1" flipV="1">
            <a:off x="5460229" y="2262450"/>
            <a:ext cx="519402" cy="3285"/>
          </a:xfrm>
          <a:prstGeom prst="line">
            <a:avLst/>
          </a:prstGeom>
          <a:noFill/>
          <a:ln w="12700" cap="flat" cmpd="sng" algn="ctr">
            <a:solidFill>
              <a:srgbClr val="000000">
                <a:lumMod val="75000"/>
                <a:lumOff val="25000"/>
              </a:srgbClr>
            </a:solidFill>
            <a:prstDash val="solid"/>
          </a:ln>
          <a:effectLst/>
        </p:spPr>
      </p:cxnSp>
      <p:sp>
        <p:nvSpPr>
          <p:cNvPr id="46" name="Rectangle 10">
            <a:extLst>
              <a:ext uri="{FF2B5EF4-FFF2-40B4-BE49-F238E27FC236}">
                <a16:creationId xmlns:a16="http://schemas.microsoft.com/office/drawing/2014/main" id="{DD6F8293-8081-71CF-BC94-B88597DA6A40}"/>
              </a:ext>
            </a:extLst>
          </p:cNvPr>
          <p:cNvSpPr/>
          <p:nvPr/>
        </p:nvSpPr>
        <p:spPr>
          <a:xfrm>
            <a:off x="4241169" y="2158677"/>
            <a:ext cx="1219060" cy="479517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</a:ln>
          <a:effectLst>
            <a:outerShdw blurRad="25400" dist="12700" dir="5400000" algn="tl" rotWithShape="0">
              <a:srgbClr val="000000">
                <a:alpha val="5000"/>
              </a:srgbClr>
            </a:outerShdw>
          </a:effectLst>
        </p:spPr>
        <p:txBody>
          <a:bodyPr wrap="square" lIns="76200" tIns="36000" rIns="76200" bIns="36000" rtlCol="0" anchor="ctr">
            <a:noAutofit/>
          </a:bodyPr>
          <a:lstStyle>
            <a:defPPr>
              <a:defRPr lang="en-US"/>
            </a:defPPr>
            <a:lvl1pPr marL="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88586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7717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465758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954344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442930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31517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0102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908689" algn="l" defTabSz="977172" rtl="0" eaLnBrk="1" latinLnBrk="0" hangingPunct="1">
              <a:defRPr sz="1924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CDAO,</a:t>
            </a: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CISO,</a:t>
            </a:r>
          </a:p>
          <a:p>
            <a:pPr algn="ctr">
              <a:lnSpc>
                <a:spcPct val="120000"/>
              </a:lnSpc>
            </a:pPr>
            <a:r>
              <a:rPr lang="ko-KR" altLang="en-US" sz="1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개인정보보호책임자</a:t>
            </a:r>
            <a:endParaRPr lang="en-US" altLang="ko-KR" sz="1000" b="1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슬라이드 번호 개체 틀 11">
            <a:extLst>
              <a:ext uri="{FF2B5EF4-FFF2-40B4-BE49-F238E27FC236}">
                <a16:creationId xmlns:a16="http://schemas.microsoft.com/office/drawing/2014/main" id="{7EE94E09-FBE0-FBAF-391F-91A8420CD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56996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45587-6EDE-879C-9601-13E827F1C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E2AC829-C03D-C764-E4CA-0227B6552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862541"/>
              </p:ext>
            </p:extLst>
          </p:nvPr>
        </p:nvGraphicFramePr>
        <p:xfrm>
          <a:off x="296663" y="5285282"/>
          <a:ext cx="9301162" cy="1102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0472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  <a:gridCol w="8060690">
                  <a:extLst>
                    <a:ext uri="{9D8B030D-6E8A-4147-A177-3AD203B41FA5}">
                      <a16:colId xmlns:a16="http://schemas.microsoft.com/office/drawing/2014/main" val="632614329"/>
                    </a:ext>
                  </a:extLst>
                </a:gridCol>
              </a:tblGrid>
              <a:tr h="110236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0" b="1" dirty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V</a:t>
                      </a:r>
                      <a:endParaRPr lang="ko-KR" altLang="en-US" sz="60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40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협조 사항</a:t>
                      </a:r>
                    </a:p>
                  </a:txBody>
                  <a:tcPr marL="324000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3677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13C2-4E8A-4DA3-1F05-DCDA4AB1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E7D749E3-6BB7-705B-F3FD-6D8D4EAC5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 성공을 위한 핵심 협조사항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5E5149-4057-C44D-5717-B2AC86ABFA7B}"/>
              </a:ext>
            </a:extLst>
          </p:cNvPr>
          <p:cNvSpPr txBox="1">
            <a:spLocks/>
          </p:cNvSpPr>
          <p:nvPr/>
        </p:nvSpPr>
        <p:spPr>
          <a:xfrm>
            <a:off x="744635" y="834193"/>
            <a:ext cx="9024937" cy="6127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18000" tIns="18000" rIns="0" bIns="0" numCol="1" rtlCol="0" anchor="t" anchorCtr="0" compatLnSpc="1">
            <a:prstTxWarp prst="textNoShape">
              <a:avLst/>
            </a:prstTxWarp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kumimoji="1" lang="ko-KR" altLang="en-US" sz="1600" b="1" kern="0" spc="0" baseline="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16200000" scaled="1"/>
                </a:gradFill>
                <a:latin typeface="+mj-ea"/>
                <a:ea typeface="+mj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lang="ko-KR" altLang="en-US" sz="623" kern="1200" spc="-4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t"/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프로젝트의 성공적 수행과 실행 가능한 마스터플랜 수립을 위해 전사 차원 긴밀한 협조 필요</a:t>
            </a:r>
            <a:endParaRPr lang="ko-KR" altLang="ko-KR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슬라이드 번호 개체 틀 11">
            <a:extLst>
              <a:ext uri="{FF2B5EF4-FFF2-40B4-BE49-F238E27FC236}">
                <a16:creationId xmlns:a16="http://schemas.microsoft.com/office/drawing/2014/main" id="{63288F0D-115A-B0B0-5DD8-042011B3B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417">
            <a:extLst>
              <a:ext uri="{FF2B5EF4-FFF2-40B4-BE49-F238E27FC236}">
                <a16:creationId xmlns:a16="http://schemas.microsoft.com/office/drawing/2014/main" id="{3C51B844-30D0-FB95-860A-6D4334CCEEA2}"/>
              </a:ext>
            </a:extLst>
          </p:cNvPr>
          <p:cNvSpPr/>
          <p:nvPr/>
        </p:nvSpPr>
        <p:spPr>
          <a:xfrm>
            <a:off x="4522791" y="2116744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8FACDAB7-532D-6EBD-1268-D36110865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1500" y="1530220"/>
            <a:ext cx="1142999" cy="411305"/>
          </a:xfrm>
          <a:prstGeom prst="rect">
            <a:avLst/>
          </a:prstGeom>
          <a:solidFill>
            <a:srgbClr val="FAFAFA"/>
          </a:solidFill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80666" tIns="40333" rIns="80666" bIns="40333" numCol="1" anchor="ctr" anchorCtr="0" compatLnSpc="1">
            <a:prstTxWarp prst="textNoShape">
              <a:avLst/>
            </a:prstTxWarp>
          </a:bodyPr>
          <a:lstStyle/>
          <a:p>
            <a:pPr algn="ctr" latinLnBrk="1">
              <a:spcBef>
                <a:spcPct val="20000"/>
              </a:spcBef>
              <a:defRPr/>
            </a:pPr>
            <a:r>
              <a:rPr lang="en-US" altLang="ko-KR" sz="1600" b="1" u="sng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Success</a:t>
            </a:r>
            <a:endParaRPr lang="ko-KR" altLang="en-US" sz="1600" b="1" u="sng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직사각형 17">
            <a:extLst>
              <a:ext uri="{FF2B5EF4-FFF2-40B4-BE49-F238E27FC236}">
                <a16:creationId xmlns:a16="http://schemas.microsoft.com/office/drawing/2014/main" id="{C49F34C4-A34F-D5D2-C5A0-2FCBFE2517EB}"/>
              </a:ext>
            </a:extLst>
          </p:cNvPr>
          <p:cNvSpPr/>
          <p:nvPr/>
        </p:nvSpPr>
        <p:spPr>
          <a:xfrm>
            <a:off x="744096" y="2129367"/>
            <a:ext cx="2929345" cy="706577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lvl="0" algn="ctr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4</a:t>
            </a:r>
            <a:r>
              <a:rPr kumimoji="1" lang="ko-KR" altLang="en-US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개월 프로젝트</a:t>
            </a:r>
            <a:endParaRPr kumimoji="1" lang="en-US" altLang="ko-KR" sz="1400" b="1" kern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5" name="직사각형 16">
            <a:extLst>
              <a:ext uri="{FF2B5EF4-FFF2-40B4-BE49-F238E27FC236}">
                <a16:creationId xmlns:a16="http://schemas.microsoft.com/office/drawing/2014/main" id="{9C246AF2-EFDC-C4BF-EAE0-73E4E431B858}"/>
              </a:ext>
            </a:extLst>
          </p:cNvPr>
          <p:cNvSpPr/>
          <p:nvPr/>
        </p:nvSpPr>
        <p:spPr bwMode="gray">
          <a:xfrm>
            <a:off x="4457700" y="1970667"/>
            <a:ext cx="4648200" cy="588954"/>
          </a:xfrm>
          <a:prstGeom prst="rect">
            <a:avLst/>
          </a:prstGeom>
          <a:noFill/>
          <a:ln w="6350" algn="ctr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108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00" eaLnBrk="1" fontAlgn="base" latinLnBrk="1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       주요 마일스톤 중심 체계적 일정 및 성과 관리</a:t>
            </a:r>
            <a:endParaRPr kumimoji="1" lang="en-US" altLang="ko-K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FA5B7E-17A0-F9D6-21A6-E7E51CC1EE13}"/>
              </a:ext>
            </a:extLst>
          </p:cNvPr>
          <p:cNvSpPr txBox="1"/>
          <p:nvPr/>
        </p:nvSpPr>
        <p:spPr>
          <a:xfrm>
            <a:off x="4854574" y="2501449"/>
            <a:ext cx="4648200" cy="654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단계별 목표와 산출물 확정을 통한 진척도 관리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주요 이슈 조기 식별 및 신속한 의사결정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직사각형 17">
            <a:extLst>
              <a:ext uri="{FF2B5EF4-FFF2-40B4-BE49-F238E27FC236}">
                <a16:creationId xmlns:a16="http://schemas.microsoft.com/office/drawing/2014/main" id="{C3B1AD2E-A34B-A67E-9F92-70CEFB856A3D}"/>
              </a:ext>
            </a:extLst>
          </p:cNvPr>
          <p:cNvSpPr/>
          <p:nvPr/>
        </p:nvSpPr>
        <p:spPr>
          <a:xfrm>
            <a:off x="744096" y="4741598"/>
            <a:ext cx="2929344" cy="706577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lvl="0" algn="ctr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kumimoji="1" lang="ko-KR" altLang="en-US" sz="1400" b="1" kern="0">
                <a:latin typeface="Noto Sans KR" panose="020B0200000000000000" pitchFamily="50" charset="-127"/>
                <a:ea typeface="Noto Sans KR" panose="020B0200000000000000" pitchFamily="50" charset="-127"/>
              </a:rPr>
              <a:t> 보안 마스터플랜 수립 </a:t>
            </a:r>
            <a:endParaRPr kumimoji="1" lang="ko-KR" altLang="en-US" sz="1400" b="1" kern="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직사각형 22">
            <a:extLst>
              <a:ext uri="{FF2B5EF4-FFF2-40B4-BE49-F238E27FC236}">
                <a16:creationId xmlns:a16="http://schemas.microsoft.com/office/drawing/2014/main" id="{6575BA40-9424-A7E5-5F7A-C60709B371EF}"/>
              </a:ext>
            </a:extLst>
          </p:cNvPr>
          <p:cNvSpPr/>
          <p:nvPr/>
        </p:nvSpPr>
        <p:spPr bwMode="gray">
          <a:xfrm>
            <a:off x="4457700" y="4805029"/>
            <a:ext cx="4648200" cy="588954"/>
          </a:xfrm>
          <a:prstGeom prst="rect">
            <a:avLst/>
          </a:prstGeom>
          <a:noFill/>
          <a:ln w="6350" algn="ctr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108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중장기 실행 로드맵 수립</a:t>
            </a:r>
            <a:endParaRPr kumimoji="1" lang="en-US" altLang="ko-K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0751C9-EB70-B796-5647-77395EF901EC}"/>
              </a:ext>
            </a:extLst>
          </p:cNvPr>
          <p:cNvSpPr txBox="1"/>
          <p:nvPr/>
        </p:nvSpPr>
        <p:spPr>
          <a:xfrm>
            <a:off x="4854574" y="5352063"/>
            <a:ext cx="4648200" cy="654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경영 리스크와 미래 환경 변화 대비 개선 방향 제시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우선순위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투자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·R&amp;R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명확화</a:t>
            </a:r>
            <a:r>
              <a:rPr kumimoji="1" lang="en-US" altLang="ko-KR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,</a:t>
            </a: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 실행 가능 로드맵 수립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직사각형 17">
            <a:extLst>
              <a:ext uri="{FF2B5EF4-FFF2-40B4-BE49-F238E27FC236}">
                <a16:creationId xmlns:a16="http://schemas.microsoft.com/office/drawing/2014/main" id="{5D8A4F7A-DE7F-43D5-9137-A5A454C758BE}"/>
              </a:ext>
            </a:extLst>
          </p:cNvPr>
          <p:cNvSpPr/>
          <p:nvPr/>
        </p:nvSpPr>
        <p:spPr>
          <a:xfrm>
            <a:off x="744096" y="3435482"/>
            <a:ext cx="2929345" cy="706577"/>
          </a:xfrm>
          <a:prstGeom prst="rect">
            <a:avLst/>
          </a:prstGeom>
          <a:solidFill>
            <a:schemeClr val="bg1"/>
          </a:solidFill>
          <a:ln w="3175" cap="sq" cmpd="sng" algn="ctr">
            <a:solidFill>
              <a:schemeClr val="tx1"/>
            </a:solidFill>
            <a:prstDash val="solid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anchor="ctr"/>
          <a:lstStyle/>
          <a:p>
            <a:pPr lvl="0" algn="ctr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JW</a:t>
            </a:r>
            <a:r>
              <a:rPr kumimoji="1" lang="ko-KR" altLang="en-US" sz="14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전체 인프라 대상</a:t>
            </a:r>
            <a:r>
              <a:rPr kumimoji="1" lang="ko-KR" altLang="en-US" sz="1400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</a:p>
        </p:txBody>
      </p:sp>
      <p:sp>
        <p:nvSpPr>
          <p:cNvPr id="21" name="직사각형 24">
            <a:extLst>
              <a:ext uri="{FF2B5EF4-FFF2-40B4-BE49-F238E27FC236}">
                <a16:creationId xmlns:a16="http://schemas.microsoft.com/office/drawing/2014/main" id="{F64C7A70-0EB3-2C43-315B-33F247C5EFB4}"/>
              </a:ext>
            </a:extLst>
          </p:cNvPr>
          <p:cNvSpPr/>
          <p:nvPr/>
        </p:nvSpPr>
        <p:spPr bwMode="gray">
          <a:xfrm>
            <a:off x="4457700" y="3393602"/>
            <a:ext cx="4648200" cy="588954"/>
          </a:xfrm>
          <a:prstGeom prst="rect">
            <a:avLst/>
          </a:prstGeom>
          <a:noFill/>
          <a:ln w="6350" algn="ctr">
            <a:noFill/>
            <a:round/>
            <a:headEnd/>
            <a:tailEnd/>
          </a:ln>
        </p:spPr>
        <p:txBody>
          <a:bodyPr rot="0" spcFirstLastPara="0" vertOverflow="overflow" horzOverflow="overflow" vert="horz" wrap="square" lIns="108000" tIns="46800" rIns="36000" bIns="468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defTabSz="914400" fontAlgn="base" latinLnBrk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600" b="1" kern="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   </a:t>
            </a: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진단 대상별 특성을 고려한 전문적 진단 수행</a:t>
            </a:r>
            <a:endParaRPr kumimoji="1" lang="en-US" altLang="ko-KR" sz="16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A33E03-175C-3B56-FFE8-E5B02EDE5961}"/>
              </a:ext>
            </a:extLst>
          </p:cNvPr>
          <p:cNvSpPr txBox="1"/>
          <p:nvPr/>
        </p:nvSpPr>
        <p:spPr>
          <a:xfrm>
            <a:off x="4854574" y="3924175"/>
            <a:ext cx="4648200" cy="654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시스템 환경과 중요도를 고려한 진단 계획 관리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49225" marR="0" lvl="0" indent="-149225" defTabSz="91440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분야별 전문인력 투입 및 진단 활동 간 유기적 연계</a:t>
            </a:r>
            <a:endParaRPr kumimoji="1" lang="en-US" altLang="ko-KR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5" name="그림 24" descr="Business plan ">
            <a:extLst>
              <a:ext uri="{FF2B5EF4-FFF2-40B4-BE49-F238E27FC236}">
                <a16:creationId xmlns:a16="http://schemas.microsoft.com/office/drawing/2014/main" id="{39FD1C5B-A0DF-4D86-FC64-F5EB822E8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4082" y="2156191"/>
            <a:ext cx="196570" cy="196570"/>
          </a:xfrm>
          <a:prstGeom prst="rect">
            <a:avLst/>
          </a:prstGeom>
        </p:spPr>
      </p:pic>
      <p:sp>
        <p:nvSpPr>
          <p:cNvPr id="29" name="S417">
            <a:extLst>
              <a:ext uri="{FF2B5EF4-FFF2-40B4-BE49-F238E27FC236}">
                <a16:creationId xmlns:a16="http://schemas.microsoft.com/office/drawing/2014/main" id="{9279D22C-05FD-EC0B-E1D9-58297A140D05}"/>
              </a:ext>
            </a:extLst>
          </p:cNvPr>
          <p:cNvSpPr/>
          <p:nvPr/>
        </p:nvSpPr>
        <p:spPr>
          <a:xfrm>
            <a:off x="4527634" y="3544722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S417">
            <a:extLst>
              <a:ext uri="{FF2B5EF4-FFF2-40B4-BE49-F238E27FC236}">
                <a16:creationId xmlns:a16="http://schemas.microsoft.com/office/drawing/2014/main" id="{67F74DA8-F801-252D-FD4D-F3407E179B8A}"/>
              </a:ext>
            </a:extLst>
          </p:cNvPr>
          <p:cNvSpPr/>
          <p:nvPr/>
        </p:nvSpPr>
        <p:spPr>
          <a:xfrm>
            <a:off x="4525600" y="4951530"/>
            <a:ext cx="297750" cy="286714"/>
          </a:xfrm>
          <a:prstGeom prst="flowChartAlternateProcess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lIns="0" tIns="27000" rIns="0" bIns="27000" anchor="ctr">
            <a:noAutofit/>
          </a:bodyPr>
          <a:lstStyle/>
          <a:p>
            <a:pPr algn="ctr">
              <a:spcBef>
                <a:spcPts val="200"/>
              </a:spcBef>
            </a:pPr>
            <a:endParaRPr lang="ko-KR" altLang="en-US" sz="16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그림 36" descr="Mentor ">
            <a:extLst>
              <a:ext uri="{FF2B5EF4-FFF2-40B4-BE49-F238E27FC236}">
                <a16:creationId xmlns:a16="http://schemas.microsoft.com/office/drawing/2014/main" id="{F0F5E864-4365-03A2-0A72-1E976F1615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292" y="3592436"/>
            <a:ext cx="191288" cy="191288"/>
          </a:xfrm>
          <a:prstGeom prst="rect">
            <a:avLst/>
          </a:prstGeom>
        </p:spPr>
      </p:pic>
      <p:pic>
        <p:nvPicPr>
          <p:cNvPr id="38" name="그림 37" descr="Road map ">
            <a:extLst>
              <a:ext uri="{FF2B5EF4-FFF2-40B4-BE49-F238E27FC236}">
                <a16:creationId xmlns:a16="http://schemas.microsoft.com/office/drawing/2014/main" id="{8E88423C-D605-24F4-C87B-0667DC8B9B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4082" y="4986638"/>
            <a:ext cx="216498" cy="216498"/>
          </a:xfrm>
          <a:prstGeom prst="rect">
            <a:avLst/>
          </a:prstGeom>
        </p:spPr>
      </p:pic>
      <p:sp>
        <p:nvSpPr>
          <p:cNvPr id="39" name="Rectangle 99">
            <a:extLst>
              <a:ext uri="{FF2B5EF4-FFF2-40B4-BE49-F238E27FC236}">
                <a16:creationId xmlns:a16="http://schemas.microsoft.com/office/drawing/2014/main" id="{3995B097-F354-B682-A0BB-8B0592E5EDA9}"/>
              </a:ext>
            </a:extLst>
          </p:cNvPr>
          <p:cNvSpPr/>
          <p:nvPr/>
        </p:nvSpPr>
        <p:spPr>
          <a:xfrm>
            <a:off x="4481293" y="1494533"/>
            <a:ext cx="4927096" cy="370019"/>
          </a:xfrm>
          <a:prstGeom prst="rect">
            <a:avLst/>
          </a:prstGeom>
          <a:solidFill>
            <a:schemeClr val="tx1"/>
          </a:soli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Success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253C046-A1FB-15E0-8AF2-6A2F677D0AFA}"/>
              </a:ext>
            </a:extLst>
          </p:cNvPr>
          <p:cNvSpPr txBox="1"/>
          <p:nvPr/>
        </p:nvSpPr>
        <p:spPr>
          <a:xfrm>
            <a:off x="1520890" y="1679542"/>
            <a:ext cx="13682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Concern</a:t>
            </a:r>
            <a:endParaRPr lang="ko-KR" altLang="en-US" sz="14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2F2BC6F0-051A-DFB6-922F-AD608C6A1AE1}"/>
              </a:ext>
            </a:extLst>
          </p:cNvPr>
          <p:cNvGrpSpPr/>
          <p:nvPr/>
        </p:nvGrpSpPr>
        <p:grpSpPr>
          <a:xfrm>
            <a:off x="2064628" y="3006182"/>
            <a:ext cx="280815" cy="259061"/>
            <a:chOff x="-364074" y="2623204"/>
            <a:chExt cx="606489" cy="559506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7403BD42-32AC-5645-1555-AC5E34002BF8}"/>
                </a:ext>
              </a:extLst>
            </p:cNvPr>
            <p:cNvSpPr/>
            <p:nvPr/>
          </p:nvSpPr>
          <p:spPr>
            <a:xfrm>
              <a:off x="-322543" y="2649894"/>
              <a:ext cx="523427" cy="50612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더하기 기호 49">
              <a:extLst>
                <a:ext uri="{FF2B5EF4-FFF2-40B4-BE49-F238E27FC236}">
                  <a16:creationId xmlns:a16="http://schemas.microsoft.com/office/drawing/2014/main" id="{434EF6D0-AE10-C9E2-5EE7-8FE7611887C0}"/>
                </a:ext>
              </a:extLst>
            </p:cNvPr>
            <p:cNvSpPr/>
            <p:nvPr/>
          </p:nvSpPr>
          <p:spPr>
            <a:xfrm>
              <a:off x="-364074" y="2623204"/>
              <a:ext cx="606489" cy="559506"/>
            </a:xfrm>
            <a:prstGeom prst="mathPlus">
              <a:avLst>
                <a:gd name="adj1" fmla="val 171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2D260CE3-B41A-B139-A79D-0CEF3F0C12B6}"/>
              </a:ext>
            </a:extLst>
          </p:cNvPr>
          <p:cNvGrpSpPr/>
          <p:nvPr/>
        </p:nvGrpSpPr>
        <p:grpSpPr>
          <a:xfrm>
            <a:off x="2068191" y="4312298"/>
            <a:ext cx="280815" cy="259061"/>
            <a:chOff x="-364074" y="2623204"/>
            <a:chExt cx="606489" cy="559506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93C154C0-89B7-0C73-1A02-4D8657552D81}"/>
                </a:ext>
              </a:extLst>
            </p:cNvPr>
            <p:cNvSpPr/>
            <p:nvPr/>
          </p:nvSpPr>
          <p:spPr>
            <a:xfrm>
              <a:off x="-322543" y="2649894"/>
              <a:ext cx="523427" cy="50612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8" name="더하기 기호 57">
              <a:extLst>
                <a:ext uri="{FF2B5EF4-FFF2-40B4-BE49-F238E27FC236}">
                  <a16:creationId xmlns:a16="http://schemas.microsoft.com/office/drawing/2014/main" id="{870E491C-03D4-762B-30A7-F9F7643D80A2}"/>
                </a:ext>
              </a:extLst>
            </p:cNvPr>
            <p:cNvSpPr/>
            <p:nvPr/>
          </p:nvSpPr>
          <p:spPr>
            <a:xfrm>
              <a:off x="-364074" y="2623204"/>
              <a:ext cx="606489" cy="559506"/>
            </a:xfrm>
            <a:prstGeom prst="mathPlus">
              <a:avLst>
                <a:gd name="adj1" fmla="val 17146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1" name="화살표: 갈매기형 수장 60">
            <a:extLst>
              <a:ext uri="{FF2B5EF4-FFF2-40B4-BE49-F238E27FC236}">
                <a16:creationId xmlns:a16="http://schemas.microsoft.com/office/drawing/2014/main" id="{54667492-54F9-1AB2-01EA-016C8A9D7331}"/>
              </a:ext>
            </a:extLst>
          </p:cNvPr>
          <p:cNvSpPr/>
          <p:nvPr/>
        </p:nvSpPr>
        <p:spPr>
          <a:xfrm>
            <a:off x="4005221" y="2295901"/>
            <a:ext cx="254040" cy="2975646"/>
          </a:xfrm>
          <a:prstGeom prst="chevron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96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71240-A29A-1A39-D5C8-5AD0125F3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6E17CDB1-7AC7-6773-AA0D-9C65301E2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739" y="1"/>
            <a:ext cx="9620523" cy="824467"/>
          </a:xfrm>
        </p:spPr>
        <p:txBody>
          <a:bodyPr/>
          <a:lstStyle/>
          <a:p>
            <a:r>
              <a:rPr lang="ko-KR" altLang="en-US" dirty="0">
                <a:latin typeface="Noto Sans KR" panose="020B0200000000000000" pitchFamily="50" charset="-127"/>
                <a:ea typeface="Noto Sans KR" panose="020B0200000000000000" pitchFamily="50" charset="-127"/>
              </a:rPr>
              <a:t>식별된 주요 보안 리스크</a:t>
            </a:r>
          </a:p>
        </p:txBody>
      </p:sp>
      <p:grpSp>
        <p:nvGrpSpPr>
          <p:cNvPr id="27" name="그룹 3">
            <a:extLst>
              <a:ext uri="{FF2B5EF4-FFF2-40B4-BE49-F238E27FC236}">
                <a16:creationId xmlns:a16="http://schemas.microsoft.com/office/drawing/2014/main" id="{F61FF106-5485-69E3-BC69-17C73D05CEE9}"/>
              </a:ext>
            </a:extLst>
          </p:cNvPr>
          <p:cNvGrpSpPr/>
          <p:nvPr/>
        </p:nvGrpSpPr>
        <p:grpSpPr>
          <a:xfrm>
            <a:off x="354657" y="1313669"/>
            <a:ext cx="4598343" cy="341270"/>
            <a:chOff x="504033" y="1666414"/>
            <a:chExt cx="4370046" cy="314786"/>
          </a:xfrm>
        </p:grpSpPr>
        <p:sp>
          <p:nvSpPr>
            <p:cNvPr id="28" name="Text Box 10">
              <a:extLst>
                <a:ext uri="{FF2B5EF4-FFF2-40B4-BE49-F238E27FC236}">
                  <a16:creationId xmlns:a16="http://schemas.microsoft.com/office/drawing/2014/main" id="{454EB185-C4E3-8F28-1A6E-C8AE997B79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033" y="1666414"/>
              <a:ext cx="4370045" cy="28733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 lIns="0" tIns="0" rIns="0" bIns="0" anchor="ctr"/>
            <a:lstStyle/>
            <a:p>
              <a:pPr marL="0" marR="0" lvl="0" indent="0" algn="ctr" defTabSz="977172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1028671" algn="l"/>
                </a:tabLst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Noto Sans KR" panose="020B0200000000000000" pitchFamily="50" charset="-127"/>
                  <a:ea typeface="Noto Sans KR" panose="020B0200000000000000" pitchFamily="50" charset="-127"/>
                </a:rPr>
                <a:t>주요 보안 </a:t>
              </a:r>
              <a:r>
                <a:rPr lang="ko-KR" altLang="en-US" sz="1400" b="1" kern="0" dirty="0">
                  <a:solidFill>
                    <a:sysClr val="windowText" lastClr="000000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리스크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cxnSp>
          <p:nvCxnSpPr>
            <p:cNvPr id="29" name="직선 연결선 17">
              <a:extLst>
                <a:ext uri="{FF2B5EF4-FFF2-40B4-BE49-F238E27FC236}">
                  <a16:creationId xmlns:a16="http://schemas.microsoft.com/office/drawing/2014/main" id="{15CBDF0D-7406-C841-94DA-30B98DED698D}"/>
                </a:ext>
              </a:extLst>
            </p:cNvPr>
            <p:cNvCxnSpPr>
              <a:cxnSpLocks/>
            </p:cNvCxnSpPr>
            <p:nvPr/>
          </p:nvCxnSpPr>
          <p:spPr>
            <a:xfrm>
              <a:off x="506186" y="1981200"/>
              <a:ext cx="4367893" cy="0"/>
            </a:xfrm>
            <a:prstGeom prst="line">
              <a:avLst/>
            </a:prstGeom>
            <a:noFill/>
            <a:ln w="12700" cap="sq" cmpd="sng" algn="ctr">
              <a:solidFill>
                <a:sysClr val="windowText" lastClr="000000"/>
              </a:solidFill>
              <a:prstDash val="solid"/>
              <a:miter lim="800000"/>
            </a:ln>
            <a:effectLst/>
          </p:spPr>
        </p:cxn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F349719B-C6DC-4ED6-42D3-79D8D2911DA2}"/>
              </a:ext>
            </a:extLst>
          </p:cNvPr>
          <p:cNvSpPr txBox="1"/>
          <p:nvPr/>
        </p:nvSpPr>
        <p:spPr>
          <a:xfrm>
            <a:off x="1366959" y="1884549"/>
            <a:ext cx="3586041" cy="1373527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 err="1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JWPMall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웹 방화벽 부재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단순 공격에도 침해 가능</a:t>
            </a:r>
            <a:endParaRPr lang="en-US" altLang="ko-KR" sz="1200" dirty="0">
              <a:solidFill>
                <a:prstClr val="black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216000">
              <a:lnSpc>
                <a:spcPct val="130000"/>
              </a:lnSpc>
              <a:spcAft>
                <a:spcPts val="600"/>
              </a:spcAft>
            </a:pPr>
            <a:r>
              <a:rPr lang="en-US" altLang="ko-KR" sz="1200" b="1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‘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26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년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Novo</a:t>
            </a:r>
            <a:r>
              <a:rPr lang="ko-KR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ko-KR" sz="12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Nordisk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웹 취약점 악용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b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   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임상 데이터 유출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" name="Rectangle 13">
            <a:extLst>
              <a:ext uri="{FF2B5EF4-FFF2-40B4-BE49-F238E27FC236}">
                <a16:creationId xmlns:a16="http://schemas.microsoft.com/office/drawing/2014/main" id="{01455A9B-490D-EFC6-0C26-DEE12AA4B3DC}"/>
              </a:ext>
            </a:extLst>
          </p:cNvPr>
          <p:cNvSpPr/>
          <p:nvPr/>
        </p:nvSpPr>
        <p:spPr>
          <a:xfrm>
            <a:off x="354657" y="1884549"/>
            <a:ext cx="882520" cy="13735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</a:ln>
          <a:effectLst/>
        </p:spPr>
        <p:txBody>
          <a:bodyPr lIns="36000" r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보안 솔루션</a:t>
            </a:r>
            <a:r>
              <a:rPr lang="en-US" altLang="ko-KR" sz="12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미흡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BEDB924F-A3A0-A122-7ADF-007E163413A5}"/>
              </a:ext>
            </a:extLst>
          </p:cNvPr>
          <p:cNvSpPr/>
          <p:nvPr/>
        </p:nvSpPr>
        <p:spPr>
          <a:xfrm>
            <a:off x="354657" y="3351136"/>
            <a:ext cx="882520" cy="13735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외주업체 관리 미흡</a:t>
            </a:r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16B2DE4-CD8B-55F6-D457-FD64560EBD08}"/>
              </a:ext>
            </a:extLst>
          </p:cNvPr>
          <p:cNvSpPr/>
          <p:nvPr/>
        </p:nvSpPr>
        <p:spPr>
          <a:xfrm>
            <a:off x="354657" y="4817723"/>
            <a:ext cx="882520" cy="137352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19050" cap="flat" cmpd="sng" algn="ctr">
            <a:solidFill>
              <a:srgbClr val="7F7F7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 KR" panose="020B0200000000000000" pitchFamily="50" charset="-127"/>
                <a:ea typeface="Noto Sans KR" panose="020B0200000000000000" pitchFamily="50" charset="-127"/>
              </a:rPr>
              <a:t>자산도입 프로세스 미흡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2C72D8-0979-1C18-64DD-156F60D5E609}"/>
              </a:ext>
            </a:extLst>
          </p:cNvPr>
          <p:cNvSpPr txBox="1"/>
          <p:nvPr/>
        </p:nvSpPr>
        <p:spPr>
          <a:xfrm>
            <a:off x="1360927" y="3351135"/>
            <a:ext cx="3586041" cy="1373527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Cloud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관리 업체가 관리자 권한 계정 보유</a:t>
            </a:r>
          </a:p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 계정으로 전 인프라 삭제 가능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83825A-75B4-ADB0-9605-DE951E1EF578}"/>
              </a:ext>
            </a:extLst>
          </p:cNvPr>
          <p:cNvSpPr txBox="1"/>
          <p:nvPr/>
        </p:nvSpPr>
        <p:spPr>
          <a:xfrm>
            <a:off x="1360929" y="4817723"/>
            <a:ext cx="3586040" cy="1373527"/>
          </a:xfrm>
          <a:prstGeom prst="rect">
            <a:avLst/>
          </a:prstGeom>
          <a:noFill/>
          <a:ln>
            <a:noFill/>
          </a:ln>
        </p:spPr>
        <p:txBody>
          <a:bodyPr wrap="square" lIns="72000" tIns="72000" rIns="72000" bIns="72000" rtlCol="0" anchor="ctr">
            <a:noAutofit/>
          </a:bodyPr>
          <a:lstStyle/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자산 도입 시</a:t>
            </a:r>
            <a: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IT</a:t>
            </a: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기획팀 및 정보보안팀 미 검토 사례 발견</a:t>
            </a:r>
          </a:p>
          <a:p>
            <a:pPr marL="172800" indent="-172800">
              <a:lnSpc>
                <a:spcPct val="13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발견된 사례의 자산 계약서에 보안 요건 부재</a:t>
            </a:r>
          </a:p>
        </p:txBody>
      </p:sp>
      <p:sp>
        <p:nvSpPr>
          <p:cNvPr id="15" name="Rectangle 21">
            <a:extLst>
              <a:ext uri="{FF2B5EF4-FFF2-40B4-BE49-F238E27FC236}">
                <a16:creationId xmlns:a16="http://schemas.microsoft.com/office/drawing/2014/main" id="{0F5ABB75-7CD5-6E7C-68FA-8C54591B5AB5}"/>
              </a:ext>
            </a:extLst>
          </p:cNvPr>
          <p:cNvSpPr/>
          <p:nvPr/>
        </p:nvSpPr>
        <p:spPr>
          <a:xfrm>
            <a:off x="5165529" y="1250301"/>
            <a:ext cx="4221540" cy="404637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lIns="108000" rIns="36000" rtlCol="0" anchor="ctr"/>
          <a:lstStyle/>
          <a:p>
            <a:pPr algn="ctr" defTabSz="914400">
              <a:spcAft>
                <a:spcPts val="600"/>
              </a:spcAft>
            </a:pPr>
            <a:r>
              <a:rPr lang="ko-KR" altLang="en-US" sz="1400" b="1" kern="0" dirty="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현황 및 개선 권고 사항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8945CD4-23B6-5AA1-6AB8-06E1CB410896}"/>
              </a:ext>
            </a:extLst>
          </p:cNvPr>
          <p:cNvSpPr txBox="1"/>
          <p:nvPr/>
        </p:nvSpPr>
        <p:spPr>
          <a:xfrm>
            <a:off x="5165529" y="1877593"/>
            <a:ext cx="4221540" cy="13735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172800" indent="-172800">
              <a:lnSpc>
                <a:spcPct val="130000"/>
              </a:lnSpc>
              <a:buFont typeface="Wingdings" panose="05000000000000000000" pitchFamily="2" charset="2"/>
              <a:buChar char="§"/>
              <a:defRPr sz="12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pPr>
              <a:lnSpc>
                <a:spcPct val="160000"/>
              </a:lnSpc>
              <a:spcAft>
                <a:spcPts val="600"/>
              </a:spcAft>
            </a:pPr>
            <a:r>
              <a:rPr lang="en-US" altLang="ko-KR" dirty="0" err="1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JWPmall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의 소스코드 및 배포 이력 관리는 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’25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년 대비 개선</a:t>
            </a:r>
            <a:endParaRPr lang="en-US" altLang="ko-KR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  <a:spcAft>
                <a:spcPts val="1200"/>
              </a:spcAft>
            </a:pP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고객정보 유출 리스크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사업부서와 웹 방화벽 도입 논의 필요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</a:t>
            </a:r>
            <a:r>
              <a:rPr lang="en-US" altLang="ko-KR" b="1" dirty="0" err="1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JWPMall</a:t>
            </a: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웹 공격 </a:t>
            </a: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1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차 방어선 구축으로 운영 안전성 확보</a:t>
            </a:r>
            <a:endParaRPr lang="en-US" altLang="ko-KR" b="1" dirty="0">
              <a:solidFill>
                <a:srgbClr val="00438E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149694-A1AE-E6B1-1A8F-31E1A252E4AA}"/>
              </a:ext>
            </a:extLst>
          </p:cNvPr>
          <p:cNvSpPr txBox="1"/>
          <p:nvPr/>
        </p:nvSpPr>
        <p:spPr>
          <a:xfrm>
            <a:off x="5165529" y="3351135"/>
            <a:ext cx="4221540" cy="1373527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 marL="172800" indent="-172800">
              <a:lnSpc>
                <a:spcPct val="130000"/>
              </a:lnSpc>
              <a:buFont typeface="Wingdings" panose="05000000000000000000" pitchFamily="2" charset="2"/>
              <a:buChar char="§"/>
              <a:defRPr sz="1200">
                <a:solidFill>
                  <a:prstClr val="black"/>
                </a:solidFill>
                <a:latin typeface="Aptos" panose="02110004020202020204"/>
              </a:defRPr>
            </a:lvl1pPr>
          </a:lstStyle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클라우드 유지 보수 업체를 통한 유지보수 및 운영 관리</a:t>
            </a:r>
            <a:endParaRPr lang="en-US" altLang="ko-KR" dirty="0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>
              <a:lnSpc>
                <a:spcPct val="160000"/>
              </a:lnSpc>
              <a:spcBef>
                <a:spcPts val="600"/>
              </a:spcBef>
            </a:pP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과도 권한 리스크</a:t>
            </a:r>
            <a:r>
              <a:rPr lang="en-US" altLang="ko-KR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사업부서와 논의하여 최소 권한 발급 필요 </a:t>
            </a:r>
            <a:br>
              <a:rPr lang="en-US" altLang="ko-KR" dirty="0"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</a:t>
            </a:r>
            <a:r>
              <a:rPr lang="ko-KR" altLang="en-US" b="1" dirty="0" err="1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외주자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보안 및 </a:t>
            </a:r>
            <a:r>
              <a:rPr lang="en-US" altLang="ko-KR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Cloud</a:t>
            </a:r>
            <a:r>
              <a:rPr lang="ko-KR" altLang="en-US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 계정 권한 관리 강화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A8E19F-2A51-C750-1F5C-966F87472AB8}"/>
              </a:ext>
            </a:extLst>
          </p:cNvPr>
          <p:cNvSpPr txBox="1"/>
          <p:nvPr/>
        </p:nvSpPr>
        <p:spPr>
          <a:xfrm>
            <a:off x="5165529" y="4817722"/>
            <a:ext cx="4221540" cy="1373526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marL="171450" indent="-171450">
              <a:lnSpc>
                <a:spcPct val="16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사후에 식별된 자산은 빠짐없이 보안성 검토 활동</a:t>
            </a:r>
            <a:endParaRPr lang="en-US" altLang="ko-KR" sz="12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marL="171450" indent="-171450">
              <a:lnSpc>
                <a:spcPct val="16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취약점 잔존 리스크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자산 도입 전</a:t>
            </a:r>
            <a:r>
              <a:rPr lang="en-US" altLang="ko-KR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12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보안성 검토 프로세스 의무화 필요</a:t>
            </a:r>
            <a:br>
              <a:rPr lang="en-US" altLang="ko-KR" sz="1200" dirty="0">
                <a:solidFill>
                  <a:prstClr val="black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r>
              <a:rPr lang="en-US" altLang="ko-KR" sz="1200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 </a:t>
            </a:r>
            <a:r>
              <a:rPr lang="ko-KR" altLang="en-US" sz="1200" b="1" dirty="0">
                <a:solidFill>
                  <a:srgbClr val="00438E"/>
                </a:solidFill>
                <a:latin typeface="Noto Sans KR" panose="020B0200000000000000" pitchFamily="50" charset="-127"/>
                <a:ea typeface="Noto Sans KR" panose="020B0200000000000000" pitchFamily="50" charset="-127"/>
                <a:sym typeface="Wingdings" panose="05000000000000000000" pitchFamily="2" charset="2"/>
              </a:rPr>
              <a:t>자산 도입 부터 누락 없는 보안 요건 관리</a:t>
            </a:r>
          </a:p>
        </p:txBody>
      </p:sp>
      <p:sp>
        <p:nvSpPr>
          <p:cNvPr id="3" name="슬라이드 번호 개체 틀 11">
            <a:extLst>
              <a:ext uri="{FF2B5EF4-FFF2-40B4-BE49-F238E27FC236}">
                <a16:creationId xmlns:a16="http://schemas.microsoft.com/office/drawing/2014/main" id="{B2758847-E6C4-D32D-B559-EDE6FB5E5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5687" y="6425557"/>
            <a:ext cx="485062" cy="226714"/>
          </a:xfrm>
        </p:spPr>
        <p:txBody>
          <a:bodyPr/>
          <a:lstStyle>
            <a:lvl1pPr algn="ctr">
              <a:defRPr sz="100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defRPr>
            </a:lvl1pPr>
          </a:lstStyle>
          <a:p>
            <a:fld id="{48F63A3B-78C7-47BE-AE5E-E10140E04643}" type="slidenum">
              <a:rPr lang="en-US" smtClean="0"/>
              <a:pPr/>
              <a:t>25</a:t>
            </a:fld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3ACAD46-8D3D-C716-3D29-AA0400711E06}"/>
              </a:ext>
            </a:extLst>
          </p:cNvPr>
          <p:cNvCxnSpPr>
            <a:cxnSpLocks/>
          </p:cNvCxnSpPr>
          <p:nvPr/>
        </p:nvCxnSpPr>
        <p:spPr>
          <a:xfrm>
            <a:off x="354657" y="3312351"/>
            <a:ext cx="903241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045ACCAE-8C26-8139-2775-35CA7C7E070A}"/>
              </a:ext>
            </a:extLst>
          </p:cNvPr>
          <p:cNvCxnSpPr>
            <a:cxnSpLocks/>
          </p:cNvCxnSpPr>
          <p:nvPr/>
        </p:nvCxnSpPr>
        <p:spPr>
          <a:xfrm>
            <a:off x="354657" y="4778660"/>
            <a:ext cx="9032412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5042A3FF-7FFF-B7CD-83E6-2A214F16ED9F}"/>
              </a:ext>
            </a:extLst>
          </p:cNvPr>
          <p:cNvCxnSpPr>
            <a:cxnSpLocks/>
          </p:cNvCxnSpPr>
          <p:nvPr/>
        </p:nvCxnSpPr>
        <p:spPr>
          <a:xfrm>
            <a:off x="5038531" y="1884549"/>
            <a:ext cx="0" cy="436100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F8E3966-92D8-66EE-E636-FAECAE57DC90}"/>
              </a:ext>
            </a:extLst>
          </p:cNvPr>
          <p:cNvSpPr txBox="1"/>
          <p:nvPr/>
        </p:nvSpPr>
        <p:spPr>
          <a:xfrm>
            <a:off x="-1017037" y="376956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83981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4A6F2AD-0B66-83FD-35FD-2AA50B9E4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7655756"/>
              </p:ext>
            </p:extLst>
          </p:nvPr>
        </p:nvGraphicFramePr>
        <p:xfrm>
          <a:off x="1214425" y="2927927"/>
          <a:ext cx="7457379" cy="1002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7379">
                  <a:extLst>
                    <a:ext uri="{9D8B030D-6E8A-4147-A177-3AD203B41FA5}">
                      <a16:colId xmlns:a16="http://schemas.microsoft.com/office/drawing/2014/main" val="1762691831"/>
                    </a:ext>
                  </a:extLst>
                </a:gridCol>
              </a:tblGrid>
              <a:tr h="100214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4800" b="1" dirty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감사합니다</a:t>
                      </a:r>
                    </a:p>
                  </a:txBody>
                  <a:tcPr marL="74081" marR="74081" marT="41564" marB="41564" anchor="ctr">
                    <a:lnL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7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51768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95889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SHAPE" val="Text box"/>
  <p:tag name="FIXEDPOSITION" val="T"/>
  <p:tag name="SYMBOL" val="Text box"/>
  <p:tag name="SYMBOLCOLOR" val="singl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SHAPE" val="Text box"/>
  <p:tag name="FIXEDPOSITION" val="T"/>
  <p:tag name="SYMBOL" val="Text box"/>
  <p:tag name="SYMBOLCOLOR" val="singl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SHAPE" val="Text box"/>
  <p:tag name="FIXEDPOSITION" val="T"/>
  <p:tag name="SYMBOL" val="Text box"/>
  <p:tag name="SYMBOLCOLOR" val="singl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LOCATIONTITLE" val="T"/>
  <p:tag name="TITLEBOTTOM_" val="740.6771_124.7653"/>
  <p:tag name="TITLEPOS_" val="411.2296_106.923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YNAMICLOCATIONTITLE" val="T"/>
  <p:tag name="TITLEBOTTOM_" val="321.1247_124.7654"/>
  <p:tag name="TITLEPOS_" val="47.48575_104.5001"/>
</p:tagLst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Y">
    <a:dk1>
      <a:srgbClr val="000000"/>
    </a:dk1>
    <a:lt1>
      <a:srgbClr val="FFFFFF"/>
    </a:lt1>
    <a:dk2>
      <a:srgbClr val="1A1A24"/>
    </a:dk2>
    <a:lt2>
      <a:srgbClr val="FFE600"/>
    </a:lt2>
    <a:accent1>
      <a:srgbClr val="2DB757"/>
    </a:accent1>
    <a:accent2>
      <a:srgbClr val="27ACAA"/>
    </a:accent2>
    <a:accent3>
      <a:srgbClr val="188CE5"/>
    </a:accent3>
    <a:accent4>
      <a:srgbClr val="750E5C"/>
    </a:accent4>
    <a:accent5>
      <a:srgbClr val="FF4136"/>
    </a:accent5>
    <a:accent6>
      <a:srgbClr val="FF6D00"/>
    </a:accent6>
    <a:hlink>
      <a:srgbClr val="2DB757"/>
    </a:hlink>
    <a:folHlink>
      <a:srgbClr val="2DB757"/>
    </a:folHlink>
  </a:clrScheme>
  <a:fontScheme name="사용자 지정 9">
    <a:majorFont>
      <a:latin typeface="Aptos Display (제목)"/>
      <a:ea typeface="맑은 고딕"/>
      <a:cs typeface=""/>
    </a:majorFont>
    <a:minorFont>
      <a:latin typeface="Aptos"/>
      <a:ea typeface="맑은 고딕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EY">
    <a:dk1>
      <a:srgbClr val="000000"/>
    </a:dk1>
    <a:lt1>
      <a:srgbClr val="FFFFFF"/>
    </a:lt1>
    <a:dk2>
      <a:srgbClr val="1A1A24"/>
    </a:dk2>
    <a:lt2>
      <a:srgbClr val="FFE600"/>
    </a:lt2>
    <a:accent1>
      <a:srgbClr val="2DB757"/>
    </a:accent1>
    <a:accent2>
      <a:srgbClr val="27ACAA"/>
    </a:accent2>
    <a:accent3>
      <a:srgbClr val="188CE5"/>
    </a:accent3>
    <a:accent4>
      <a:srgbClr val="750E5C"/>
    </a:accent4>
    <a:accent5>
      <a:srgbClr val="FF4136"/>
    </a:accent5>
    <a:accent6>
      <a:srgbClr val="FF6D00"/>
    </a:accent6>
    <a:hlink>
      <a:srgbClr val="2DB757"/>
    </a:hlink>
    <a:folHlink>
      <a:srgbClr val="2DB757"/>
    </a:folHlink>
  </a:clrScheme>
  <a:fontScheme name="사용자 지정 9">
    <a:majorFont>
      <a:latin typeface="Aptos Display (제목)"/>
      <a:ea typeface="맑은 고딕"/>
      <a:cs typeface=""/>
    </a:majorFont>
    <a:minorFont>
      <a:latin typeface="Aptos"/>
      <a:ea typeface="맑은 고딕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EY">
    <a:dk1>
      <a:srgbClr val="000000"/>
    </a:dk1>
    <a:lt1>
      <a:srgbClr val="FFFFFF"/>
    </a:lt1>
    <a:dk2>
      <a:srgbClr val="1A1A24"/>
    </a:dk2>
    <a:lt2>
      <a:srgbClr val="FFE600"/>
    </a:lt2>
    <a:accent1>
      <a:srgbClr val="2DB757"/>
    </a:accent1>
    <a:accent2>
      <a:srgbClr val="27ACAA"/>
    </a:accent2>
    <a:accent3>
      <a:srgbClr val="188CE5"/>
    </a:accent3>
    <a:accent4>
      <a:srgbClr val="750E5C"/>
    </a:accent4>
    <a:accent5>
      <a:srgbClr val="FF4136"/>
    </a:accent5>
    <a:accent6>
      <a:srgbClr val="FF6D00"/>
    </a:accent6>
    <a:hlink>
      <a:srgbClr val="2DB757"/>
    </a:hlink>
    <a:folHlink>
      <a:srgbClr val="2DB757"/>
    </a:folHlink>
  </a:clrScheme>
  <a:fontScheme name="사용자 지정 9">
    <a:majorFont>
      <a:latin typeface="Aptos Display (제목)"/>
      <a:ea typeface="맑은 고딕"/>
      <a:cs typeface=""/>
    </a:majorFont>
    <a:minorFont>
      <a:latin typeface="Aptos"/>
      <a:ea typeface="맑은 고딕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6676</TotalTime>
  <Words>3332</Words>
  <Application>Microsoft Office PowerPoint</Application>
  <PresentationFormat>A4 용지(210x297mm)</PresentationFormat>
  <Paragraphs>643</Paragraphs>
  <Slides>26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5" baseType="lpstr">
      <vt:lpstr>Noto Sans KR</vt:lpstr>
      <vt:lpstr>맑은 고딕</vt:lpstr>
      <vt:lpstr>Arial</vt:lpstr>
      <vt:lpstr>Calibri</vt:lpstr>
      <vt:lpstr>Calibri Light</vt:lpstr>
      <vt:lpstr>Noto Sans</vt:lpstr>
      <vt:lpstr>Wingdings</vt:lpstr>
      <vt:lpstr>Office 2013 - 2022 테마</vt:lpstr>
      <vt:lpstr>Visio</vt:lpstr>
      <vt:lpstr>PowerPoint 프레젠테이션</vt:lpstr>
      <vt:lpstr>목차</vt:lpstr>
      <vt:lpstr>PowerPoint 프레젠테이션</vt:lpstr>
      <vt:lpstr>프로젝트 추진</vt:lpstr>
      <vt:lpstr>바이오 제약 산업 내 사이버 리스크 현황</vt:lpstr>
      <vt:lpstr>JW 잠재적 위협 시나리오(1) - 고객정보 유출 리스크</vt:lpstr>
      <vt:lpstr>JW 잠재적 위협 시나리오(2) - 생산 및 물류 중단 리스크</vt:lpstr>
      <vt:lpstr>JW 잠재적 위협 시나리오(3) - 연구소 데이터 유출 리스크</vt:lpstr>
      <vt:lpstr>Global 바이오 제약 핵심 자산 보호 및 Cyber 대응 동향</vt:lpstr>
      <vt:lpstr>PowerPoint 프레젠테이션</vt:lpstr>
      <vt:lpstr>수행 Approach</vt:lpstr>
      <vt:lpstr>        관리체계 진단</vt:lpstr>
      <vt:lpstr>[상세] EY CPA 기반 보안 성숙도 진단</vt:lpstr>
      <vt:lpstr>        인프라 및 시스템  진단</vt:lpstr>
      <vt:lpstr>[상세] 주요정보통신시설 인프라 취약점 진단 항목</vt:lpstr>
      <vt:lpstr>[상세] 진단 내용 상세</vt:lpstr>
      <vt:lpstr>        모의해킹 기반 검증</vt:lpstr>
      <vt:lpstr>PowerPoint 프레젠테이션</vt:lpstr>
      <vt:lpstr>프로젝트가 가져올 JW 보안의 변화</vt:lpstr>
      <vt:lpstr>PowerPoint 프레젠테이션</vt:lpstr>
      <vt:lpstr>수행일정</vt:lpstr>
      <vt:lpstr>프로젝트 추진체계 및 수행조직</vt:lpstr>
      <vt:lpstr>PowerPoint 프레젠테이션</vt:lpstr>
      <vt:lpstr>프로젝트 성공을 위한 핵심 협조사항</vt:lpstr>
      <vt:lpstr>식별된 주요 보안 리스크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유니코드</dc:creator>
  <cp:lastModifiedBy>Administrator</cp:lastModifiedBy>
  <cp:revision>538</cp:revision>
  <dcterms:created xsi:type="dcterms:W3CDTF">2019-10-16T11:31:37Z</dcterms:created>
  <dcterms:modified xsi:type="dcterms:W3CDTF">2026-10-28T06:07:52Z</dcterms:modified>
</cp:coreProperties>
</file>