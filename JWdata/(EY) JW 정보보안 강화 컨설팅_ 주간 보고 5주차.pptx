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handoutMasterIdLst>
    <p:handoutMasterId r:id="rId9"/>
  </p:handoutMasterIdLst>
  <p:sldIdLst>
    <p:sldId id="256" r:id="rId2"/>
    <p:sldId id="263" r:id="rId3"/>
    <p:sldId id="270" r:id="rId4"/>
    <p:sldId id="264" r:id="rId5"/>
    <p:sldId id="274" r:id="rId6"/>
    <p:sldId id="275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392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C4"/>
    <a:srgbClr val="F5B800"/>
    <a:srgbClr val="E8ECF1"/>
    <a:srgbClr val="FFEB00"/>
    <a:srgbClr val="FFFF00"/>
    <a:srgbClr val="FFFCE1"/>
    <a:srgbClr val="FFF06C"/>
    <a:srgbClr val="FFE600"/>
    <a:srgbClr val="FFC000"/>
    <a:srgbClr val="FF6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051" y="-422"/>
      </p:cViewPr>
      <p:guideLst>
        <p:guide pos="3392"/>
        <p:guide orient="horz" pos="2183"/>
      </p:guideLst>
    </p:cSldViewPr>
  </p:slideViewPr>
  <p:notesTextViewPr>
    <p:cViewPr>
      <p:scale>
        <a:sx n="33" d="100"/>
        <a:sy n="33" d="100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917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22E694F-CDAD-2250-3CCA-8A5B8F3BF6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57892A-61C6-0E93-63BE-50954D5F78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A9285-E810-402B-8EF0-57A4DF662D9D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D948A4-9269-8764-458F-97FB0AA8DC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E33110-49B1-8875-FE30-17F929B64B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8D285-AF64-4A3E-B50B-07CBEB09F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48854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088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073E-0FD0-EF54-0521-696B0845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8D94D-011C-216A-83C1-590F88DAD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F79CC-6C38-C11D-B5FC-F342B4418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3B3E-CCD9-91DF-9AB4-44541B328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8B0A7-729E-44C7-A37C-385F6F40A51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695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8C8E-917D-69BB-6BB2-A3155F84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2C089-795F-9961-89B3-2030707A7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0C36F-7844-CA3C-FBD8-C16F1664F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1FC23-E310-9F22-8DDC-22C71D35A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8B0A7-729E-44C7-A37C-385F6F40A51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344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210C2-0B92-D857-320B-891C8FFE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E6002-5CEB-4665-5855-5C29DCFCD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F02A0-A143-F82F-92ED-59A52DB8D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02165-1994-06A4-022F-9DC73FDA0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8B0A7-729E-44C7-A37C-385F6F40A51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595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04107-45E5-F0FA-A141-B23F56673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9D5AD-FAE9-86DB-86A3-FEA5A718C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F9E89-A8BD-7986-1898-1B0E7720C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B0A1E-95F8-A990-4B8B-BDCD27C70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8B0A7-729E-44C7-A37C-385F6F40A51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50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2FD71-B54E-3886-513F-DB2C17D6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6BA965-012D-8B60-9B61-2AB4BD2ED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FC17D-608C-F261-5C75-D5320731E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9064-6170-EC42-7307-51408AF4F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8B0A7-729E-44C7-A37C-385F6F40A51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33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2A84DE6A-CD99-DB48-E202-46547729BE6F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758"/>
          <a:stretch>
            <a:fillRect/>
          </a:stretch>
        </p:blipFill>
        <p:spPr bwMode="hidden"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D3C4FE-03CD-54DA-6C93-62DBF0DF3F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21554"/>
          <a:stretch>
            <a:fillRect/>
          </a:stretch>
        </p:blipFill>
        <p:spPr>
          <a:xfrm>
            <a:off x="360761" y="685184"/>
            <a:ext cx="9081288" cy="3629888"/>
          </a:xfrm>
          <a:prstGeom prst="rect">
            <a:avLst/>
          </a:prstGeom>
        </p:spPr>
      </p:pic>
      <p:sp>
        <p:nvSpPr>
          <p:cNvPr id="9" name="bg object 17">
            <a:extLst>
              <a:ext uri="{FF2B5EF4-FFF2-40B4-BE49-F238E27FC236}">
                <a16:creationId xmlns:a16="http://schemas.microsoft.com/office/drawing/2014/main" id="{6981EE35-E240-2AB9-FFB2-5C2FC5CAB02E}"/>
              </a:ext>
            </a:extLst>
          </p:cNvPr>
          <p:cNvSpPr/>
          <p:nvPr userDrawn="1"/>
        </p:nvSpPr>
        <p:spPr>
          <a:xfrm>
            <a:off x="513872" y="827540"/>
            <a:ext cx="4387533" cy="3345179"/>
          </a:xfrm>
          <a:custGeom>
            <a:avLst/>
            <a:gdLst/>
            <a:ahLst/>
            <a:cxnLst/>
            <a:rect l="l" t="t" r="r" b="b"/>
            <a:pathLst>
              <a:path w="5400040" h="3345179">
                <a:moveTo>
                  <a:pt x="5399532" y="0"/>
                </a:moveTo>
                <a:lnTo>
                  <a:pt x="9715" y="1031747"/>
                </a:lnTo>
                <a:lnTo>
                  <a:pt x="0" y="3334766"/>
                </a:lnTo>
                <a:lnTo>
                  <a:pt x="5389880" y="3345179"/>
                </a:lnTo>
                <a:lnTo>
                  <a:pt x="5399532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 sz="1800">
              <a:latin typeface="맑은 고딕" panose="020B0503020000020004" pitchFamily="50" charset="-127"/>
            </a:endParaRPr>
          </a:p>
        </p:txBody>
      </p:sp>
      <p:sp>
        <p:nvSpPr>
          <p:cNvPr id="10" name="Holder 2">
            <a:extLst>
              <a:ext uri="{FF2B5EF4-FFF2-40B4-BE49-F238E27FC236}">
                <a16:creationId xmlns:a16="http://schemas.microsoft.com/office/drawing/2014/main" id="{15651826-8806-D90D-66B4-09B8200AF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325" y="2010738"/>
            <a:ext cx="312709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0000"/>
                </a:solidFill>
                <a:latin typeface="EYInterstate Light"/>
                <a:cs typeface="EYInterstate Light"/>
              </a:defRPr>
            </a:lvl1pPr>
          </a:lstStyle>
          <a:p>
            <a:endParaRPr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130D27CD-98EA-AAD1-2FDC-12887AD3514E}"/>
              </a:ext>
            </a:extLst>
          </p:cNvPr>
          <p:cNvGrpSpPr/>
          <p:nvPr userDrawn="1"/>
        </p:nvGrpSpPr>
        <p:grpSpPr bwMode="black">
          <a:xfrm>
            <a:off x="9068153" y="6386458"/>
            <a:ext cx="394182" cy="373384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C5C9D72-F7D9-641E-C477-449092586538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1D5A7453-34C0-C820-124B-33E66D0BAD27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C5B0A20-0267-E5ED-B24F-0A8CF5BE7910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83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2">
            <a:extLst>
              <a:ext uri="{FF2B5EF4-FFF2-40B4-BE49-F238E27FC236}">
                <a16:creationId xmlns:a16="http://schemas.microsoft.com/office/drawing/2014/main" id="{7F5768C3-35B5-DAC8-63AF-A9296B0A50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706" y="302020"/>
            <a:ext cx="9038249" cy="356963"/>
          </a:xfrm>
          <a:prstGeom prst="rect">
            <a:avLst/>
          </a:prstGeom>
        </p:spPr>
        <p:txBody>
          <a:bodyPr wrap="square" lIns="36000" tIns="0" rIns="0" bIns="0">
            <a:noAutofit/>
          </a:bodyPr>
          <a:lstStyle>
            <a:lvl1pPr>
              <a:defRPr kumimoji="1" lang="ko-KR" altLang="en-US" sz="2000" b="1" spc="-51" baseline="0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</a:defRPr>
            </a:lvl1pPr>
          </a:lstStyle>
          <a:p>
            <a:pPr marL="0" lvl="0" defTabSz="316481" fontAlgn="base">
              <a:lnSpc>
                <a:spcPct val="100000"/>
              </a:lnSpc>
              <a:spcAft>
                <a:spcPct val="0"/>
              </a:spcAft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맑은고딕</a:t>
            </a:r>
            <a:r>
              <a:rPr lang="en-US" altLang="ko-KR" dirty="0"/>
              <a:t> | Aptos Display, 24pt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AE7CF487-E4E4-5C27-DACD-918E90B85E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28625" y="813330"/>
            <a:ext cx="9040507" cy="58552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eaLnBrk="1" latinLnBrk="0">
              <a:lnSpc>
                <a:spcPct val="110000"/>
              </a:lnSpc>
              <a:buNone/>
              <a:defRPr kumimoji="1" lang="ko-KR" altLang="en-US" sz="1600" b="0" kern="0" spc="-51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맑은 고딕" panose="020B0503020000020004" pitchFamily="50" charset="-127"/>
                <a:ea typeface="+mn-ea"/>
                <a:cs typeface="Arial" panose="020B0604020202020204" pitchFamily="34" charset="0"/>
              </a:defRPr>
            </a:lvl1pPr>
            <a:lvl2pPr>
              <a:defRPr kumimoji="1" lang="ko-KR" altLang="en-US" sz="831" spc="-55" baseline="0" dirty="0" smtClean="0"/>
            </a:lvl2pPr>
            <a:lvl3pPr>
              <a:defRPr kumimoji="1" lang="ko-KR" altLang="en-US" sz="831" spc="-55" baseline="0" dirty="0" smtClean="0"/>
            </a:lvl3pPr>
            <a:lvl4pPr>
              <a:defRPr kumimoji="1" lang="ko-KR" altLang="en-US" sz="831" spc="-55" baseline="0" dirty="0" smtClean="0"/>
            </a:lvl4pPr>
            <a:lvl5pPr>
              <a:defRPr kumimoji="1" lang="ko-KR" altLang="en-US" sz="831" spc="-55" baseline="0" dirty="0"/>
            </a:lvl5pPr>
          </a:lstStyle>
          <a:p>
            <a:pPr marL="0" marR="0" lvl="0" indent="0" algn="l" defTabSz="316481" rtl="0" eaLnBrk="1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돋움" pitchFamily="50" charset="-127"/>
              <a:buNone/>
              <a:tabLst/>
              <a:defRPr/>
            </a:pPr>
            <a:r>
              <a:rPr lang="ko-KR" altLang="en-US" dirty="0" err="1"/>
              <a:t>거버닝</a:t>
            </a:r>
            <a:r>
              <a:rPr lang="en-US" altLang="ko-KR" dirty="0"/>
              <a:t>, </a:t>
            </a:r>
            <a:r>
              <a:rPr lang="ko-KR" altLang="en-US" dirty="0"/>
              <a:t>맑은 고딕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16pt</a:t>
            </a:r>
            <a:endParaRPr lang="ko-KR" altLang="en-US" dirty="0"/>
          </a:p>
        </p:txBody>
      </p:sp>
      <p:grpSp>
        <p:nvGrpSpPr>
          <p:cNvPr id="7" name="Logo">
            <a:extLst>
              <a:ext uri="{FF2B5EF4-FFF2-40B4-BE49-F238E27FC236}">
                <a16:creationId xmlns:a16="http://schemas.microsoft.com/office/drawing/2014/main" id="{FD532AF3-BA8B-7A91-7400-1757B9A07A64}"/>
              </a:ext>
            </a:extLst>
          </p:cNvPr>
          <p:cNvGrpSpPr/>
          <p:nvPr userDrawn="1"/>
        </p:nvGrpSpPr>
        <p:grpSpPr bwMode="black">
          <a:xfrm>
            <a:off x="9068153" y="6386458"/>
            <a:ext cx="394182" cy="373384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7CE7984-5769-0F8D-F710-1282D04565A7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DFB1FE67-BF66-5132-7823-9C389C4E9649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861C234-DEDE-1802-60CA-9F09C6126759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BD9687D-DA5E-17D2-E295-E2A4DA625DE2}"/>
              </a:ext>
            </a:extLst>
          </p:cNvPr>
          <p:cNvCxnSpPr/>
          <p:nvPr userDrawn="1"/>
        </p:nvCxnSpPr>
        <p:spPr>
          <a:xfrm>
            <a:off x="428625" y="706191"/>
            <a:ext cx="9054330" cy="0"/>
          </a:xfrm>
          <a:prstGeom prst="line">
            <a:avLst/>
          </a:prstGeom>
          <a:ln>
            <a:solidFill>
              <a:srgbClr val="FFF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74FDB65-E70B-2220-C399-50C1D1BF5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925" y="6372623"/>
            <a:ext cx="481165" cy="36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45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5978" userDrawn="1">
          <p15:clr>
            <a:srgbClr val="FBAE40"/>
          </p15:clr>
        </p15:guide>
        <p15:guide id="5" orient="horz" pos="888" userDrawn="1">
          <p15:clr>
            <a:srgbClr val="FBAE40"/>
          </p15:clr>
        </p15:guide>
        <p15:guide id="6" orient="horz" pos="50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764DE79-268F-4C1A-8933-263129D2AF90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45F888-75DB-23B1-98FF-063795254395}"/>
              </a:ext>
            </a:extLst>
          </p:cNvPr>
          <p:cNvSpPr/>
          <p:nvPr userDrawn="1"/>
        </p:nvSpPr>
        <p:spPr>
          <a:xfrm>
            <a:off x="-809097" y="4932874"/>
            <a:ext cx="321750" cy="324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1AA71C-5385-C1BF-95B4-E984A60EF968}"/>
              </a:ext>
            </a:extLst>
          </p:cNvPr>
          <p:cNvSpPr/>
          <p:nvPr userDrawn="1"/>
        </p:nvSpPr>
        <p:spPr>
          <a:xfrm>
            <a:off x="-402703" y="4007063"/>
            <a:ext cx="321750" cy="324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D7E4D6-5E5C-B0B8-BFFD-1D4477A9149B}"/>
              </a:ext>
            </a:extLst>
          </p:cNvPr>
          <p:cNvSpPr/>
          <p:nvPr userDrawn="1"/>
        </p:nvSpPr>
        <p:spPr>
          <a:xfrm>
            <a:off x="-402703" y="4358425"/>
            <a:ext cx="321750" cy="324000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F628D3-EAA9-A558-741F-D817B22B960F}"/>
              </a:ext>
            </a:extLst>
          </p:cNvPr>
          <p:cNvSpPr/>
          <p:nvPr userDrawn="1"/>
        </p:nvSpPr>
        <p:spPr>
          <a:xfrm>
            <a:off x="-402703" y="3655701"/>
            <a:ext cx="321750" cy="324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9526D4-5C1F-8A3A-6A8A-3F68749AA7C6}"/>
              </a:ext>
            </a:extLst>
          </p:cNvPr>
          <p:cNvSpPr/>
          <p:nvPr userDrawn="1"/>
        </p:nvSpPr>
        <p:spPr>
          <a:xfrm>
            <a:off x="-809097" y="3909634"/>
            <a:ext cx="321750" cy="324000"/>
          </a:xfrm>
          <a:prstGeom prst="rect">
            <a:avLst/>
          </a:prstGeom>
          <a:solidFill>
            <a:srgbClr val="FFF0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1A9FAF-4327-6AB6-5802-39BC946D9280}"/>
              </a:ext>
            </a:extLst>
          </p:cNvPr>
          <p:cNvSpPr/>
          <p:nvPr userDrawn="1"/>
        </p:nvSpPr>
        <p:spPr>
          <a:xfrm>
            <a:off x="-402703" y="4709787"/>
            <a:ext cx="321750" cy="324000"/>
          </a:xfrm>
          <a:prstGeom prst="rect">
            <a:avLst/>
          </a:prstGeom>
          <a:solidFill>
            <a:srgbClr val="7474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CE39B5-1020-2E97-41F7-DDBA6F743E0F}"/>
              </a:ext>
            </a:extLst>
          </p:cNvPr>
          <p:cNvSpPr/>
          <p:nvPr userDrawn="1"/>
        </p:nvSpPr>
        <p:spPr>
          <a:xfrm>
            <a:off x="-402703" y="5061148"/>
            <a:ext cx="321750" cy="324000"/>
          </a:xfrm>
          <a:prstGeom prst="rect">
            <a:avLst/>
          </a:prstGeom>
          <a:solidFill>
            <a:srgbClr val="7474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CAFABE9-4CA1-E7F2-21BF-DD336034CADC}"/>
              </a:ext>
            </a:extLst>
          </p:cNvPr>
          <p:cNvSpPr/>
          <p:nvPr userDrawn="1"/>
        </p:nvSpPr>
        <p:spPr>
          <a:xfrm>
            <a:off x="-809097" y="4591794"/>
            <a:ext cx="321750" cy="324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8ABF24-00F0-E835-478B-EA1767F976DA}"/>
              </a:ext>
            </a:extLst>
          </p:cNvPr>
          <p:cNvSpPr/>
          <p:nvPr userDrawn="1"/>
        </p:nvSpPr>
        <p:spPr>
          <a:xfrm>
            <a:off x="-809097" y="5273954"/>
            <a:ext cx="321750" cy="324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194C6C-4DF2-2193-B455-8551D8E9C551}"/>
              </a:ext>
            </a:extLst>
          </p:cNvPr>
          <p:cNvSpPr/>
          <p:nvPr userDrawn="1"/>
        </p:nvSpPr>
        <p:spPr>
          <a:xfrm>
            <a:off x="-809097" y="3568554"/>
            <a:ext cx="321750" cy="324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019EA5-CD79-E017-3BBA-3D32E29BCB93}"/>
              </a:ext>
            </a:extLst>
          </p:cNvPr>
          <p:cNvSpPr/>
          <p:nvPr userDrawn="1"/>
        </p:nvSpPr>
        <p:spPr>
          <a:xfrm>
            <a:off x="-809097" y="4250714"/>
            <a:ext cx="321750" cy="3240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5AD276-5CAF-EEC5-381E-18E5C552A40A}"/>
              </a:ext>
            </a:extLst>
          </p:cNvPr>
          <p:cNvSpPr/>
          <p:nvPr userDrawn="1"/>
        </p:nvSpPr>
        <p:spPr>
          <a:xfrm>
            <a:off x="-809097" y="5615033"/>
            <a:ext cx="321750" cy="3240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91E5D4-AD94-EA5F-A331-09985B03B3B1}"/>
              </a:ext>
            </a:extLst>
          </p:cNvPr>
          <p:cNvSpPr txBox="1"/>
          <p:nvPr userDrawn="1"/>
        </p:nvSpPr>
        <p:spPr>
          <a:xfrm>
            <a:off x="-1577078" y="137240"/>
            <a:ext cx="1489935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latinLnBrk="0">
              <a:lnSpc>
                <a:spcPct val="85000"/>
              </a:lnSpc>
              <a:spcAft>
                <a:spcPts val="600"/>
              </a:spcAft>
              <a:buClr>
                <a:srgbClr val="27ACAA"/>
              </a:buClr>
              <a:buSzPct val="70000"/>
            </a:pPr>
            <a:r>
              <a:rPr lang="en-US" sz="1000" b="1">
                <a:solidFill>
                  <a:srgbClr val="1A1A24"/>
                </a:solidFill>
                <a:latin typeface="EYInterstate Light"/>
                <a:ea typeface="나눔고딕"/>
              </a:rPr>
              <a:t>EY</a:t>
            </a:r>
          </a:p>
          <a:p>
            <a:pPr algn="r" latinLnBrk="0">
              <a:lnSpc>
                <a:spcPct val="85000"/>
              </a:lnSpc>
              <a:spcAft>
                <a:spcPts val="600"/>
              </a:spcAft>
              <a:buClr>
                <a:srgbClr val="27ACAA"/>
              </a:buClr>
              <a:buSzPct val="70000"/>
            </a:pPr>
            <a:r>
              <a:rPr lang="en-US" sz="1000" b="1">
                <a:solidFill>
                  <a:srgbClr val="1A1A24"/>
                </a:solidFill>
                <a:latin typeface="EYInterstate Light"/>
                <a:ea typeface="나눔고딕"/>
              </a:rPr>
              <a:t>Light template colors</a:t>
            </a:r>
            <a:endParaRPr lang="en-US" sz="1000">
              <a:solidFill>
                <a:srgbClr val="1A1A24"/>
              </a:solidFill>
              <a:latin typeface="EYInterstate Light"/>
              <a:ea typeface="나눔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C8937-DDDA-D5C2-3B45-04EA227C90E7}"/>
              </a:ext>
            </a:extLst>
          </p:cNvPr>
          <p:cNvSpPr txBox="1"/>
          <p:nvPr userDrawn="1"/>
        </p:nvSpPr>
        <p:spPr bwMode="gray">
          <a:xfrm>
            <a:off x="-1369839" y="577301"/>
            <a:ext cx="100799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EY Confident Black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7E68D8-2E3F-5CC6-C91F-AD7DB4C15B66}"/>
              </a:ext>
            </a:extLst>
          </p:cNvPr>
          <p:cNvSpPr txBox="1"/>
          <p:nvPr userDrawn="1"/>
        </p:nvSpPr>
        <p:spPr bwMode="gray">
          <a:xfrm>
            <a:off x="-1369839" y="847000"/>
            <a:ext cx="100799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White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CBB7E0-20E9-325B-7198-1F2DA05952F5}"/>
              </a:ext>
            </a:extLst>
          </p:cNvPr>
          <p:cNvSpPr txBox="1"/>
          <p:nvPr userDrawn="1"/>
        </p:nvSpPr>
        <p:spPr bwMode="gray">
          <a:xfrm>
            <a:off x="-1369839" y="1386422"/>
            <a:ext cx="1007999" cy="1231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EY Yellow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51FD9-CD10-F4CC-2F81-20561862B367}"/>
              </a:ext>
            </a:extLst>
          </p:cNvPr>
          <p:cNvSpPr txBox="1"/>
          <p:nvPr userDrawn="1"/>
        </p:nvSpPr>
        <p:spPr bwMode="gray">
          <a:xfrm>
            <a:off x="-1369839" y="1656122"/>
            <a:ext cx="1007999" cy="12304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Accent 1: EY Green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60A15B-34B2-4BB9-50F6-AA0D372EE9FD}"/>
              </a:ext>
            </a:extLst>
          </p:cNvPr>
          <p:cNvSpPr txBox="1"/>
          <p:nvPr userDrawn="1"/>
        </p:nvSpPr>
        <p:spPr bwMode="gray">
          <a:xfrm>
            <a:off x="-1369839" y="1925766"/>
            <a:ext cx="1007999" cy="12304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Accent 2: EY Teal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EDBA1B-D05E-DA74-91AF-A1355A245DD9}"/>
              </a:ext>
            </a:extLst>
          </p:cNvPr>
          <p:cNvSpPr txBox="1"/>
          <p:nvPr userDrawn="1"/>
        </p:nvSpPr>
        <p:spPr bwMode="gray">
          <a:xfrm>
            <a:off x="-1369839" y="2195415"/>
            <a:ext cx="1007999" cy="12304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Accent 3: EY Blue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D1D45E-E031-6C19-46BD-E6B492F533BA}"/>
              </a:ext>
            </a:extLst>
          </p:cNvPr>
          <p:cNvSpPr txBox="1"/>
          <p:nvPr userDrawn="1"/>
        </p:nvSpPr>
        <p:spPr bwMode="gray">
          <a:xfrm>
            <a:off x="-1369839" y="2465058"/>
            <a:ext cx="1007999" cy="1231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Accent 4: EY Maroon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1B816-31DB-0031-6FED-435C53D77B22}"/>
              </a:ext>
            </a:extLst>
          </p:cNvPr>
          <p:cNvSpPr txBox="1"/>
          <p:nvPr userDrawn="1"/>
        </p:nvSpPr>
        <p:spPr bwMode="gray">
          <a:xfrm>
            <a:off x="-1369839" y="2734765"/>
            <a:ext cx="1007999" cy="12304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Accent 5: EY 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A9B9A4-F3EC-191A-23FD-80B03357F21D}"/>
              </a:ext>
            </a:extLst>
          </p:cNvPr>
          <p:cNvSpPr txBox="1"/>
          <p:nvPr userDrawn="1"/>
        </p:nvSpPr>
        <p:spPr bwMode="gray">
          <a:xfrm>
            <a:off x="-1369839" y="3004408"/>
            <a:ext cx="1007999" cy="12304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Accent 6: EY Orange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CA4BF4-55E9-A7A5-15D7-EC133C009377}"/>
              </a:ext>
            </a:extLst>
          </p:cNvPr>
          <p:cNvSpPr txBox="1"/>
          <p:nvPr userDrawn="1"/>
        </p:nvSpPr>
        <p:spPr bwMode="gray">
          <a:xfrm>
            <a:off x="-1369839" y="1116715"/>
            <a:ext cx="100799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 Light"/>
                <a:ea typeface="나눔고딕"/>
              </a:rPr>
              <a:t>EY Off Black</a:t>
            </a:r>
          </a:p>
        </p:txBody>
      </p:sp>
      <p:sp>
        <p:nvSpPr>
          <p:cNvPr id="30" name="Rectangle 47">
            <a:extLst>
              <a:ext uri="{FF2B5EF4-FFF2-40B4-BE49-F238E27FC236}">
                <a16:creationId xmlns:a16="http://schemas.microsoft.com/office/drawing/2014/main" id="{7A39F4D2-B82F-30F0-585E-5B9F793C8424}"/>
              </a:ext>
            </a:extLst>
          </p:cNvPr>
          <p:cNvSpPr/>
          <p:nvPr userDrawn="1"/>
        </p:nvSpPr>
        <p:spPr bwMode="gray">
          <a:xfrm>
            <a:off x="-315623" y="524617"/>
            <a:ext cx="228480" cy="228481"/>
          </a:xfrm>
          <a:prstGeom prst="rect">
            <a:avLst/>
          </a:prstGeom>
          <a:solidFill>
            <a:srgbClr val="1A1A24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  <a:cs typeface="+mn-cs"/>
              </a:rPr>
              <a:t>가 </a:t>
            </a:r>
            <a:r>
              <a:rPr kumimoji="0" lang="en-US" altLang="ko-KR" sz="7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  <a:cs typeface="+mn-cs"/>
              </a:rPr>
              <a:t>/ A</a:t>
            </a:r>
            <a:endParaRPr kumimoji="0" lang="en-US" sz="7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  <a:cs typeface="+mn-cs"/>
            </a:endParaRPr>
          </a:p>
        </p:txBody>
      </p:sp>
      <p:sp>
        <p:nvSpPr>
          <p:cNvPr id="31" name="Rectangle 48">
            <a:extLst>
              <a:ext uri="{FF2B5EF4-FFF2-40B4-BE49-F238E27FC236}">
                <a16:creationId xmlns:a16="http://schemas.microsoft.com/office/drawing/2014/main" id="{1CBC6BE2-D4C2-FEAB-66E4-A912D7267959}"/>
              </a:ext>
            </a:extLst>
          </p:cNvPr>
          <p:cNvSpPr/>
          <p:nvPr userDrawn="1"/>
        </p:nvSpPr>
        <p:spPr bwMode="gray">
          <a:xfrm>
            <a:off x="-315623" y="794283"/>
            <a:ext cx="228480" cy="228481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2" name="Rectangle 49">
            <a:extLst>
              <a:ext uri="{FF2B5EF4-FFF2-40B4-BE49-F238E27FC236}">
                <a16:creationId xmlns:a16="http://schemas.microsoft.com/office/drawing/2014/main" id="{5F21B760-9638-9F91-8509-0001734EBBF5}"/>
              </a:ext>
            </a:extLst>
          </p:cNvPr>
          <p:cNvSpPr/>
          <p:nvPr userDrawn="1"/>
        </p:nvSpPr>
        <p:spPr bwMode="gray">
          <a:xfrm>
            <a:off x="-315623" y="1063967"/>
            <a:ext cx="228480" cy="228481"/>
          </a:xfrm>
          <a:prstGeom prst="rect">
            <a:avLst/>
          </a:prstGeom>
          <a:solidFill>
            <a:srgbClr val="2E2E38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86F09181-86E7-AA48-A3B9-35B52955D89D}"/>
              </a:ext>
            </a:extLst>
          </p:cNvPr>
          <p:cNvSpPr/>
          <p:nvPr userDrawn="1"/>
        </p:nvSpPr>
        <p:spPr bwMode="gray">
          <a:xfrm>
            <a:off x="-315623" y="1333642"/>
            <a:ext cx="228480" cy="228481"/>
          </a:xfrm>
          <a:prstGeom prst="rect">
            <a:avLst/>
          </a:prstGeom>
          <a:solidFill>
            <a:srgbClr val="FFE600"/>
          </a:solidFill>
          <a:ln w="9525" cap="flat" cmpd="sng" algn="ctr">
            <a:solidFill>
              <a:srgbClr val="000000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4" name="Rectangle 51">
            <a:extLst>
              <a:ext uri="{FF2B5EF4-FFF2-40B4-BE49-F238E27FC236}">
                <a16:creationId xmlns:a16="http://schemas.microsoft.com/office/drawing/2014/main" id="{1238D23C-31AF-1134-5ACE-AD8B37CC9CFD}"/>
              </a:ext>
            </a:extLst>
          </p:cNvPr>
          <p:cNvSpPr/>
          <p:nvPr userDrawn="1"/>
        </p:nvSpPr>
        <p:spPr bwMode="gray">
          <a:xfrm>
            <a:off x="-315623" y="1603311"/>
            <a:ext cx="228480" cy="228481"/>
          </a:xfrm>
          <a:prstGeom prst="rect">
            <a:avLst/>
          </a:prstGeom>
          <a:solidFill>
            <a:srgbClr val="2DB757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</a:p>
        </p:txBody>
      </p:sp>
      <p:sp>
        <p:nvSpPr>
          <p:cNvPr id="35" name="Rectangle 52">
            <a:extLst>
              <a:ext uri="{FF2B5EF4-FFF2-40B4-BE49-F238E27FC236}">
                <a16:creationId xmlns:a16="http://schemas.microsoft.com/office/drawing/2014/main" id="{CE18793C-9648-8CA5-180F-055F9E3A2AF2}"/>
              </a:ext>
            </a:extLst>
          </p:cNvPr>
          <p:cNvSpPr/>
          <p:nvPr userDrawn="1"/>
        </p:nvSpPr>
        <p:spPr bwMode="gray">
          <a:xfrm>
            <a:off x="-315623" y="1872985"/>
            <a:ext cx="228480" cy="228481"/>
          </a:xfrm>
          <a:prstGeom prst="rect">
            <a:avLst/>
          </a:prstGeom>
          <a:solidFill>
            <a:srgbClr val="27ACAA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6" name="Rectangle 53">
            <a:extLst>
              <a:ext uri="{FF2B5EF4-FFF2-40B4-BE49-F238E27FC236}">
                <a16:creationId xmlns:a16="http://schemas.microsoft.com/office/drawing/2014/main" id="{086DC0C7-6577-69F1-43EB-F684A7D8D0D6}"/>
              </a:ext>
            </a:extLst>
          </p:cNvPr>
          <p:cNvSpPr/>
          <p:nvPr userDrawn="1"/>
        </p:nvSpPr>
        <p:spPr bwMode="gray">
          <a:xfrm>
            <a:off x="-315623" y="2142667"/>
            <a:ext cx="228480" cy="228481"/>
          </a:xfrm>
          <a:prstGeom prst="rect">
            <a:avLst/>
          </a:prstGeom>
          <a:solidFill>
            <a:srgbClr val="188CE5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7" name="Rectangle 54">
            <a:extLst>
              <a:ext uri="{FF2B5EF4-FFF2-40B4-BE49-F238E27FC236}">
                <a16:creationId xmlns:a16="http://schemas.microsoft.com/office/drawing/2014/main" id="{EBDA32F0-3F9C-5E75-AA99-BC2882901373}"/>
              </a:ext>
            </a:extLst>
          </p:cNvPr>
          <p:cNvSpPr/>
          <p:nvPr userDrawn="1"/>
        </p:nvSpPr>
        <p:spPr bwMode="gray">
          <a:xfrm>
            <a:off x="-315623" y="2412342"/>
            <a:ext cx="228480" cy="228481"/>
          </a:xfrm>
          <a:prstGeom prst="rect">
            <a:avLst/>
          </a:prstGeom>
          <a:solidFill>
            <a:srgbClr val="750E5C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8" name="Rectangle 55">
            <a:extLst>
              <a:ext uri="{FF2B5EF4-FFF2-40B4-BE49-F238E27FC236}">
                <a16:creationId xmlns:a16="http://schemas.microsoft.com/office/drawing/2014/main" id="{8071909D-85A0-3866-3B42-ECDF33CDF978}"/>
              </a:ext>
            </a:extLst>
          </p:cNvPr>
          <p:cNvSpPr/>
          <p:nvPr userDrawn="1"/>
        </p:nvSpPr>
        <p:spPr bwMode="gray">
          <a:xfrm>
            <a:off x="-315623" y="2682017"/>
            <a:ext cx="228480" cy="228481"/>
          </a:xfrm>
          <a:prstGeom prst="rect">
            <a:avLst/>
          </a:prstGeom>
          <a:solidFill>
            <a:srgbClr val="FF4136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39" name="Rectangle 56">
            <a:extLst>
              <a:ext uri="{FF2B5EF4-FFF2-40B4-BE49-F238E27FC236}">
                <a16:creationId xmlns:a16="http://schemas.microsoft.com/office/drawing/2014/main" id="{B5F9E535-B638-C72D-5670-8DE556AAEDEB}"/>
              </a:ext>
            </a:extLst>
          </p:cNvPr>
          <p:cNvSpPr/>
          <p:nvPr userDrawn="1"/>
        </p:nvSpPr>
        <p:spPr bwMode="gray">
          <a:xfrm>
            <a:off x="-315623" y="2951692"/>
            <a:ext cx="228480" cy="228481"/>
          </a:xfrm>
          <a:prstGeom prst="rect">
            <a:avLst/>
          </a:prstGeom>
          <a:solidFill>
            <a:srgbClr val="FF6D00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가 </a:t>
            </a:r>
            <a:r>
              <a:rPr kumimoji="0" lang="en-US" altLang="ko-KR" sz="600" b="0" i="0" u="none" strike="noStrike" kern="0" cap="none" spc="-5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+mj-ea"/>
              </a:rPr>
              <a:t>/ A</a:t>
            </a:r>
            <a:endParaRPr kumimoji="0" lang="en-US" sz="600" b="0" i="0" u="none" strike="noStrike" kern="0" cap="none" spc="-51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+mj-ea"/>
            </a:endParaRPr>
          </a:p>
        </p:txBody>
      </p:sp>
      <p:sp>
        <p:nvSpPr>
          <p:cNvPr id="40" name="슬라이드 번호 개체 틀 2">
            <a:extLst>
              <a:ext uri="{FF2B5EF4-FFF2-40B4-BE49-F238E27FC236}">
                <a16:creationId xmlns:a16="http://schemas.microsoft.com/office/drawing/2014/main" id="{4294E49E-E2D1-888C-FC57-D173305D0C9C}"/>
              </a:ext>
            </a:extLst>
          </p:cNvPr>
          <p:cNvSpPr txBox="1">
            <a:spLocks/>
          </p:cNvSpPr>
          <p:nvPr userDrawn="1"/>
        </p:nvSpPr>
        <p:spPr>
          <a:xfrm>
            <a:off x="4769088" y="6492876"/>
            <a:ext cx="3678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ctr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71A1D93-AF18-443E-B370-D307416D4D30}" type="slidenum">
              <a:rPr lang="en-US" altLang="ko-KR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426533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AF3B9-3B57-FBF6-58A0-81B4755CA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66" y="2273707"/>
            <a:ext cx="4632502" cy="1107996"/>
          </a:xfrm>
        </p:spPr>
        <p:txBody>
          <a:bodyPr/>
          <a:lstStyle/>
          <a:p>
            <a:r>
              <a:rPr lang="en-US" altLang="ko-KR" sz="3000" dirty="0">
                <a:latin typeface="맑은 고딕" panose="020B0503020000020004" pitchFamily="50" charset="-127"/>
                <a:cs typeface="Arial" panose="020B0604020202020204" pitchFamily="34" charset="0"/>
              </a:rPr>
              <a:t>JW </a:t>
            </a:r>
            <a:r>
              <a:rPr lang="ko-KR" altLang="en-US" sz="3000" dirty="0">
                <a:latin typeface="맑은 고딕" panose="020B0503020000020004" pitchFamily="50" charset="-127"/>
                <a:cs typeface="Arial" panose="020B0604020202020204" pitchFamily="34" charset="0"/>
              </a:rPr>
              <a:t>정보보안 강화 컨설팅</a:t>
            </a:r>
            <a:br>
              <a:rPr lang="en-US" altLang="ko-KR" sz="3000" dirty="0">
                <a:latin typeface="맑은 고딕" panose="020B0503020000020004" pitchFamily="50" charset="-127"/>
                <a:cs typeface="Arial" panose="020B0604020202020204" pitchFamily="34" charset="0"/>
              </a:rPr>
            </a:br>
            <a:br>
              <a:rPr lang="en-US" altLang="ko-KR" sz="3000" dirty="0">
                <a:latin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dirty="0">
                <a:latin typeface="맑은 고딕" panose="020B0503020000020004" pitchFamily="50" charset="-127"/>
                <a:cs typeface="Arial" panose="020B0604020202020204" pitchFamily="34" charset="0"/>
              </a:rPr>
              <a:t>- </a:t>
            </a:r>
            <a:r>
              <a:rPr lang="ko-KR" altLang="en-US" sz="2000" dirty="0">
                <a:latin typeface="맑은 고딕" panose="020B0503020000020004" pitchFamily="50" charset="-127"/>
                <a:cs typeface="Arial" panose="020B0604020202020204" pitchFamily="34" charset="0"/>
              </a:rPr>
              <a:t>주간 보고 </a:t>
            </a:r>
            <a:r>
              <a:rPr lang="en-US" altLang="ko-KR" sz="2000" dirty="0">
                <a:latin typeface="맑은 고딕" panose="020B0503020000020004" pitchFamily="50" charset="-127"/>
                <a:cs typeface="Arial" panose="020B0604020202020204" pitchFamily="34" charset="0"/>
              </a:rPr>
              <a:t>5 </a:t>
            </a:r>
            <a:r>
              <a:rPr lang="ko-KR" altLang="en-US" sz="2000" dirty="0">
                <a:latin typeface="맑은 고딕" panose="020B0503020000020004" pitchFamily="50" charset="-127"/>
                <a:cs typeface="Arial" panose="020B0604020202020204" pitchFamily="34" charset="0"/>
              </a:rPr>
              <a:t>주차 </a:t>
            </a:r>
            <a:r>
              <a:rPr lang="en-US" altLang="ko-KR" sz="2000" dirty="0">
                <a:latin typeface="맑은 고딕" panose="020B0503020000020004" pitchFamily="50" charset="-127"/>
                <a:cs typeface="Arial" panose="020B0604020202020204" pitchFamily="34" charset="0"/>
              </a:rPr>
              <a:t>-</a:t>
            </a:r>
            <a:endParaRPr lang="ko-KR" altLang="en-US" sz="3000" dirty="0">
              <a:latin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CE4E9-A628-D25A-FEE2-230E109C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0C6718-0DC4-230A-F7E7-1D41D3036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962199"/>
              </p:ext>
            </p:extLst>
          </p:nvPr>
        </p:nvGraphicFramePr>
        <p:xfrm>
          <a:off x="415925" y="800100"/>
          <a:ext cx="9099515" cy="5364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5115">
                  <a:extLst>
                    <a:ext uri="{9D8B030D-6E8A-4147-A177-3AD203B41FA5}">
                      <a16:colId xmlns:a16="http://schemas.microsoft.com/office/drawing/2014/main" val="667768501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329605591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81874719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488753060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3737916115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2639961932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1634230461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1103934294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81830643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921185737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972519930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2278513048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2120838691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2537753923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196726238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3323644603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1879142548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1446940741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3800501083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3745326079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3407795441"/>
                    </a:ext>
                  </a:extLst>
                </a:gridCol>
                <a:gridCol w="280800">
                  <a:extLst>
                    <a:ext uri="{9D8B030D-6E8A-4147-A177-3AD203B41FA5}">
                      <a16:colId xmlns:a16="http://schemas.microsoft.com/office/drawing/2014/main" val="1053993060"/>
                    </a:ext>
                  </a:extLst>
                </a:gridCol>
              </a:tblGrid>
              <a:tr h="24160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dirty="0">
                          <a:effectLst/>
                        </a:rPr>
                        <a:t>수행업무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dirty="0">
                          <a:effectLst/>
                        </a:rPr>
                        <a:t>시작일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dirty="0">
                          <a:effectLst/>
                        </a:rPr>
                        <a:t>완료일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2026년 11월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2026년 12월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2027년 1월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10968"/>
                  </a:ext>
                </a:extLst>
              </a:tr>
              <a:tr h="2416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95" marR="3895" marT="389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95" marR="3895" marT="389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895" marR="3895" marT="389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W1</a:t>
                      </a:r>
                      <a:endParaRPr lang="ko-KR" altLang="en-US" sz="9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W2</a:t>
                      </a:r>
                      <a:endParaRPr lang="ko-KR" altLang="en-US" sz="9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buNone/>
                      </a:pPr>
                      <a:r>
                        <a:rPr lang="en-US" altLang="ko-KR" sz="9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W3</a:t>
                      </a:r>
                      <a:endParaRPr lang="ko-KR" altLang="en-US" sz="9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W4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W5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W6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W7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W8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W9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W10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W11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W12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W13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W14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W15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W16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W17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W18</a:t>
                      </a:r>
                      <a:endParaRPr lang="ko-KR" sz="9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6468"/>
                  </a:ext>
                </a:extLst>
              </a:tr>
              <a:tr h="4068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준거성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b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 err="1">
                          <a:effectLst/>
                        </a:rPr>
                        <a:t>내·외부</a:t>
                      </a:r>
                      <a:r>
                        <a:rPr lang="ko-KR" sz="900" b="0" u="none" strike="noStrike" dirty="0">
                          <a:effectLst/>
                        </a:rPr>
                        <a:t> 환경 및 위협 동향 분석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2026-10-01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2026-10-25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565795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현황 분석 및 법적 </a:t>
                      </a:r>
                      <a:r>
                        <a:rPr lang="ko-KR" sz="900" b="0" u="none" strike="noStrike" dirty="0" err="1">
                          <a:effectLst/>
                        </a:rPr>
                        <a:t>준거성</a:t>
                      </a:r>
                      <a:r>
                        <a:rPr lang="ko-KR" sz="900" b="0" u="none" strike="noStrike" dirty="0">
                          <a:effectLst/>
                        </a:rPr>
                        <a:t> 검토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2026-10-01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</a:t>
                      </a:r>
                      <a:r>
                        <a:rPr lang="en-US" altLang="ko-KR" sz="900" u="none" strike="noStrike" dirty="0">
                          <a:effectLst/>
                        </a:rPr>
                        <a:t>25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180217"/>
                  </a:ext>
                </a:extLst>
              </a:tr>
              <a:tr h="4068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진단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 err="1">
                          <a:effectLst/>
                        </a:rPr>
                        <a:t>관리·물리</a:t>
                      </a:r>
                      <a:r>
                        <a:rPr lang="ko-KR" sz="900" b="0" u="none" strike="noStrike" dirty="0">
                          <a:effectLst/>
                        </a:rPr>
                        <a:t> 보안 성숙도 진단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2026-10-26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2026-12-06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96390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기술 취약점 진단(</a:t>
                      </a:r>
                      <a:r>
                        <a:rPr lang="ko-KR" sz="900" b="0" u="none" strike="noStrike" dirty="0" err="1">
                          <a:effectLst/>
                        </a:rPr>
                        <a:t>Infra</a:t>
                      </a:r>
                      <a:r>
                        <a:rPr lang="ko-KR" sz="900" b="0" u="none" strike="noStrike" dirty="0">
                          <a:effectLst/>
                        </a:rPr>
                        <a:t>)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2026-10-01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2026-11-22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962499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 err="1">
                          <a:effectLst/>
                        </a:rPr>
                        <a:t>모의해킹</a:t>
                      </a:r>
                      <a:r>
                        <a:rPr lang="ko-KR" sz="900" b="0" u="none" strike="noStrike" dirty="0">
                          <a:effectLst/>
                        </a:rPr>
                        <a:t>(</a:t>
                      </a:r>
                      <a:r>
                        <a:rPr lang="ko-KR" sz="900" b="0" u="none" strike="noStrike" dirty="0" err="1">
                          <a:effectLst/>
                        </a:rPr>
                        <a:t>Web·App</a:t>
                      </a:r>
                      <a:r>
                        <a:rPr lang="ko-KR" sz="900" b="0" u="none" strike="noStrike" dirty="0">
                          <a:effectLst/>
                        </a:rPr>
                        <a:t>)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2026-11-09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2026-12-06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60394"/>
                  </a:ext>
                </a:extLst>
              </a:tr>
              <a:tr h="4068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위험평가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개선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보안위험 평가 및 우선순위화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2026-10-26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2026-12-13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75869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취약점 보호대책 수립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2026-11-23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2026-12-27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145522"/>
                  </a:ext>
                </a:extLst>
              </a:tr>
              <a:tr h="4068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로드맵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 err="1">
                          <a:effectLst/>
                        </a:rPr>
                        <a:t>정책·지침·매뉴얼</a:t>
                      </a:r>
                      <a:r>
                        <a:rPr lang="ko-KR" sz="900" b="0" u="none" strike="noStrike" dirty="0">
                          <a:effectLst/>
                        </a:rPr>
                        <a:t> </a:t>
                      </a:r>
                      <a:r>
                        <a:rPr lang="ko-KR" sz="900" b="0" u="none" strike="noStrike" dirty="0" err="1">
                          <a:effectLst/>
                        </a:rPr>
                        <a:t>제·개정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2026-12-21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2027-01-29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29653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ISMS 인증심사 대비 개선 로드맵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2026-10-26</a:t>
                      </a:r>
                      <a:endParaRPr 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2026-12-20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358633"/>
                  </a:ext>
                </a:extLst>
              </a:tr>
              <a:tr h="4068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안정화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인증 </a:t>
                      </a:r>
                      <a:b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지원</a:t>
                      </a:r>
                      <a:endParaRPr 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중장기 마스터플랜 및 실행 로드맵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2026-12-07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2027-01-29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658413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이행조치 점검(</a:t>
                      </a:r>
                      <a:r>
                        <a:rPr lang="ko-KR" sz="900" b="0" u="none" strike="noStrike" dirty="0" err="1">
                          <a:effectLst/>
                        </a:rPr>
                        <a:t>기술진단·모의해킹</a:t>
                      </a:r>
                      <a:r>
                        <a:rPr lang="ko-KR" sz="900" b="0" u="none" strike="noStrike" dirty="0">
                          <a:effectLst/>
                        </a:rPr>
                        <a:t>)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2026-12-21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2027-01-29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858961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u="none" strike="noStrike" dirty="0">
                          <a:effectLst/>
                        </a:rPr>
                        <a:t>정보보호 공시 / ISO 사후 지원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2026-12-07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2027-01-29</a:t>
                      </a:r>
                      <a:endParaRPr 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>
                          <a:effectLst/>
                        </a:rPr>
                        <a:t>　</a:t>
                      </a:r>
                      <a:endParaRPr lang="ko-KR" sz="900" b="0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u="none" strike="noStrike" dirty="0">
                          <a:effectLst/>
                        </a:rPr>
                        <a:t>　</a:t>
                      </a: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9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67382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732663A-3B13-B14B-608E-8B81C3338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Arial" panose="020B0604020202020204" pitchFamily="34" charset="0"/>
              </a:rPr>
              <a:t>프로젝트 수행 일정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C2C42-F6E9-C41E-2B4A-F6C9EC52DE52}"/>
              </a:ext>
            </a:extLst>
          </p:cNvPr>
          <p:cNvSpPr txBox="1"/>
          <p:nvPr/>
        </p:nvSpPr>
        <p:spPr>
          <a:xfrm>
            <a:off x="5934751" y="6057900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rgbClr val="C00000"/>
                </a:solidFill>
              </a:rPr>
              <a:t>Today</a:t>
            </a:r>
            <a:endParaRPr lang="ko-KR" altLang="en-US" sz="1200" b="1" i="1" dirty="0">
              <a:solidFill>
                <a:srgbClr val="C00000"/>
              </a:solidFill>
            </a:endParaRPr>
          </a:p>
        </p:txBody>
      </p:sp>
      <p:sp>
        <p:nvSpPr>
          <p:cNvPr id="5" name="Isosceles Triangle 44">
            <a:extLst>
              <a:ext uri="{FF2B5EF4-FFF2-40B4-BE49-F238E27FC236}">
                <a16:creationId xmlns:a16="http://schemas.microsoft.com/office/drawing/2014/main" id="{4E116A79-AC35-3295-B129-DC94AB14433C}"/>
              </a:ext>
            </a:extLst>
          </p:cNvPr>
          <p:cNvSpPr/>
          <p:nvPr/>
        </p:nvSpPr>
        <p:spPr bwMode="auto">
          <a:xfrm>
            <a:off x="5767025" y="6195060"/>
            <a:ext cx="167726" cy="89524"/>
          </a:xfrm>
          <a:prstGeom prst="triangl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486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66831-7421-41FD-7510-C6670BD2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9F22-D9CB-2793-DDAF-0E23F4A1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산출물 관리 </a:t>
            </a:r>
            <a:r>
              <a:rPr lang="en-US" altLang="ko-KR" dirty="0"/>
              <a:t>(</a:t>
            </a:r>
            <a:r>
              <a:rPr lang="ko-KR" altLang="en-US" dirty="0"/>
              <a:t>전체 </a:t>
            </a:r>
            <a:r>
              <a:rPr lang="ko-KR" altLang="en-US" dirty="0" err="1"/>
              <a:t>진척률</a:t>
            </a:r>
            <a:r>
              <a:rPr lang="ko-KR" altLang="en-US" dirty="0"/>
              <a:t> </a:t>
            </a:r>
            <a:r>
              <a:rPr lang="en-US" altLang="ko-KR" dirty="0"/>
              <a:t>13.1%)</a:t>
            </a:r>
            <a:endParaRPr lang="en-US" dirty="0"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419743D-8F17-5A29-720F-113D749CA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501039"/>
              </p:ext>
            </p:extLst>
          </p:nvPr>
        </p:nvGraphicFramePr>
        <p:xfrm>
          <a:off x="415925" y="804053"/>
          <a:ext cx="9049403" cy="5504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9920">
                  <a:extLst>
                    <a:ext uri="{9D8B030D-6E8A-4147-A177-3AD203B41FA5}">
                      <a16:colId xmlns:a16="http://schemas.microsoft.com/office/drawing/2014/main" val="1509443849"/>
                    </a:ext>
                  </a:extLst>
                </a:gridCol>
                <a:gridCol w="3816870">
                  <a:extLst>
                    <a:ext uri="{9D8B030D-6E8A-4147-A177-3AD203B41FA5}">
                      <a16:colId xmlns:a16="http://schemas.microsoft.com/office/drawing/2014/main" val="1963270915"/>
                    </a:ext>
                  </a:extLst>
                </a:gridCol>
                <a:gridCol w="3384000">
                  <a:extLst>
                    <a:ext uri="{9D8B030D-6E8A-4147-A177-3AD203B41FA5}">
                      <a16:colId xmlns:a16="http://schemas.microsoft.com/office/drawing/2014/main" val="1454552942"/>
                    </a:ext>
                  </a:extLst>
                </a:gridCol>
                <a:gridCol w="848613">
                  <a:extLst>
                    <a:ext uri="{9D8B030D-6E8A-4147-A177-3AD203B41FA5}">
                      <a16:colId xmlns:a16="http://schemas.microsoft.com/office/drawing/2014/main" val="560767414"/>
                    </a:ext>
                  </a:extLst>
                </a:gridCol>
              </a:tblGrid>
              <a:tr h="488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Phase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u="none" strike="noStrike" dirty="0">
                          <a:effectLst/>
                        </a:rPr>
                        <a:t>수행업무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895" marR="3895" marT="389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900" b="1" u="none" strike="noStrike" dirty="0">
                          <a:effectLst/>
                        </a:rPr>
                        <a:t>산출물</a:t>
                      </a:r>
                      <a:endParaRPr lang="ko-KR" sz="9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진척도</a:t>
                      </a:r>
                      <a:endParaRPr lang="ko-KR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73487"/>
                  </a:ext>
                </a:extLst>
              </a:tr>
              <a:tr h="2180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환경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준거성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분석</a:t>
                      </a:r>
                      <a:endParaRPr lang="ko-KR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250" marR="225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 err="1">
                          <a:effectLst/>
                        </a:rPr>
                        <a:t>내·외부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 환경 및 위협 동향 분석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내·외부</a:t>
                      </a:r>
                      <a:r>
                        <a:rPr lang="ko-KR" sz="1000" u="none" strike="noStrike" dirty="0">
                          <a:effectLst/>
                        </a:rPr>
                        <a:t> 환경 및 위협동향 분석서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</a:t>
                      </a:r>
                      <a:endParaRPr 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437929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>
                          <a:effectLst/>
                        </a:rPr>
                        <a:t>현황 분석 및 법적 </a:t>
                      </a:r>
                      <a:r>
                        <a:rPr lang="ko-KR" altLang="ko-KR" sz="1000" b="0" u="none" strike="noStrike" dirty="0" err="1">
                          <a:effectLst/>
                        </a:rPr>
                        <a:t>준거성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 검토</a:t>
                      </a:r>
                      <a:endParaRPr lang="ko-KR" altLang="en-US" sz="1000" b="0" u="none" strike="noStrike" dirty="0">
                        <a:effectLst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통합 컴플라이언스 체크리스트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011083"/>
                  </a:ext>
                </a:extLst>
              </a:tr>
              <a:tr h="218081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보안 진단</a:t>
                      </a:r>
                      <a:endParaRPr lang="ko-KR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250" marR="225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000" b="0" u="none" strike="noStrike" dirty="0" err="1">
                          <a:effectLst/>
                        </a:rPr>
                        <a:t>관리·물리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 보안 성숙도 진단</a:t>
                      </a: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u="none" strike="noStrike" dirty="0">
                          <a:effectLst/>
                        </a:rPr>
                        <a:t>현황 분석서 / 법적 </a:t>
                      </a:r>
                      <a:r>
                        <a:rPr lang="ko-KR" altLang="ko-KR" sz="1000" u="none" strike="noStrike" dirty="0" err="1">
                          <a:effectLst/>
                        </a:rPr>
                        <a:t>준거성</a:t>
                      </a:r>
                      <a:r>
                        <a:rPr lang="ko-KR" altLang="ko-KR" sz="1000" u="none" strike="noStrike" dirty="0">
                          <a:effectLst/>
                        </a:rPr>
                        <a:t> 검토 결과서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</a:rPr>
                        <a:t>발견 사항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</a:t>
                      </a:r>
                      <a:endParaRPr 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6251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u="none" strike="noStrike" dirty="0" err="1">
                          <a:effectLst/>
                        </a:rPr>
                        <a:t>관리체계·성숙도·Gap</a:t>
                      </a:r>
                      <a:r>
                        <a:rPr lang="ko-KR" altLang="ko-KR" sz="1000" u="none" strike="noStrike" dirty="0">
                          <a:effectLst/>
                        </a:rPr>
                        <a:t> 진단 결과서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10932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>
                          <a:effectLst/>
                        </a:rPr>
                        <a:t>기술 취약점 진단(</a:t>
                      </a:r>
                      <a:r>
                        <a:rPr lang="ko-KR" altLang="ko-KR" sz="1000" b="0" u="none" strike="noStrike" dirty="0" err="1">
                          <a:effectLst/>
                        </a:rPr>
                        <a:t>Infra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)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정보자산 및 기술진단 대상</a:t>
                      </a:r>
                      <a:r>
                        <a:rPr lang="en-US" altLang="ko-KR" sz="1000" u="none" strike="noStrike" dirty="0">
                          <a:effectLst/>
                        </a:rPr>
                        <a:t> </a:t>
                      </a:r>
                      <a:r>
                        <a:rPr lang="ko-KR" altLang="en-US" sz="1000" u="none" strike="noStrike" dirty="0">
                          <a:effectLst/>
                        </a:rPr>
                        <a:t>현행화</a:t>
                      </a:r>
                      <a:r>
                        <a:rPr lang="en-US" altLang="ko-KR" sz="1000" u="none" strike="noStrike" dirty="0">
                          <a:effectLst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</a:rPr>
                        <a:t>자산 대장</a:t>
                      </a:r>
                      <a:r>
                        <a:rPr lang="en-US" altLang="ko-KR" sz="1000" u="none" strike="noStrike" dirty="0">
                          <a:effectLst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495619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인프라·클라우드</a:t>
                      </a:r>
                      <a:r>
                        <a:rPr lang="ko-KR" sz="1000" u="none" strike="noStrike" dirty="0">
                          <a:effectLst/>
                        </a:rPr>
                        <a:t> 취약점 진단 결과서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30%</a:t>
                      </a:r>
                      <a:endParaRPr 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147643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 err="1">
                          <a:effectLst/>
                        </a:rPr>
                        <a:t>모의해킹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(</a:t>
                      </a:r>
                      <a:r>
                        <a:rPr lang="ko-KR" altLang="ko-KR" sz="1000" b="0" u="none" strike="noStrike" dirty="0" err="1">
                          <a:effectLst/>
                        </a:rPr>
                        <a:t>Web·App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)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웹·앱</a:t>
                      </a:r>
                      <a:r>
                        <a:rPr lang="ko-KR" sz="1000" u="none" strike="noStrike" dirty="0">
                          <a:effectLst/>
                        </a:rPr>
                        <a:t> 취약점 진단 결과서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67518"/>
                  </a:ext>
                </a:extLst>
              </a:tr>
              <a:tr h="21808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위험평가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개선</a:t>
                      </a:r>
                      <a:endParaRPr lang="ko-KR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250" marR="225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000" b="0" u="none" strike="noStrike" dirty="0">
                          <a:effectLst/>
                        </a:rPr>
                        <a:t>보안위험 평가 및 우선순위화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위험평가 결과서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273655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000" b="0" u="none" strike="noStrike" dirty="0">
                          <a:effectLst/>
                        </a:rPr>
                        <a:t>취약점 보호대책 수립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취약점 조치계획 / 결과서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1790"/>
                  </a:ext>
                </a:extLst>
              </a:tr>
              <a:tr h="218081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정책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로드맵</a:t>
                      </a:r>
                      <a:endParaRPr lang="ko-KR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250" marR="225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 err="1">
                          <a:effectLst/>
                        </a:rPr>
                        <a:t>정책·지침·매뉴얼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 </a:t>
                      </a:r>
                      <a:r>
                        <a:rPr lang="ko-KR" altLang="ko-KR" sz="1000" b="0" u="none" strike="noStrike" dirty="0" err="1">
                          <a:effectLst/>
                        </a:rPr>
                        <a:t>제·개정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정책·지침·매뉴얼</a:t>
                      </a:r>
                      <a:r>
                        <a:rPr lang="ko-KR" sz="1000" u="none" strike="noStrike" dirty="0">
                          <a:effectLst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</a:rPr>
                        <a:t>제·개정안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  <a:endParaRPr 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154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사이버 위기 / 재해재난 복구 매뉴얼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46895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>
                          <a:effectLst/>
                        </a:rPr>
                        <a:t>ISMS 인증심사 대비 개선 로드맵</a:t>
                      </a: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ISMS 인증범위 / Gap 분석표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144382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ISMS </a:t>
                      </a:r>
                      <a:r>
                        <a:rPr lang="ko-KR" sz="1000" u="none" strike="noStrike" dirty="0" err="1">
                          <a:effectLst/>
                        </a:rPr>
                        <a:t>증적자료</a:t>
                      </a:r>
                      <a:r>
                        <a:rPr lang="ko-KR" sz="1000" u="none" strike="noStrike" dirty="0">
                          <a:effectLst/>
                        </a:rPr>
                        <a:t> / </a:t>
                      </a:r>
                      <a:r>
                        <a:rPr lang="ko-KR" sz="1000" u="none" strike="noStrike" dirty="0" err="1">
                          <a:effectLst/>
                        </a:rPr>
                        <a:t>증적목록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181655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ISMS 인증 신청서 / 운영명세서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58541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ISMS 인증 대비 개선 로드맵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246478"/>
                  </a:ext>
                </a:extLst>
              </a:tr>
              <a:tr h="218081"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안정화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인증 </a:t>
                      </a:r>
                      <a:b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지원</a:t>
                      </a:r>
                      <a:endParaRPr lang="ko-KR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2250" marR="225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>
                          <a:effectLst/>
                        </a:rPr>
                        <a:t>중장기 마스터플랜 및 실행 로드맵</a:t>
                      </a: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개선 요구사항 정의서 / 과제 정의서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78851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중장기 정보보안 마스터플랜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703783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단계별 실행계획 / 보안 투자 로드맵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294595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>
                          <a:effectLst/>
                        </a:rPr>
                        <a:t>이행조치 점검(</a:t>
                      </a:r>
                      <a:r>
                        <a:rPr lang="ko-KR" altLang="ko-KR" sz="1000" b="0" u="none" strike="noStrike" dirty="0" err="1">
                          <a:effectLst/>
                        </a:rPr>
                        <a:t>기술진단·모의해킹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)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인프라 이행점검 결과서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15593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 err="1">
                          <a:effectLst/>
                        </a:rPr>
                        <a:t>모의해킹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(</a:t>
                      </a:r>
                      <a:r>
                        <a:rPr lang="ko-KR" altLang="ko-KR" sz="1000" b="0" u="none" strike="noStrike" dirty="0" err="1">
                          <a:effectLst/>
                        </a:rPr>
                        <a:t>Web·App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)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웹·앱</a:t>
                      </a:r>
                      <a:r>
                        <a:rPr lang="ko-KR" sz="1000" u="none" strike="noStrike" dirty="0">
                          <a:effectLst/>
                        </a:rPr>
                        <a:t> 이행점검 결과서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15205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관리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최종보고서 / </a:t>
                      </a:r>
                      <a:r>
                        <a:rPr lang="ko-KR" sz="1000" u="none" strike="noStrike" dirty="0" err="1">
                          <a:effectLst/>
                        </a:rPr>
                        <a:t>검수·인수인계서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52172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u="none" strike="noStrike" dirty="0">
                          <a:effectLst/>
                        </a:rPr>
                        <a:t>정보보호 공시 / </a:t>
                      </a:r>
                      <a:r>
                        <a:rPr lang="ko-KR" altLang="en-US" sz="1000" b="0" u="none" strike="noStrike" dirty="0">
                          <a:effectLst/>
                        </a:rPr>
                        <a:t>인증</a:t>
                      </a:r>
                      <a:r>
                        <a:rPr lang="ko-KR" altLang="ko-KR" sz="1000" b="0" u="none" strike="noStrike" dirty="0">
                          <a:effectLst/>
                        </a:rPr>
                        <a:t> 사후 지원</a:t>
                      </a:r>
                      <a:r>
                        <a:rPr lang="en-US" altLang="ko-KR" sz="1000" b="0" u="none" strike="noStrike" dirty="0">
                          <a:effectLst/>
                        </a:rPr>
                        <a:t> (</a:t>
                      </a:r>
                      <a:r>
                        <a:rPr lang="ko-KR" altLang="en-US" sz="1000" b="0" u="none" strike="noStrike" dirty="0">
                          <a:effectLst/>
                        </a:rPr>
                        <a:t>非상주 지원</a:t>
                      </a:r>
                      <a:r>
                        <a:rPr lang="en-US" altLang="ko-KR" sz="1000" b="0" u="none" strike="noStrike" dirty="0">
                          <a:effectLst/>
                        </a:rPr>
                        <a:t>)</a:t>
                      </a:r>
                      <a:endParaRPr lang="ko-KR" altLang="ko-KR" sz="1000" b="0" u="none" strike="noStrike" dirty="0">
                        <a:effectLst/>
                      </a:endParaRPr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</a:rPr>
                        <a:t>공시자료·산정근거</a:t>
                      </a:r>
                      <a:r>
                        <a:rPr lang="ko-KR" sz="1000" u="none" strike="noStrike" dirty="0">
                          <a:effectLst/>
                        </a:rPr>
                        <a:t> / 사전점검 결과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87125"/>
                  </a:ext>
                </a:extLst>
              </a:tr>
              <a:tr h="21808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50" marR="2250" marT="225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22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</a:rPr>
                        <a:t>ISO 사후심사 </a:t>
                      </a:r>
                      <a:r>
                        <a:rPr lang="ko-KR" sz="1000" u="none" strike="noStrike" dirty="0" err="1">
                          <a:effectLst/>
                        </a:rPr>
                        <a:t>지원·보완</a:t>
                      </a:r>
                      <a:r>
                        <a:rPr lang="ko-KR" sz="1000" u="none" strike="noStrike" dirty="0">
                          <a:effectLst/>
                        </a:rPr>
                        <a:t> 목록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22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716635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4534EC18-9681-FA1B-103E-1A47F54F9A27}"/>
              </a:ext>
            </a:extLst>
          </p:cNvPr>
          <p:cNvGrpSpPr/>
          <p:nvPr/>
        </p:nvGrpSpPr>
        <p:grpSpPr>
          <a:xfrm>
            <a:off x="6807659" y="415141"/>
            <a:ext cx="2765536" cy="261610"/>
            <a:chOff x="5706446" y="409732"/>
            <a:chExt cx="2765536" cy="2616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E00D768-ABB1-D6B3-8F7E-C04C19063500}"/>
                </a:ext>
              </a:extLst>
            </p:cNvPr>
            <p:cNvSpPr/>
            <p:nvPr/>
          </p:nvSpPr>
          <p:spPr>
            <a:xfrm>
              <a:off x="5706446" y="450378"/>
              <a:ext cx="267634" cy="1803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3A08402-FDFE-5A1E-BB97-48E886934FF7}"/>
                </a:ext>
              </a:extLst>
            </p:cNvPr>
            <p:cNvSpPr txBox="1"/>
            <p:nvPr/>
          </p:nvSpPr>
          <p:spPr>
            <a:xfrm>
              <a:off x="5919216" y="409732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/>
                <a:t>착수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6583D35-7FCC-C7D7-52EF-E5D7D3207501}"/>
                </a:ext>
              </a:extLst>
            </p:cNvPr>
            <p:cNvSpPr/>
            <p:nvPr/>
          </p:nvSpPr>
          <p:spPr>
            <a:xfrm>
              <a:off x="6386010" y="450378"/>
              <a:ext cx="267634" cy="180318"/>
            </a:xfrm>
            <a:prstGeom prst="rect">
              <a:avLst/>
            </a:prstGeom>
            <a:solidFill>
              <a:srgbClr val="FFF9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218A02-F4D5-E454-631B-594431A88CD1}"/>
                </a:ext>
              </a:extLst>
            </p:cNvPr>
            <p:cNvSpPr txBox="1"/>
            <p:nvPr/>
          </p:nvSpPr>
          <p:spPr>
            <a:xfrm>
              <a:off x="6598780" y="409732"/>
              <a:ext cx="6399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/>
                <a:t>작업 中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8FDA01E-97E0-BBA0-C4CC-91FF1FC5DC78}"/>
                </a:ext>
              </a:extLst>
            </p:cNvPr>
            <p:cNvSpPr/>
            <p:nvPr/>
          </p:nvSpPr>
          <p:spPr>
            <a:xfrm>
              <a:off x="7238699" y="450378"/>
              <a:ext cx="267634" cy="180318"/>
            </a:xfrm>
            <a:prstGeom prst="rect">
              <a:avLst/>
            </a:prstGeom>
            <a:solidFill>
              <a:srgbClr val="FFE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C280B9-A52A-1238-5B39-EAEB6D60CD15}"/>
                </a:ext>
              </a:extLst>
            </p:cNvPr>
            <p:cNvSpPr txBox="1"/>
            <p:nvPr/>
          </p:nvSpPr>
          <p:spPr>
            <a:xfrm>
              <a:off x="7451469" y="409732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/>
                <a:t>초안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AE5FAF9-AAA6-FA13-2F89-FD4EC10A53EC}"/>
                </a:ext>
              </a:extLst>
            </p:cNvPr>
            <p:cNvSpPr/>
            <p:nvPr/>
          </p:nvSpPr>
          <p:spPr>
            <a:xfrm>
              <a:off x="7933482" y="450378"/>
              <a:ext cx="267634" cy="1803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74225C-AA6C-E5BD-030D-71108D380D60}"/>
                </a:ext>
              </a:extLst>
            </p:cNvPr>
            <p:cNvSpPr txBox="1"/>
            <p:nvPr/>
          </p:nvSpPr>
          <p:spPr>
            <a:xfrm>
              <a:off x="8146252" y="409732"/>
              <a:ext cx="3257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dirty="0"/>
                <a:t>完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006D618-6FDE-2DED-5A88-6886F810C07C}"/>
              </a:ext>
            </a:extLst>
          </p:cNvPr>
          <p:cNvSpPr txBox="1"/>
          <p:nvPr/>
        </p:nvSpPr>
        <p:spPr>
          <a:xfrm>
            <a:off x="9410330" y="1262390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F5B800"/>
                </a:solidFill>
                <a:latin typeface="+mj-ea"/>
                <a:ea typeface="+mj-ea"/>
              </a:rPr>
              <a:t>+10%</a:t>
            </a:r>
            <a:endParaRPr lang="ko-KR" altLang="en-US" sz="1050" b="1" dirty="0">
              <a:solidFill>
                <a:srgbClr val="F5B800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B1E52-735C-22D0-AEFC-295A4477D43E}"/>
              </a:ext>
            </a:extLst>
          </p:cNvPr>
          <p:cNvSpPr txBox="1"/>
          <p:nvPr/>
        </p:nvSpPr>
        <p:spPr>
          <a:xfrm>
            <a:off x="9410330" y="1720727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F5B800"/>
                </a:solidFill>
                <a:latin typeface="+mj-ea"/>
                <a:ea typeface="+mj-ea"/>
              </a:rPr>
              <a:t>+30%</a:t>
            </a:r>
            <a:endParaRPr lang="ko-KR" altLang="en-US" sz="1050" b="1" dirty="0">
              <a:solidFill>
                <a:srgbClr val="F5B80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F5327D-D15A-D681-8E30-6F88DDCA08D9}"/>
              </a:ext>
            </a:extLst>
          </p:cNvPr>
          <p:cNvSpPr txBox="1"/>
          <p:nvPr/>
        </p:nvSpPr>
        <p:spPr>
          <a:xfrm>
            <a:off x="9410330" y="2366903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F5B800"/>
                </a:solidFill>
                <a:latin typeface="+mj-ea"/>
                <a:ea typeface="+mj-ea"/>
              </a:rPr>
              <a:t>+10%</a:t>
            </a:r>
            <a:endParaRPr lang="ko-KR" altLang="en-US" sz="1050" b="1" dirty="0">
              <a:solidFill>
                <a:srgbClr val="F5B8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00F864-B007-985F-C24B-1164370A4576}"/>
              </a:ext>
            </a:extLst>
          </p:cNvPr>
          <p:cNvSpPr txBox="1"/>
          <p:nvPr/>
        </p:nvSpPr>
        <p:spPr>
          <a:xfrm>
            <a:off x="9410330" y="3234435"/>
            <a:ext cx="731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>
                <a:solidFill>
                  <a:srgbClr val="F5B800"/>
                </a:solidFill>
                <a:latin typeface="+mj-ea"/>
                <a:ea typeface="+mj-ea"/>
              </a:rPr>
              <a:t>+5%</a:t>
            </a:r>
            <a:endParaRPr lang="ko-KR" altLang="en-US" sz="1050" b="1" dirty="0">
              <a:solidFill>
                <a:srgbClr val="F5B8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8936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DF57-7304-2578-4DE4-6F6E4E6E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54CC-C21C-9655-381C-4DFEF085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cs typeface="Arial" panose="020B0604020202020204" pitchFamily="34" charset="0"/>
              </a:rPr>
              <a:t>주요 업무 실적</a:t>
            </a:r>
            <a:endParaRPr lang="en-US" altLang="en-US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87905-FA75-7CEF-C80F-0453AC71F72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000000"/>
                </a:solidFill>
              </a:rPr>
              <a:t>관리체계 진단 </a:t>
            </a:r>
            <a:r>
              <a:rPr lang="en-US" altLang="ko-KR" b="1" dirty="0">
                <a:solidFill>
                  <a:srgbClr val="000000"/>
                </a:solidFill>
              </a:rPr>
              <a:t>(2</a:t>
            </a:r>
            <a:r>
              <a:rPr lang="ko-KR" altLang="en-US" b="1" dirty="0">
                <a:solidFill>
                  <a:srgbClr val="000000"/>
                </a:solidFill>
              </a:rPr>
              <a:t>주차 인터뷰 진행</a:t>
            </a:r>
            <a:r>
              <a:rPr lang="en-US" altLang="ko-KR" b="1" dirty="0">
                <a:solidFill>
                  <a:srgbClr val="000000"/>
                </a:solidFill>
              </a:rPr>
              <a:t>, 3</a:t>
            </a:r>
            <a:r>
              <a:rPr lang="ko-KR" altLang="en-US" b="1" dirty="0">
                <a:solidFill>
                  <a:srgbClr val="000000"/>
                </a:solidFill>
              </a:rPr>
              <a:t>개 부문</a:t>
            </a:r>
            <a:r>
              <a:rPr lang="en-US" altLang="ko-KR" b="1" dirty="0">
                <a:solidFill>
                  <a:srgbClr val="000000"/>
                </a:solidFill>
              </a:rPr>
              <a:t>/</a:t>
            </a:r>
            <a:r>
              <a:rPr lang="ko-KR" altLang="en-US" b="1" dirty="0">
                <a:solidFill>
                  <a:srgbClr val="000000"/>
                </a:solidFill>
              </a:rPr>
              <a:t>부서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br>
              <a:rPr lang="en-US" altLang="ko-KR" b="1" dirty="0">
                <a:solidFill>
                  <a:srgbClr val="000000"/>
                </a:solidFill>
              </a:rPr>
            </a:br>
            <a:r>
              <a:rPr lang="ko-KR" altLang="en-US" b="1" dirty="0">
                <a:solidFill>
                  <a:srgbClr val="000000"/>
                </a:solidFill>
              </a:rPr>
              <a:t>기술 진단 </a:t>
            </a:r>
            <a:r>
              <a:rPr lang="en-US" altLang="ko-KR" b="1" dirty="0">
                <a:solidFill>
                  <a:srgbClr val="000000"/>
                </a:solidFill>
              </a:rPr>
              <a:t>(74%</a:t>
            </a:r>
            <a:r>
              <a:rPr lang="ko-KR" altLang="en-US" b="1" dirty="0">
                <a:solidFill>
                  <a:srgbClr val="000000"/>
                </a:solidFill>
              </a:rPr>
              <a:t> 진단 완료</a:t>
            </a:r>
            <a:r>
              <a:rPr lang="en-US" altLang="ko-KR" b="1" dirty="0">
                <a:solidFill>
                  <a:srgbClr val="000000"/>
                </a:solidFill>
              </a:rPr>
              <a:t>)</a:t>
            </a:r>
            <a:endParaRPr lang="ko-KR" altLang="ko-KR" b="1" dirty="0">
              <a:solidFill>
                <a:srgbClr val="000000"/>
              </a:solidFill>
            </a:endParaRPr>
          </a:p>
          <a:p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09FB86-E941-CE8F-EB52-ADDD4892A9CD}"/>
              </a:ext>
            </a:extLst>
          </p:cNvPr>
          <p:cNvSpPr/>
          <p:nvPr/>
        </p:nvSpPr>
        <p:spPr>
          <a:xfrm>
            <a:off x="444707" y="1524000"/>
            <a:ext cx="4233974" cy="335280"/>
          </a:xfrm>
          <a:prstGeom prst="rect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금주 실적 </a:t>
            </a:r>
            <a:r>
              <a:rPr lang="en-US" altLang="ko-KR" sz="1400" b="1" dirty="0">
                <a:solidFill>
                  <a:schemeClr val="tx1"/>
                </a:solidFill>
              </a:rPr>
              <a:t>(10.16 ~ 10.23)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F312E-FB35-3CDE-F32E-F3A97AB3AC7C}"/>
              </a:ext>
            </a:extLst>
          </p:cNvPr>
          <p:cNvSpPr/>
          <p:nvPr/>
        </p:nvSpPr>
        <p:spPr>
          <a:xfrm>
            <a:off x="5256104" y="1524000"/>
            <a:ext cx="4233974" cy="335280"/>
          </a:xfrm>
          <a:prstGeom prst="rect">
            <a:avLst/>
          </a:prstGeom>
          <a:solidFill>
            <a:srgbClr val="FFE600"/>
          </a:solidFill>
          <a:ln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차주 목표 </a:t>
            </a:r>
            <a:r>
              <a:rPr lang="en-US" altLang="ko-KR" sz="1400" b="1" dirty="0">
                <a:solidFill>
                  <a:schemeClr val="tx1"/>
                </a:solidFill>
              </a:rPr>
              <a:t>(10.26 ~ 10.30)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0386D-048C-D61A-5610-1F29D8569D3B}"/>
              </a:ext>
            </a:extLst>
          </p:cNvPr>
          <p:cNvSpPr/>
          <p:nvPr/>
        </p:nvSpPr>
        <p:spPr>
          <a:xfrm>
            <a:off x="444707" y="1940559"/>
            <a:ext cx="4233974" cy="43681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4A9986-A1E4-47A8-C721-CFED6D32A405}"/>
              </a:ext>
            </a:extLst>
          </p:cNvPr>
          <p:cNvSpPr/>
          <p:nvPr/>
        </p:nvSpPr>
        <p:spPr>
          <a:xfrm>
            <a:off x="5256104" y="1940559"/>
            <a:ext cx="4233974" cy="43681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BFFF8E-6600-E0C1-E6D1-E1C8004E0C22}"/>
              </a:ext>
            </a:extLst>
          </p:cNvPr>
          <p:cNvCxnSpPr>
            <a:cxnSpLocks/>
          </p:cNvCxnSpPr>
          <p:nvPr/>
        </p:nvCxnSpPr>
        <p:spPr>
          <a:xfrm>
            <a:off x="566421" y="4815765"/>
            <a:ext cx="4010453" cy="1102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B00CD13-74F1-B086-ED06-CB8C245C2E7A}"/>
              </a:ext>
            </a:extLst>
          </p:cNvPr>
          <p:cNvGrpSpPr/>
          <p:nvPr/>
        </p:nvGrpSpPr>
        <p:grpSpPr>
          <a:xfrm>
            <a:off x="566421" y="3015646"/>
            <a:ext cx="4000499" cy="1728151"/>
            <a:chOff x="566421" y="2042610"/>
            <a:chExt cx="4000499" cy="195012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888282-3E62-D7FB-FA44-98D42085A2FA}"/>
                </a:ext>
              </a:extLst>
            </p:cNvPr>
            <p:cNvSpPr/>
            <p:nvPr/>
          </p:nvSpPr>
          <p:spPr>
            <a:xfrm>
              <a:off x="566421" y="2042610"/>
              <a:ext cx="843280" cy="1950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관리체계</a:t>
              </a:r>
              <a:endPara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진단</a:t>
              </a:r>
              <a:endParaRPr lang="ko-KR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2EB23C-CEA2-CF62-3BD9-0637D4415961}"/>
                </a:ext>
              </a:extLst>
            </p:cNvPr>
            <p:cNvSpPr/>
            <p:nvPr/>
          </p:nvSpPr>
          <p:spPr>
            <a:xfrm>
              <a:off x="1513633" y="2042610"/>
              <a:ext cx="3053287" cy="19501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lnSpc>
                  <a:spcPct val="130000"/>
                </a:lnSpc>
                <a:spcAft>
                  <a:spcPts val="900"/>
                </a:spcAft>
                <a:buFont typeface="Wingdings" panose="05000000000000000000" pitchFamily="2" charset="2"/>
                <a:buChar char="§"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신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구 대조표 및 정책 지침 현행화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(~ 11.27)</a:t>
              </a:r>
              <a:br>
                <a:rPr lang="en-US" altLang="ko-KR" sz="1100" b="1" dirty="0">
                  <a:solidFill>
                    <a:schemeClr val="tx1"/>
                  </a:solidFill>
                </a:rPr>
              </a:br>
              <a:r>
                <a:rPr lang="en-US" altLang="ko-KR" sz="1100" b="1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총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18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개 지침 중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5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개 지침 작업 完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정보보호조직 운영 지침 </a:t>
              </a:r>
              <a:r>
                <a:rPr lang="en-US" altLang="ko-KR" sz="1100" dirty="0">
                  <a:solidFill>
                    <a:schemeClr val="tx1"/>
                  </a:solidFill>
                </a:rPr>
                <a:t>(</a:t>
              </a:r>
              <a:r>
                <a:rPr lang="ko-KR" altLang="en-US" sz="1100" dirty="0">
                  <a:solidFill>
                    <a:schemeClr val="tx1"/>
                  </a:solidFill>
                </a:rPr>
                <a:t>검토 </a:t>
              </a:r>
              <a:r>
                <a:rPr lang="en-US" altLang="ko-KR" sz="1100" dirty="0">
                  <a:solidFill>
                    <a:schemeClr val="tx1"/>
                  </a:solidFill>
                </a:rPr>
                <a:t>to </a:t>
              </a:r>
              <a:r>
                <a:rPr lang="ko-KR" altLang="en-US" sz="1100" dirty="0">
                  <a:solidFill>
                    <a:schemeClr val="tx1"/>
                  </a:solidFill>
                </a:rPr>
                <a:t>황윤영</a:t>
              </a:r>
              <a:r>
                <a:rPr lang="en-US" altLang="ko-KR" sz="1100" dirty="0">
                  <a:solidFill>
                    <a:schemeClr val="tx1"/>
                  </a:solidFill>
                </a:rPr>
                <a:t>M)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인적 보안 지침 </a:t>
              </a:r>
              <a:r>
                <a:rPr lang="en-US" altLang="ko-KR" sz="1100" dirty="0">
                  <a:solidFill>
                    <a:schemeClr val="tx1"/>
                  </a:solidFill>
                </a:rPr>
                <a:t>(</a:t>
              </a:r>
              <a:r>
                <a:rPr lang="ko-KR" altLang="en-US" sz="1100" dirty="0">
                  <a:solidFill>
                    <a:schemeClr val="tx1"/>
                  </a:solidFill>
                </a:rPr>
                <a:t>검토 </a:t>
              </a:r>
              <a:r>
                <a:rPr lang="en-US" altLang="ko-KR" sz="1100" dirty="0">
                  <a:solidFill>
                    <a:schemeClr val="tx1"/>
                  </a:solidFill>
                </a:rPr>
                <a:t>to</a:t>
              </a:r>
              <a:r>
                <a:rPr lang="ko-KR" altLang="en-US" sz="1100" dirty="0">
                  <a:solidFill>
                    <a:schemeClr val="tx1"/>
                  </a:solidFill>
                </a:rPr>
                <a:t> 황윤영</a:t>
              </a:r>
              <a:r>
                <a:rPr lang="en-US" altLang="ko-KR" sz="1100" dirty="0">
                  <a:solidFill>
                    <a:schemeClr val="tx1"/>
                  </a:solidFill>
                </a:rPr>
                <a:t>M)</a:t>
              </a:r>
            </a:p>
            <a:p>
              <a:pPr marL="108000" indent="-108000">
                <a:lnSpc>
                  <a:spcPct val="130000"/>
                </a:lnSpc>
                <a:spcAft>
                  <a:spcPts val="900"/>
                </a:spcAft>
                <a:buFont typeface="Wingdings" panose="05000000000000000000" pitchFamily="2" charset="2"/>
                <a:buChar char="§"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현황 분석 및 법적 </a:t>
              </a:r>
              <a:r>
                <a:rPr lang="ko-KR" altLang="en-US" sz="1100" b="1" dirty="0" err="1">
                  <a:solidFill>
                    <a:schemeClr val="tx1"/>
                  </a:solidFill>
                </a:rPr>
                <a:t>준거성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 검토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(5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주차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현황 식별 및 발견 사항 정리 중</a:t>
              </a:r>
              <a:endParaRPr lang="en-US" altLang="ko-KR" sz="11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4845A15-BBC4-CD83-662E-21574C1B5044}"/>
              </a:ext>
            </a:extLst>
          </p:cNvPr>
          <p:cNvGrpSpPr/>
          <p:nvPr/>
        </p:nvGrpSpPr>
        <p:grpSpPr>
          <a:xfrm>
            <a:off x="566421" y="4891231"/>
            <a:ext cx="4000498" cy="1315442"/>
            <a:chOff x="566421" y="4256550"/>
            <a:chExt cx="4000498" cy="19501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19B039-3637-4099-FE00-CF06D38FE674}"/>
                </a:ext>
              </a:extLst>
            </p:cNvPr>
            <p:cNvSpPr/>
            <p:nvPr/>
          </p:nvSpPr>
          <p:spPr>
            <a:xfrm>
              <a:off x="566421" y="4256550"/>
              <a:ext cx="843280" cy="19501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기술 진단</a:t>
              </a:r>
              <a:endParaRPr lang="ko-KR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222933-0A51-FC88-6872-00D7F0320E73}"/>
                </a:ext>
              </a:extLst>
            </p:cNvPr>
            <p:cNvSpPr/>
            <p:nvPr/>
          </p:nvSpPr>
          <p:spPr>
            <a:xfrm>
              <a:off x="1513632" y="4256550"/>
              <a:ext cx="3053287" cy="19501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lnSpc>
                  <a:spcPct val="10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인프라 진단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총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753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대 中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560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대 진단 완료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br>
                <a:rPr lang="en-US" altLang="ko-KR" sz="1100" b="1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보안장비 진단 완료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데이터베이스 </a:t>
              </a:r>
              <a:r>
                <a:rPr lang="en-US" altLang="ko-KR" sz="1100" dirty="0">
                  <a:solidFill>
                    <a:schemeClr val="tx1"/>
                  </a:solidFill>
                </a:rPr>
                <a:t>(20</a:t>
              </a:r>
              <a:r>
                <a:rPr lang="ko-KR" altLang="en-US" sz="1100" dirty="0">
                  <a:solidFill>
                    <a:schemeClr val="tx1"/>
                  </a:solidFill>
                </a:rPr>
                <a:t>대</a:t>
              </a:r>
              <a:r>
                <a:rPr lang="en-US" altLang="ko-KR" sz="1100" dirty="0">
                  <a:solidFill>
                    <a:schemeClr val="tx1"/>
                  </a:solidFill>
                </a:rPr>
                <a:t>)</a:t>
              </a:r>
              <a:r>
                <a:rPr lang="ko-KR" altLang="en-US" sz="1100" dirty="0">
                  <a:solidFill>
                    <a:schemeClr val="tx1"/>
                  </a:solidFill>
                </a:rPr>
                <a:t> 진단 中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스크립트 구동 요청 </a:t>
              </a:r>
              <a:r>
                <a:rPr lang="en-US" altLang="ko-KR" sz="1100" dirty="0">
                  <a:solidFill>
                    <a:schemeClr val="tx1"/>
                  </a:solidFill>
                </a:rPr>
                <a:t>(100</a:t>
              </a:r>
              <a:r>
                <a:rPr lang="ko-KR" altLang="en-US" sz="1100" dirty="0">
                  <a:solidFill>
                    <a:schemeClr val="tx1"/>
                  </a:solidFill>
                </a:rPr>
                <a:t>대</a:t>
              </a:r>
              <a:r>
                <a:rPr lang="en-US" altLang="ko-KR" sz="1100" dirty="0">
                  <a:solidFill>
                    <a:schemeClr val="tx1"/>
                  </a:solidFill>
                </a:rPr>
                <a:t>) </a:t>
              </a:r>
              <a:r>
                <a:rPr lang="ko-KR" altLang="en-US" sz="1100" dirty="0">
                  <a:solidFill>
                    <a:schemeClr val="tx1"/>
                  </a:solidFill>
                </a:rPr>
                <a:t>진단 中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질의서 작성 요청</a:t>
              </a:r>
              <a:r>
                <a:rPr lang="en-US" altLang="ko-KR" sz="1100" dirty="0">
                  <a:solidFill>
                    <a:schemeClr val="tx1"/>
                  </a:solidFill>
                </a:rPr>
                <a:t>(18) 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(</a:t>
              </a:r>
              <a:r>
                <a:rPr lang="ko-KR" altLang="en-US" sz="800" b="1" dirty="0">
                  <a:solidFill>
                    <a:srgbClr val="C00000"/>
                  </a:solidFill>
                </a:rPr>
                <a:t>회신 지연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, </a:t>
              </a:r>
              <a:r>
                <a:rPr lang="ko-KR" altLang="en-US" sz="800" b="1" dirty="0">
                  <a:solidFill>
                    <a:srgbClr val="C00000"/>
                  </a:solidFill>
                </a:rPr>
                <a:t>일정 영향 발생</a:t>
              </a:r>
              <a:r>
                <a:rPr lang="en-US" altLang="ko-KR" sz="800" b="1" dirty="0">
                  <a:solidFill>
                    <a:srgbClr val="C00000"/>
                  </a:solidFill>
                </a:rPr>
                <a:t>)</a:t>
              </a:r>
              <a:br>
                <a:rPr lang="en-US" altLang="ko-KR" sz="800" b="1" dirty="0">
                  <a:solidFill>
                    <a:srgbClr val="C00000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자산 대장 업데이트</a:t>
              </a:r>
              <a:r>
                <a:rPr lang="en-US" altLang="ko-KR" sz="1100" dirty="0">
                  <a:solidFill>
                    <a:schemeClr val="tx1"/>
                  </a:solidFill>
                </a:rPr>
                <a:t>(16) 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50" charset="-127"/>
                  <a:cs typeface="+mn-cs"/>
                </a:rPr>
                <a:t>회신 지연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50" charset="-127"/>
                  <a:cs typeface="+mn-cs"/>
                </a:rPr>
                <a:t>일정 영향 발생</a:t>
              </a: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맑은 고딕" panose="020B0503020000020004" pitchFamily="50" charset="-127"/>
                  <a:cs typeface="+mn-cs"/>
                </a:rPr>
                <a:t>)</a:t>
              </a:r>
              <a:endParaRPr lang="en-US" altLang="ko-KR" sz="11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6C6555-863B-8934-B936-9B0C1F1A905E}"/>
              </a:ext>
            </a:extLst>
          </p:cNvPr>
          <p:cNvCxnSpPr>
            <a:cxnSpLocks/>
          </p:cNvCxnSpPr>
          <p:nvPr/>
        </p:nvCxnSpPr>
        <p:spPr>
          <a:xfrm>
            <a:off x="5348495" y="5196515"/>
            <a:ext cx="4010453" cy="1102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8A7819-82F6-1A17-5DF1-11217E4C7A71}"/>
              </a:ext>
            </a:extLst>
          </p:cNvPr>
          <p:cNvGrpSpPr/>
          <p:nvPr/>
        </p:nvGrpSpPr>
        <p:grpSpPr>
          <a:xfrm>
            <a:off x="5372841" y="2037223"/>
            <a:ext cx="4000499" cy="770864"/>
            <a:chOff x="5377818" y="2042610"/>
            <a:chExt cx="4000499" cy="19501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1FA129F-3FDB-5393-37E7-5E3ACCD1F9C8}"/>
                </a:ext>
              </a:extLst>
            </p:cNvPr>
            <p:cNvSpPr/>
            <p:nvPr/>
          </p:nvSpPr>
          <p:spPr>
            <a:xfrm>
              <a:off x="5377818" y="2042610"/>
              <a:ext cx="843280" cy="19501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관리체계</a:t>
              </a:r>
              <a:endParaRPr lang="en-US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진단</a:t>
              </a:r>
              <a:endParaRPr lang="ko-KR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EC9B68C-A003-070D-7A27-62D78747F540}"/>
                </a:ext>
              </a:extLst>
            </p:cNvPr>
            <p:cNvSpPr/>
            <p:nvPr/>
          </p:nvSpPr>
          <p:spPr>
            <a:xfrm>
              <a:off x="6325030" y="2042610"/>
              <a:ext cx="3053287" cy="19501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lnSpc>
                  <a:spcPct val="130000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ko-KR" altLang="en-US" sz="1100" b="1" dirty="0">
                  <a:solidFill>
                    <a:schemeClr val="tx1"/>
                  </a:solidFill>
                </a:rPr>
                <a:t>신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구 대조표 및 정책 지침 현행화 中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(~ 11.27) </a:t>
              </a:r>
              <a:r>
                <a:rPr lang="en-US" altLang="ko-KR" sz="1100" dirty="0">
                  <a:solidFill>
                    <a:schemeClr val="tx1"/>
                  </a:solidFill>
                </a:rPr>
                <a:t> 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정보보호 내부 감사 지침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수탁업체 개인정보 관리 지침</a:t>
              </a:r>
              <a:endParaRPr lang="en-US" altLang="ko-KR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101A7AA-0C69-92BB-A1E5-8A63C6202B17}"/>
              </a:ext>
            </a:extLst>
          </p:cNvPr>
          <p:cNvGrpSpPr/>
          <p:nvPr/>
        </p:nvGrpSpPr>
        <p:grpSpPr>
          <a:xfrm>
            <a:off x="5353472" y="3058041"/>
            <a:ext cx="4000498" cy="869945"/>
            <a:chOff x="5384800" y="5441195"/>
            <a:chExt cx="4000498" cy="76547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709027D-BAC7-0F8A-6960-59044D67523D}"/>
                </a:ext>
              </a:extLst>
            </p:cNvPr>
            <p:cNvSpPr/>
            <p:nvPr/>
          </p:nvSpPr>
          <p:spPr>
            <a:xfrm>
              <a:off x="5384800" y="5441195"/>
              <a:ext cx="843280" cy="7654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기술 진단</a:t>
              </a:r>
              <a:endParaRPr lang="ko-KR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E52372-8CA2-9CB5-950A-A9F02A6AC79F}"/>
                </a:ext>
              </a:extLst>
            </p:cNvPr>
            <p:cNvSpPr/>
            <p:nvPr/>
          </p:nvSpPr>
          <p:spPr>
            <a:xfrm>
              <a:off x="6332011" y="5441195"/>
              <a:ext cx="3053287" cy="765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lnSpc>
                  <a:spcPct val="13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Infra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 진단 수행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(6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주차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, 7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주간 진행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br>
                <a:rPr lang="en-US" altLang="ko-KR" sz="1100" b="1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솔루션 미 연동 자산</a:t>
              </a:r>
              <a:r>
                <a:rPr lang="en-US" altLang="ko-KR" sz="1100" dirty="0">
                  <a:solidFill>
                    <a:schemeClr val="tx1"/>
                  </a:solidFill>
                </a:rPr>
                <a:t>, Script </a:t>
              </a:r>
              <a:r>
                <a:rPr lang="ko-KR" altLang="en-US" sz="1100" dirty="0">
                  <a:solidFill>
                    <a:schemeClr val="tx1"/>
                  </a:solidFill>
                </a:rPr>
                <a:t>진단 수행</a:t>
              </a:r>
              <a:endParaRPr lang="en-US" altLang="ko-KR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985E781-D611-E0CE-1E03-D4A910B86763}"/>
              </a:ext>
            </a:extLst>
          </p:cNvPr>
          <p:cNvGrpSpPr/>
          <p:nvPr/>
        </p:nvGrpSpPr>
        <p:grpSpPr>
          <a:xfrm>
            <a:off x="566421" y="2042610"/>
            <a:ext cx="4000498" cy="765477"/>
            <a:chOff x="5377818" y="4256550"/>
            <a:chExt cx="4000498" cy="1950123"/>
          </a:xfrm>
        </p:grpSpPr>
        <p:sp>
          <p:nvSpPr>
            <p:cNvPr id="24" name="Rectangle 18">
              <a:extLst>
                <a:ext uri="{FF2B5EF4-FFF2-40B4-BE49-F238E27FC236}">
                  <a16:creationId xmlns:a16="http://schemas.microsoft.com/office/drawing/2014/main" id="{35A214C5-0E14-6372-10AB-C1AF198D1639}"/>
                </a:ext>
              </a:extLst>
            </p:cNvPr>
            <p:cNvSpPr/>
            <p:nvPr/>
          </p:nvSpPr>
          <p:spPr>
            <a:xfrm>
              <a:off x="5377818" y="4256550"/>
              <a:ext cx="843280" cy="19501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프로젝트</a:t>
              </a:r>
              <a:b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</a:b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관리</a:t>
              </a:r>
              <a:endParaRPr lang="ko-KR" altLang="ko-KR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179B044F-6AAF-3404-5A7C-8462C35BC254}"/>
                </a:ext>
              </a:extLst>
            </p:cNvPr>
            <p:cNvSpPr/>
            <p:nvPr/>
          </p:nvSpPr>
          <p:spPr>
            <a:xfrm>
              <a:off x="6325029" y="4256550"/>
              <a:ext cx="3053287" cy="1950123"/>
            </a:xfrm>
            <a:prstGeom prst="rect">
              <a:avLst/>
            </a:prstGeom>
            <a:pattFill prst="dkDnDiag">
              <a:fgClr>
                <a:srgbClr val="FFF9C4"/>
              </a:fgClr>
              <a:bgClr>
                <a:schemeClr val="bg1"/>
              </a:bgClr>
            </a:pattFill>
            <a:ln>
              <a:solidFill>
                <a:srgbClr val="F5B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spcAft>
                  <a:spcPts val="1200"/>
                </a:spcAft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Kick-off (10.30)</a:t>
              </a:r>
            </a:p>
          </p:txBody>
        </p:sp>
      </p:grpSp>
      <p:cxnSp>
        <p:nvCxnSpPr>
          <p:cNvPr id="26" name="Straight Connector 19">
            <a:extLst>
              <a:ext uri="{FF2B5EF4-FFF2-40B4-BE49-F238E27FC236}">
                <a16:creationId xmlns:a16="http://schemas.microsoft.com/office/drawing/2014/main" id="{CC1A18B4-413B-918F-618A-AC906E0115C5}"/>
              </a:ext>
            </a:extLst>
          </p:cNvPr>
          <p:cNvCxnSpPr>
            <a:cxnSpLocks/>
          </p:cNvCxnSpPr>
          <p:nvPr/>
        </p:nvCxnSpPr>
        <p:spPr>
          <a:xfrm>
            <a:off x="566421" y="2923342"/>
            <a:ext cx="4010453" cy="1102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19">
            <a:extLst>
              <a:ext uri="{FF2B5EF4-FFF2-40B4-BE49-F238E27FC236}">
                <a16:creationId xmlns:a16="http://schemas.microsoft.com/office/drawing/2014/main" id="{67F1470D-DD22-C6A4-91B0-9A6B14B7270B}"/>
              </a:ext>
            </a:extLst>
          </p:cNvPr>
          <p:cNvCxnSpPr>
            <a:cxnSpLocks/>
          </p:cNvCxnSpPr>
          <p:nvPr/>
        </p:nvCxnSpPr>
        <p:spPr>
          <a:xfrm>
            <a:off x="5348495" y="2917829"/>
            <a:ext cx="4010453" cy="1102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9">
            <a:extLst>
              <a:ext uri="{FF2B5EF4-FFF2-40B4-BE49-F238E27FC236}">
                <a16:creationId xmlns:a16="http://schemas.microsoft.com/office/drawing/2014/main" id="{74CDE4EB-5F0C-C72C-7683-972044B04496}"/>
              </a:ext>
            </a:extLst>
          </p:cNvPr>
          <p:cNvCxnSpPr>
            <a:cxnSpLocks/>
          </p:cNvCxnSpPr>
          <p:nvPr/>
        </p:nvCxnSpPr>
        <p:spPr>
          <a:xfrm>
            <a:off x="5348495" y="4057172"/>
            <a:ext cx="4010453" cy="11026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E09BB95-643E-5B91-9EC0-C21D379ED578}"/>
              </a:ext>
            </a:extLst>
          </p:cNvPr>
          <p:cNvGrpSpPr/>
          <p:nvPr/>
        </p:nvGrpSpPr>
        <p:grpSpPr>
          <a:xfrm>
            <a:off x="5353472" y="4197384"/>
            <a:ext cx="4000498" cy="869945"/>
            <a:chOff x="5384800" y="5441195"/>
            <a:chExt cx="4000498" cy="765477"/>
          </a:xfrm>
        </p:grpSpPr>
        <p:sp>
          <p:nvSpPr>
            <p:cNvPr id="36" name="Rectangle 18">
              <a:extLst>
                <a:ext uri="{FF2B5EF4-FFF2-40B4-BE49-F238E27FC236}">
                  <a16:creationId xmlns:a16="http://schemas.microsoft.com/office/drawing/2014/main" id="{FE6415FA-9D2B-92F0-1DDD-6EF9F0E3F86D}"/>
                </a:ext>
              </a:extLst>
            </p:cNvPr>
            <p:cNvSpPr/>
            <p:nvPr/>
          </p:nvSpPr>
          <p:spPr>
            <a:xfrm>
              <a:off x="5384800" y="5441195"/>
              <a:ext cx="843280" cy="7654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ko-KR" altLang="en-US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보안위험 평가</a:t>
              </a:r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3497260E-E383-2080-95E2-5C7A38CDFE89}"/>
                </a:ext>
              </a:extLst>
            </p:cNvPr>
            <p:cNvSpPr/>
            <p:nvPr/>
          </p:nvSpPr>
          <p:spPr>
            <a:xfrm>
              <a:off x="6332011" y="5441195"/>
              <a:ext cx="3053287" cy="765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lnSpc>
                  <a:spcPct val="13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Infra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 진단 수행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(6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주차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, 7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주간 진행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)</a:t>
              </a:r>
              <a:br>
                <a:rPr lang="en-US" altLang="ko-KR" sz="1100" b="1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인터뷰 진단 결과 기반 리스크 식별</a:t>
              </a:r>
              <a:endParaRPr lang="en-US" altLang="ko-KR" sz="11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3EB04B9-4D05-99FB-5D23-AE69DA7E86CB}"/>
              </a:ext>
            </a:extLst>
          </p:cNvPr>
          <p:cNvGrpSpPr/>
          <p:nvPr/>
        </p:nvGrpSpPr>
        <p:grpSpPr>
          <a:xfrm>
            <a:off x="5353472" y="5336727"/>
            <a:ext cx="4000498" cy="869945"/>
            <a:chOff x="5384800" y="5441195"/>
            <a:chExt cx="4000498" cy="765477"/>
          </a:xfrm>
        </p:grpSpPr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77125468-6C41-E025-29A7-7E4552475D2E}"/>
                </a:ext>
              </a:extLst>
            </p:cNvPr>
            <p:cNvSpPr/>
            <p:nvPr/>
          </p:nvSpPr>
          <p:spPr>
            <a:xfrm>
              <a:off x="5384800" y="5441195"/>
              <a:ext cx="843280" cy="7654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fontAlgn="ctr">
                <a:buNone/>
              </a:pPr>
              <a:r>
                <a:rPr lang="en-US" altLang="ko-KR" sz="1200" b="1" dirty="0">
                  <a:solidFill>
                    <a:srgbClr val="000000"/>
                  </a:solidFill>
                  <a:latin typeface="맑은 고딕" panose="020B0503020000020004" pitchFamily="50" charset="-127"/>
                </a:rPr>
                <a:t>ISMS</a:t>
              </a:r>
              <a:endParaRPr lang="ko-KR" altLang="en-US" sz="1200" b="1" dirty="0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" name="Rectangle 21">
              <a:extLst>
                <a:ext uri="{FF2B5EF4-FFF2-40B4-BE49-F238E27FC236}">
                  <a16:creationId xmlns:a16="http://schemas.microsoft.com/office/drawing/2014/main" id="{03FC7E32-17BE-35BA-3356-DFDC102CE485}"/>
                </a:ext>
              </a:extLst>
            </p:cNvPr>
            <p:cNvSpPr/>
            <p:nvPr/>
          </p:nvSpPr>
          <p:spPr>
            <a:xfrm>
              <a:off x="6332011" y="5441195"/>
              <a:ext cx="3053287" cy="765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lnSpc>
                  <a:spcPct val="130000"/>
                </a:lnSpc>
                <a:spcAft>
                  <a:spcPts val="1200"/>
                </a:spcAft>
                <a:buFont typeface="Wingdings" panose="05000000000000000000" pitchFamily="2" charset="2"/>
                <a:buChar char="§"/>
              </a:pPr>
              <a:r>
                <a:rPr lang="en-US" altLang="ko-KR" sz="1100" b="1" dirty="0">
                  <a:solidFill>
                    <a:schemeClr val="tx1"/>
                  </a:solidFill>
                </a:rPr>
                <a:t>ISMS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 인증 대상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범위 정의</a:t>
              </a:r>
              <a:br>
                <a:rPr lang="en-US" altLang="ko-KR" sz="1100" b="1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- </a:t>
              </a:r>
              <a:r>
                <a:rPr lang="ko-KR" altLang="en-US" sz="1100" dirty="0">
                  <a:solidFill>
                    <a:schemeClr val="tx1"/>
                  </a:solidFill>
                </a:rPr>
                <a:t>잠재적 </a:t>
              </a:r>
              <a:r>
                <a:rPr lang="en-US" altLang="ko-KR" sz="1100" dirty="0">
                  <a:solidFill>
                    <a:schemeClr val="tx1"/>
                  </a:solidFill>
                </a:rPr>
                <a:t>ISMS </a:t>
              </a:r>
              <a:r>
                <a:rPr lang="ko-KR" altLang="en-US" sz="1100" dirty="0">
                  <a:solidFill>
                    <a:schemeClr val="tx1"/>
                  </a:solidFill>
                </a:rPr>
                <a:t>인증 대상</a:t>
              </a:r>
              <a:r>
                <a:rPr lang="en-US" altLang="ko-KR" sz="1100" dirty="0">
                  <a:solidFill>
                    <a:schemeClr val="tx1"/>
                  </a:solidFill>
                </a:rPr>
                <a:t>/</a:t>
              </a:r>
              <a:r>
                <a:rPr lang="ko-KR" altLang="en-US" sz="1100" dirty="0">
                  <a:solidFill>
                    <a:schemeClr val="tx1"/>
                  </a:solidFill>
                </a:rPr>
                <a:t>범위 후보군 식별</a:t>
              </a:r>
              <a:br>
                <a:rPr lang="en-US" altLang="ko-KR" sz="1100" dirty="0">
                  <a:solidFill>
                    <a:schemeClr val="tx1"/>
                  </a:solidFill>
                </a:rPr>
              </a:br>
              <a:r>
                <a:rPr lang="en-US" altLang="ko-KR" sz="1100" dirty="0">
                  <a:solidFill>
                    <a:schemeClr val="tx1"/>
                  </a:solidFill>
                </a:rPr>
                <a:t>  </a:t>
              </a:r>
              <a:r>
                <a:rPr lang="ko-KR" altLang="en-US" sz="1100" dirty="0">
                  <a:solidFill>
                    <a:schemeClr val="tx1"/>
                  </a:solidFill>
                </a:rPr>
                <a:t>및 방향성 정의</a:t>
              </a:r>
              <a:endParaRPr lang="en-US" altLang="ko-KR" sz="11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485F-D4B4-A682-3900-8166E5AB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26B0-D320-893D-B2CB-F7E0280E6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 인터뷰 진행 현황</a:t>
            </a:r>
            <a:endParaRPr lang="en-US" altLang="en-US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8CDD7-9357-CD1D-F75C-85F5329F60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  <a:latin typeface="+mj-ea"/>
              </a:rPr>
              <a:t>착수보고 및 당진 출장 예정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E6B5F4-9464-DE1D-3265-A7DFFFC20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488147"/>
              </p:ext>
            </p:extLst>
          </p:nvPr>
        </p:nvGraphicFramePr>
        <p:xfrm>
          <a:off x="757083" y="1523999"/>
          <a:ext cx="8732990" cy="47847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6598">
                  <a:extLst>
                    <a:ext uri="{9D8B030D-6E8A-4147-A177-3AD203B41FA5}">
                      <a16:colId xmlns:a16="http://schemas.microsoft.com/office/drawing/2014/main" val="3460267689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246198816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638008854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3845153434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2059290352"/>
                    </a:ext>
                  </a:extLst>
                </a:gridCol>
              </a:tblGrid>
              <a:tr h="29585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(10.12 ~ 10.16)</a:t>
                      </a:r>
                      <a:endParaRPr lang="ko-KR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25266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10/22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목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금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26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월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화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28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수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30687"/>
                  </a:ext>
                </a:extLst>
              </a:tr>
              <a:tr h="12038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보고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(w/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착수보고 리뷰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A+,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파워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운영 담당자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JWH AX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김승종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윤소윤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SFE</a:t>
                      </a: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시스템 운영 담당자</a:t>
                      </a:r>
                      <a:b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영업관리팀 홍선미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 MRO</a:t>
                      </a: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김문기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ko-KR" alt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956284"/>
                  </a:ext>
                </a:extLst>
              </a:tr>
              <a:tr h="29585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점심시간</a:t>
                      </a:r>
                      <a:endParaRPr lang="ko-KR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96829"/>
                  </a:ext>
                </a:extLst>
              </a:tr>
              <a:tr h="11936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AIDD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팀 업무환경 현황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AIDD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팀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강혜인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김욱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박아영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경이지 시스템 운영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JWP CP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김백진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JW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안심푸드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운영 담당자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JWP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도매영업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김아름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매니저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OCE, AI CRM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시스템 운영 담당자</a:t>
                      </a:r>
                      <a:b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운영팀 강현아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노학정</a:t>
                      </a: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 MRO</a:t>
                      </a: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이소라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lToT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988758"/>
                  </a:ext>
                </a:extLst>
              </a:tr>
              <a:tr h="149969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u="none" strike="noStrike" dirty="0">
                        <a:effectLst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JW ON, MR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몰 온라인몰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JWLH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이커머스팀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오미령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매니저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168045"/>
                  </a:ext>
                </a:extLst>
              </a:tr>
            </a:tbl>
          </a:graphicData>
        </a:graphic>
      </p:graphicFrame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248C4194-6B78-58A4-719E-9D3C7C30B385}"/>
              </a:ext>
            </a:extLst>
          </p:cNvPr>
          <p:cNvSpPr/>
          <p:nvPr/>
        </p:nvSpPr>
        <p:spPr>
          <a:xfrm>
            <a:off x="523685" y="2139991"/>
            <a:ext cx="176980" cy="1179871"/>
          </a:xfrm>
          <a:prstGeom prst="leftBracke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84720117-8966-4BF6-DEA4-D7E544654006}"/>
              </a:ext>
            </a:extLst>
          </p:cNvPr>
          <p:cNvSpPr/>
          <p:nvPr/>
        </p:nvSpPr>
        <p:spPr>
          <a:xfrm>
            <a:off x="523685" y="3618763"/>
            <a:ext cx="176980" cy="2714141"/>
          </a:xfrm>
          <a:prstGeom prst="leftBracke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E16D7B-C057-7E45-9529-FC4D19714A45}"/>
              </a:ext>
            </a:extLst>
          </p:cNvPr>
          <p:cNvSpPr txBox="1"/>
          <p:nvPr/>
        </p:nvSpPr>
        <p:spPr>
          <a:xfrm>
            <a:off x="364272" y="2599121"/>
            <a:ext cx="3188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/>
              <a:t>오전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5C353-6173-CA9A-E3EC-22926D3C1B12}"/>
              </a:ext>
            </a:extLst>
          </p:cNvPr>
          <p:cNvSpPr txBox="1"/>
          <p:nvPr/>
        </p:nvSpPr>
        <p:spPr>
          <a:xfrm>
            <a:off x="290288" y="4845028"/>
            <a:ext cx="46679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/>
              <a:t>오후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2EE1988-C400-925D-AD66-7C3C9440FB0E}"/>
              </a:ext>
            </a:extLst>
          </p:cNvPr>
          <p:cNvGrpSpPr/>
          <p:nvPr/>
        </p:nvGrpSpPr>
        <p:grpSpPr>
          <a:xfrm>
            <a:off x="8874760" y="1226681"/>
            <a:ext cx="705803" cy="276999"/>
            <a:chOff x="7879080" y="1219989"/>
            <a:chExt cx="705803" cy="27699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56C176-65B2-DEB6-093C-84DF2428A495}"/>
                </a:ext>
              </a:extLst>
            </p:cNvPr>
            <p:cNvSpPr/>
            <p:nvPr/>
          </p:nvSpPr>
          <p:spPr>
            <a:xfrm>
              <a:off x="7879080" y="1256617"/>
              <a:ext cx="213360" cy="213360"/>
            </a:xfrm>
            <a:prstGeom prst="rect">
              <a:avLst/>
            </a:prstGeom>
            <a:solidFill>
              <a:srgbClr val="FFF9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410ED5-FD16-63CF-3DA7-86E89154F889}"/>
                </a:ext>
              </a:extLst>
            </p:cNvPr>
            <p:cNvSpPr txBox="1"/>
            <p:nvPr/>
          </p:nvSpPr>
          <p:spPr>
            <a:xfrm>
              <a:off x="8092440" y="121998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완료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21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B341-3234-5E00-FC9C-37ADFFDB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79F7-3A60-0822-B6CE-188D3C0B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주차 인터뷰 계획</a:t>
            </a:r>
            <a:endParaRPr lang="en-US" altLang="en-US" dirty="0">
              <a:latin typeface="+mj-ea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C0DCD-B5EA-3731-4A63-19E1D5E939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/>
                </a:solidFill>
                <a:latin typeface="+mj-ea"/>
              </a:rPr>
              <a:t>착수보고 및 당진 출장 예정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DCEFF3-291B-7B30-AFC7-2559716C3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647157"/>
              </p:ext>
            </p:extLst>
          </p:nvPr>
        </p:nvGraphicFramePr>
        <p:xfrm>
          <a:off x="757083" y="1523999"/>
          <a:ext cx="8732990" cy="47847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6598">
                  <a:extLst>
                    <a:ext uri="{9D8B030D-6E8A-4147-A177-3AD203B41FA5}">
                      <a16:colId xmlns:a16="http://schemas.microsoft.com/office/drawing/2014/main" val="3460267689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246198816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638008854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3845153434"/>
                    </a:ext>
                  </a:extLst>
                </a:gridCol>
                <a:gridCol w="1746598">
                  <a:extLst>
                    <a:ext uri="{9D8B030D-6E8A-4147-A177-3AD203B41FA5}">
                      <a16:colId xmlns:a16="http://schemas.microsoft.com/office/drawing/2014/main" val="2059290352"/>
                    </a:ext>
                  </a:extLst>
                </a:gridCol>
              </a:tblGrid>
              <a:tr h="29585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</a:t>
                      </a: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(10.12 ~ 10.16)</a:t>
                      </a:r>
                      <a:endParaRPr lang="ko-KR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25266"/>
                  </a:ext>
                </a:extLst>
              </a:tr>
              <a:tr h="2958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10/29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목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금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02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월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03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화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US" alt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04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수</a:t>
                      </a:r>
                      <a:r>
                        <a:rPr lang="ko-KR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4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rgbClr val="FFE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30687"/>
                  </a:ext>
                </a:extLst>
              </a:tr>
              <a:tr h="12038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보고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(w/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착수보고 리뷰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당진 출장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956284"/>
                  </a:ext>
                </a:extLst>
              </a:tr>
              <a:tr h="29585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점심시간</a:t>
                      </a:r>
                      <a:endParaRPr lang="ko-KR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96829"/>
                  </a:ext>
                </a:extLst>
              </a:tr>
              <a:tr h="11936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네이버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·G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마켓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옥션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카카오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온라인 채널 담당자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온틱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운영 담당자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당진 출장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C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인수증 업로드 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b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배송조회 시스템</a:t>
                      </a:r>
                      <a:b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JWP </a:t>
                      </a:r>
                      <a:r>
                        <a:rPr lang="ko-KR" altLang="en-US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물류팀 이준호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1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에닉스원</a:t>
                      </a:r>
                      <a:r>
                        <a:rPr lang="en-US" altLang="ko-KR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엑스소프트</a:t>
                      </a:r>
                      <a:endParaRPr lang="en-US" altLang="ko-KR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988758"/>
                  </a:ext>
                </a:extLst>
              </a:tr>
              <a:tr h="15303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Kick-off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착수보고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C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CIT MRO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  <a:b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최진기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강준기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오세현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168045"/>
                  </a:ext>
                </a:extLst>
              </a:tr>
              <a:tr h="13466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1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73151"/>
                  </a:ext>
                </a:extLst>
              </a:tr>
            </a:tbl>
          </a:graphicData>
        </a:graphic>
      </p:graphicFrame>
      <p:sp>
        <p:nvSpPr>
          <p:cNvPr id="6" name="왼쪽 대괄호 5">
            <a:extLst>
              <a:ext uri="{FF2B5EF4-FFF2-40B4-BE49-F238E27FC236}">
                <a16:creationId xmlns:a16="http://schemas.microsoft.com/office/drawing/2014/main" id="{AB84EAFC-59B0-4C9C-77AE-3C41FC272465}"/>
              </a:ext>
            </a:extLst>
          </p:cNvPr>
          <p:cNvSpPr/>
          <p:nvPr/>
        </p:nvSpPr>
        <p:spPr>
          <a:xfrm>
            <a:off x="523685" y="2139991"/>
            <a:ext cx="176980" cy="1179871"/>
          </a:xfrm>
          <a:prstGeom prst="leftBracke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36349A8E-0979-05BF-13D1-3D10EF616B35}"/>
              </a:ext>
            </a:extLst>
          </p:cNvPr>
          <p:cNvSpPr/>
          <p:nvPr/>
        </p:nvSpPr>
        <p:spPr>
          <a:xfrm>
            <a:off x="523685" y="3618763"/>
            <a:ext cx="176980" cy="2714141"/>
          </a:xfrm>
          <a:prstGeom prst="leftBracket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DFA5E-E034-FE3C-900D-922CFF20C988}"/>
              </a:ext>
            </a:extLst>
          </p:cNvPr>
          <p:cNvSpPr txBox="1"/>
          <p:nvPr/>
        </p:nvSpPr>
        <p:spPr>
          <a:xfrm>
            <a:off x="364272" y="2599121"/>
            <a:ext cx="31882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/>
              <a:t>오전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345F6-75FD-2CC1-27F4-2C89CF992732}"/>
              </a:ext>
            </a:extLst>
          </p:cNvPr>
          <p:cNvSpPr txBox="1"/>
          <p:nvPr/>
        </p:nvSpPr>
        <p:spPr>
          <a:xfrm>
            <a:off x="290288" y="4845028"/>
            <a:ext cx="46679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/>
              <a:t>오후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E54F3FC-C6EE-C369-3CC0-52F44B3CD49F}"/>
              </a:ext>
            </a:extLst>
          </p:cNvPr>
          <p:cNvGrpSpPr/>
          <p:nvPr/>
        </p:nvGrpSpPr>
        <p:grpSpPr>
          <a:xfrm>
            <a:off x="8874760" y="1226681"/>
            <a:ext cx="705803" cy="276999"/>
            <a:chOff x="7879080" y="1219989"/>
            <a:chExt cx="705803" cy="27699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AD8567C-78D4-80F9-368E-0EECBD7EA125}"/>
                </a:ext>
              </a:extLst>
            </p:cNvPr>
            <p:cNvSpPr/>
            <p:nvPr/>
          </p:nvSpPr>
          <p:spPr>
            <a:xfrm>
              <a:off x="7879080" y="1256617"/>
              <a:ext cx="213360" cy="213360"/>
            </a:xfrm>
            <a:prstGeom prst="rect">
              <a:avLst/>
            </a:prstGeom>
            <a:solidFill>
              <a:srgbClr val="FFF9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92741FE-767D-36CE-F4A0-BC62C68E1650}"/>
                </a:ext>
              </a:extLst>
            </p:cNvPr>
            <p:cNvSpPr txBox="1"/>
            <p:nvPr/>
          </p:nvSpPr>
          <p:spPr>
            <a:xfrm>
              <a:off x="8092440" y="1219989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/>
                <a:t>완료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055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4131</TotalTime>
  <Words>1123</Words>
  <Application>Microsoft Office PowerPoint</Application>
  <PresentationFormat>A4 용지(210x297mm)</PresentationFormat>
  <Paragraphs>356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EYInterstate Light</vt:lpstr>
      <vt:lpstr>돋움</vt:lpstr>
      <vt:lpstr>맑은 고딕</vt:lpstr>
      <vt:lpstr>Aptos</vt:lpstr>
      <vt:lpstr>Arial</vt:lpstr>
      <vt:lpstr>Wingdings</vt:lpstr>
      <vt:lpstr>Office 테마</vt:lpstr>
      <vt:lpstr>JW 정보보안 강화 컨설팅  - 주간 보고 5 주차 -</vt:lpstr>
      <vt:lpstr>프로젝트 수행 일정</vt:lpstr>
      <vt:lpstr>산출물 관리 (전체 진척률 13.1%)</vt:lpstr>
      <vt:lpstr>주요 업무 실적</vt:lpstr>
      <vt:lpstr>4주차 인터뷰 진행 현황</vt:lpstr>
      <vt:lpstr>5주차 인터뷰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JW그룹  정보보안 강화 컨설팅 </dc:title>
  <dc:creator>준용 이</dc:creator>
  <cp:lastModifiedBy>Administrator</cp:lastModifiedBy>
  <cp:revision>48</cp:revision>
  <dcterms:created xsi:type="dcterms:W3CDTF">2026-08-03T02:07:22Z</dcterms:created>
  <dcterms:modified xsi:type="dcterms:W3CDTF">2026-10-29T00:14:57Z</dcterms:modified>
</cp:coreProperties>
</file>